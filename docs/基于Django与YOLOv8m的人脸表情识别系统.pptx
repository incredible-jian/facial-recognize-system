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304" r:id="rId5"/>
    <p:sldId id="257" r:id="rId6"/>
    <p:sldId id="258" r:id="rId7"/>
    <p:sldId id="259" r:id="rId8"/>
    <p:sldId id="283" r:id="rId9"/>
    <p:sldId id="303" r:id="rId10"/>
    <p:sldId id="260" r:id="rId11"/>
    <p:sldId id="261" r:id="rId12"/>
    <p:sldId id="284" r:id="rId13"/>
    <p:sldId id="262" r:id="rId14"/>
    <p:sldId id="285" r:id="rId15"/>
    <p:sldId id="263" r:id="rId16"/>
    <p:sldId id="264" r:id="rId17"/>
    <p:sldId id="265" r:id="rId18"/>
    <p:sldId id="266" r:id="rId19"/>
    <p:sldId id="267" r:id="rId20"/>
    <p:sldId id="286" r:id="rId21"/>
    <p:sldId id="268" r:id="rId22"/>
    <p:sldId id="287" r:id="rId23"/>
    <p:sldId id="288" r:id="rId24"/>
    <p:sldId id="269" r:id="rId25"/>
    <p:sldId id="289" r:id="rId26"/>
    <p:sldId id="290" r:id="rId27"/>
    <p:sldId id="291" r:id="rId28"/>
    <p:sldId id="292" r:id="rId29"/>
    <p:sldId id="270" r:id="rId30"/>
    <p:sldId id="293" r:id="rId31"/>
    <p:sldId id="294" r:id="rId32"/>
    <p:sldId id="295" r:id="rId33"/>
    <p:sldId id="272" r:id="rId34"/>
    <p:sldId id="273" r:id="rId35"/>
    <p:sldId id="274" r:id="rId36"/>
    <p:sldId id="297" r:id="rId37"/>
    <p:sldId id="298" r:id="rId38"/>
    <p:sldId id="276" r:id="rId39"/>
    <p:sldId id="277" r:id="rId40"/>
    <p:sldId id="299" r:id="rId41"/>
    <p:sldId id="300" r:id="rId42"/>
    <p:sldId id="281" r:id="rId43"/>
    <p:sldId id="301" r:id="rId44"/>
    <p:sldId id="302" r:id="rId45"/>
    <p:sldId id="282" r:id="rId46"/>
  </p:sldIdLst>
  <p:sldSz cx="12192000" cy="6858000"/>
  <p:notesSz cx="6858000" cy="12192000"/>
  <p:embeddedFontLst>
    <p:embeddedFont>
      <p:font typeface="MiSans" pitchFamily="34" charset="-122"/>
      <p:regular r:id="rId50"/>
    </p:embeddedFont>
    <p:embeddedFont>
      <p:font typeface="MiSans" pitchFamily="34" charset="-120"/>
      <p:regular r:id="rId51"/>
    </p:embeddedFont>
    <p:embeddedFont>
      <p:font typeface="Calibri" panose="020F0502020204030204" charset="0"/>
      <p:regular r:id="rId52"/>
      <p:bold r:id="rId53"/>
      <p:italic r:id="rId54"/>
      <p:boldItalic r:id="rId55"/>
    </p:embeddedFont>
    <p:embeddedFont>
      <p:font typeface="等线" panose="02010600030101010101" charset="-122"/>
      <p:regular r:id="rId5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font" Target="fonts/font7.fntdata"/><Relationship Id="rId55" Type="http://schemas.openxmlformats.org/officeDocument/2006/relationships/font" Target="fonts/font6.fntdata"/><Relationship Id="rId54" Type="http://schemas.openxmlformats.org/officeDocument/2006/relationships/font" Target="fonts/font5.fntdata"/><Relationship Id="rId53" Type="http://schemas.openxmlformats.org/officeDocument/2006/relationships/font" Target="fonts/font4.fntdata"/><Relationship Id="rId52" Type="http://schemas.openxmlformats.org/officeDocument/2006/relationships/font" Target="fonts/font3.fntdata"/><Relationship Id="rId51" Type="http://schemas.openxmlformats.org/officeDocument/2006/relationships/font" Target="fonts/font2.fntdata"/><Relationship Id="rId50" Type="http://schemas.openxmlformats.org/officeDocument/2006/relationships/font" Target="fonts/font1.fntdata"/><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4.png"/><Relationship Id="rId16" Type="http://schemas.openxmlformats.org/officeDocument/2006/relationships/notesSlide" Target="../notesSlides/notesSlide5.xml"/><Relationship Id="rId15" Type="http://schemas.openxmlformats.org/officeDocument/2006/relationships/slideLayout" Target="../slideLayouts/slideLayout1.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4" Type="http://schemas.openxmlformats.org/officeDocument/2006/relationships/notesSlide" Target="../notesSlides/notesSlide8.xml"/><Relationship Id="rId13" Type="http://schemas.openxmlformats.org/officeDocument/2006/relationships/slideLayout" Target="../slideLayouts/slideLayout1.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768840" y="1196975"/>
            <a:ext cx="4304030" cy="4304030"/>
          </a:xfrm>
          <a:prstGeom prst="ellipse">
            <a:avLst/>
          </a:prstGeom>
          <a:solidFill>
            <a:srgbClr val="FFFFFF">
              <a:alpha val="5098"/>
            </a:srgbClr>
          </a:solidFill>
        </p:spPr>
      </p:sp>
      <p:sp>
        <p:nvSpPr>
          <p:cNvPr id="3" name="Text 1"/>
          <p:cNvSpPr/>
          <p:nvPr/>
        </p:nvSpPr>
        <p:spPr>
          <a:xfrm>
            <a:off x="9768840" y="1196975"/>
            <a:ext cx="4304030" cy="4304030"/>
          </a:xfrm>
          <a:prstGeom prst="rect">
            <a:avLst/>
          </a:prstGeom>
          <a:noFill/>
        </p:spPr>
        <p:txBody>
          <a:bodyPr wrap="square" lIns="0" tIns="0" rIns="0" bIns="0" rtlCol="0" anchor="t"/>
          <a:lstStyle/>
          <a:p>
            <a:pPr marL="0" indent="0">
              <a:lnSpc>
                <a:spcPct val="100000"/>
              </a:lnSpc>
              <a:buNone/>
            </a:pPr>
            <a:endParaRPr lang="en-US" sz="1600" dirty="0"/>
          </a:p>
        </p:txBody>
      </p:sp>
      <p:pic>
        <p:nvPicPr>
          <p:cNvPr id="4" name="Image 0" descr="https://kimi-img.moonshot.cn/pub/slides/slides_tmpl/image/25-05-30-16:21:35-d0sml3s75iks2gau4170.png"/>
          <p:cNvPicPr>
            <a:picLocks noChangeAspect="1"/>
          </p:cNvPicPr>
          <p:nvPr/>
        </p:nvPicPr>
        <p:blipFill>
          <a:blip r:embed="rId1"/>
          <a:srcRect b="17387"/>
          <a:stretch>
            <a:fillRect/>
          </a:stretch>
        </p:blipFill>
        <p:spPr>
          <a:xfrm>
            <a:off x="-1270" y="904875"/>
            <a:ext cx="12193270" cy="5726430"/>
          </a:xfrm>
          <a:prstGeom prst="rect">
            <a:avLst/>
          </a:prstGeom>
        </p:spPr>
      </p:pic>
      <p:sp>
        <p:nvSpPr>
          <p:cNvPr id="5" name="Text 2"/>
          <p:cNvSpPr/>
          <p:nvPr/>
        </p:nvSpPr>
        <p:spPr>
          <a:xfrm>
            <a:off x="2858453" y="2106295"/>
            <a:ext cx="6475095" cy="3323590"/>
          </a:xfrm>
          <a:prstGeom prst="rect">
            <a:avLst/>
          </a:prstGeom>
          <a:noFill/>
        </p:spPr>
        <p:txBody>
          <a:bodyPr wrap="square" lIns="0" tIns="0" rIns="0" bIns="0" rtlCol="0" anchor="t">
            <a:spAutoFit/>
          </a:bodyPr>
          <a:lstStyle/>
          <a:p>
            <a:pPr marL="0" indent="0" algn="ctr">
              <a:lnSpc>
                <a:spcPct val="120000"/>
              </a:lnSpc>
              <a:buNone/>
            </a:pPr>
            <a:r>
              <a:rPr lang="en-US" sz="6000" dirty="0">
                <a:solidFill>
                  <a:srgbClr val="FFFFFF"/>
                </a:solidFill>
                <a:latin typeface="MiSans" pitchFamily="34" charset="-122"/>
                <a:ea typeface="MiSans" pitchFamily="34" charset="-122"/>
                <a:cs typeface="MiSans" pitchFamily="34" charset="-120"/>
              </a:rPr>
              <a:t>基于Django与YOLOv8m的人脸表情识别系统</a:t>
            </a:r>
            <a:endParaRPr lang="en-US" sz="6000" dirty="0">
              <a:solidFill>
                <a:srgbClr val="FFFFFF"/>
              </a:solidFill>
              <a:latin typeface="MiSans" pitchFamily="34" charset="-122"/>
              <a:ea typeface="MiSans" pitchFamily="34" charset="-122"/>
              <a:cs typeface="MiSans" pitchFamily="34" charset="-120"/>
            </a:endParaRPr>
          </a:p>
        </p:txBody>
      </p:sp>
      <p:sp>
        <p:nvSpPr>
          <p:cNvPr id="7" name="Text 4"/>
          <p:cNvSpPr/>
          <p:nvPr/>
        </p:nvSpPr>
        <p:spPr>
          <a:xfrm>
            <a:off x="3559810" y="5880100"/>
            <a:ext cx="1902460" cy="307340"/>
          </a:xfrm>
          <a:prstGeom prst="rect">
            <a:avLst/>
          </a:prstGeom>
          <a:noFill/>
        </p:spPr>
        <p:txBody>
          <a:bodyPr wrap="square" lIns="0" tIns="0" rIns="0" bIns="0" rtlCol="0" anchor="t">
            <a:spAutoFit/>
          </a:bodyPr>
          <a:lstStyle/>
          <a:p>
            <a:pPr marL="0" indent="0" algn="l">
              <a:lnSpc>
                <a:spcPct val="100000"/>
              </a:lnSpc>
              <a:buNone/>
            </a:pPr>
            <a:r>
              <a:rPr lang="en-US" sz="2000" dirty="0">
                <a:solidFill>
                  <a:srgbClr val="FFFFFF"/>
                </a:solidFill>
                <a:latin typeface="MiSans" pitchFamily="34" charset="-122"/>
                <a:ea typeface="MiSans" pitchFamily="34" charset="-122"/>
                <a:cs typeface="MiSans" pitchFamily="34" charset="-120"/>
              </a:rPr>
              <a:t>汇报人：</a:t>
            </a:r>
            <a:r>
              <a:rPr lang="zh-CN" altLang="en-US" sz="2000" dirty="0">
                <a:solidFill>
                  <a:srgbClr val="FFFFFF"/>
                </a:solidFill>
                <a:latin typeface="MiSans" pitchFamily="34" charset="-122"/>
                <a:ea typeface="MiSans" pitchFamily="34" charset="-122"/>
                <a:cs typeface="MiSans" pitchFamily="34" charset="-120"/>
              </a:rPr>
              <a:t>简川博</a:t>
            </a:r>
            <a:endParaRPr lang="zh-CN" altLang="en-US" sz="2000" dirty="0">
              <a:solidFill>
                <a:srgbClr val="FFFFFF"/>
              </a:solidFill>
              <a:latin typeface="MiSans" pitchFamily="34" charset="-122"/>
              <a:ea typeface="MiSans" pitchFamily="34" charset="-122"/>
              <a:cs typeface="MiSans" pitchFamily="34" charset="-120"/>
            </a:endParaRPr>
          </a:p>
        </p:txBody>
      </p:sp>
      <p:sp>
        <p:nvSpPr>
          <p:cNvPr id="8" name="Text 5"/>
          <p:cNvSpPr/>
          <p:nvPr/>
        </p:nvSpPr>
        <p:spPr>
          <a:xfrm>
            <a:off x="6356985" y="5880100"/>
            <a:ext cx="2219960" cy="307340"/>
          </a:xfrm>
          <a:prstGeom prst="rect">
            <a:avLst/>
          </a:prstGeom>
          <a:noFill/>
        </p:spPr>
        <p:txBody>
          <a:bodyPr wrap="square" lIns="0" tIns="0" rIns="0" bIns="0" rtlCol="0" anchor="t"/>
          <a:lstStyle/>
          <a:p>
            <a:pPr marL="0" indent="0" algn="l">
              <a:lnSpc>
                <a:spcPct val="100000"/>
              </a:lnSpc>
              <a:buNone/>
            </a:pPr>
            <a:r>
              <a:rPr lang="en-US" sz="1600" dirty="0">
                <a:solidFill>
                  <a:srgbClr val="FFFFFF"/>
                </a:solidFill>
                <a:latin typeface="MiSans" pitchFamily="34" charset="-122"/>
                <a:ea typeface="MiSans" pitchFamily="34" charset="-122"/>
                <a:cs typeface="MiSans" pitchFamily="34" charset="-120"/>
              </a:rPr>
              <a:t>汇报日期：2025.07.01</a:t>
            </a:r>
            <a:endParaRPr lang="en-US" sz="1600" dirty="0">
              <a:solidFill>
                <a:srgbClr val="FFFFFF"/>
              </a:solidFill>
              <a:latin typeface="MiSans" pitchFamily="34" charset="-122"/>
              <a:ea typeface="MiSans" pitchFamily="34" charset="-122"/>
              <a:cs typeface="MiSans"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016"/>
        </a:solidFill>
        <a:effectLst/>
      </p:bgPr>
    </p:bg>
    <p:spTree>
      <p:nvGrpSpPr>
        <p:cNvPr id="1" name=""/>
        <p:cNvGrpSpPr/>
        <p:nvPr/>
      </p:nvGrpSpPr>
      <p:grpSpPr>
        <a:xfrm>
          <a:off x="0" y="0"/>
          <a:ext cx="0" cy="0"/>
          <a:chOff x="0" y="0"/>
          <a:chExt cx="0" cy="0"/>
        </a:xfrm>
      </p:grpSpPr>
      <p:pic>
        <p:nvPicPr>
          <p:cNvPr id="2" name="Image 0" descr="https://kimi-img.moonshot.cn/pub/slides/slides_tmpl/image/25-05-30-16:21:37-d0sml4c75iks2gau417g.png"/>
          <p:cNvPicPr>
            <a:picLocks noChangeAspect="1"/>
          </p:cNvPicPr>
          <p:nvPr/>
        </p:nvPicPr>
        <p:blipFill>
          <a:blip r:embed="rId1"/>
          <a:stretch>
            <a:fillRect/>
          </a:stretch>
        </p:blipFill>
        <p:spPr>
          <a:xfrm>
            <a:off x="4166818" y="-3600"/>
            <a:ext cx="8025182" cy="6865200"/>
          </a:xfrm>
          <a:prstGeom prst="rect">
            <a:avLst/>
          </a:prstGeom>
        </p:spPr>
      </p:pic>
      <p:sp>
        <p:nvSpPr>
          <p:cNvPr id="9" name="Text 6"/>
          <p:cNvSpPr/>
          <p:nvPr/>
        </p:nvSpPr>
        <p:spPr>
          <a:xfrm>
            <a:off x="1056005" y="2136775"/>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nvSpPr>
        <p:spPr>
          <a:xfrm>
            <a:off x="1056005" y="2910205"/>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1056005" y="3693160"/>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1056005" y="4485640"/>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1056005" y="5287645"/>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graphicFrame>
        <p:nvGraphicFramePr>
          <p:cNvPr id="29" name="表格 28"/>
          <p:cNvGraphicFramePr/>
          <p:nvPr>
            <p:custDataLst>
              <p:tags r:id="rId2"/>
            </p:custDataLst>
          </p:nvPr>
        </p:nvGraphicFramePr>
        <p:xfrm>
          <a:off x="984885" y="1459865"/>
          <a:ext cx="6324600" cy="4834255"/>
        </p:xfrm>
        <a:graphic>
          <a:graphicData uri="http://schemas.openxmlformats.org/drawingml/2006/table">
            <a:tbl>
              <a:tblPr/>
              <a:tblGrid>
                <a:gridCol w="2108200"/>
                <a:gridCol w="2108200"/>
                <a:gridCol w="2108200"/>
              </a:tblGrid>
              <a:tr h="583565">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团队成员</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具体工作</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完成日期</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r>
              <a:tr h="1594485">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简川博</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数据采集与预处理，</a:t>
                      </a:r>
                      <a:r>
                        <a:rPr lang="en-US" altLang="zh-CN" sz="1100" b="1">
                          <a:latin typeface="Times New Roman" panose="02020603050405020304"/>
                          <a:ea typeface="宋体" panose="02010600030101010101" pitchFamily="2" charset="-122"/>
                        </a:rPr>
                        <a:t>YOLOv8m</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模型部署</a:t>
                      </a:r>
                      <a:r>
                        <a:rPr lang="zh-CN" sz="1100" b="1">
                          <a:latin typeface="宋体" panose="02010600030101010101" pitchFamily="2" charset="-122"/>
                          <a:ea typeface="宋体" panose="02010600030101010101" pitchFamily="2" charset="-122"/>
                        </a:rPr>
                        <a:t>，</a:t>
                      </a:r>
                      <a:r>
                        <a:rPr lang="en-US" altLang="zh-CN" sz="1100" b="1">
                          <a:latin typeface="Times New Roman" panose="02020603050405020304"/>
                          <a:ea typeface="宋体" panose="02010600030101010101" pitchFamily="2" charset="-122"/>
                        </a:rPr>
                        <a:t>Django </a:t>
                      </a:r>
                      <a:r>
                        <a:rPr lang="zh-CN" sz="1100" b="1">
                          <a:latin typeface="宋体" panose="02010600030101010101" pitchFamily="2" charset="-122"/>
                          <a:ea typeface="宋体" panose="02010600030101010101" pitchFamily="2" charset="-122"/>
                        </a:rPr>
                        <a:t>页面部署</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en-US" altLang="zh-CN" sz="1100" b="1">
                          <a:latin typeface="宋体" panose="02010600030101010101" pitchFamily="2" charset="-122"/>
                          <a:ea typeface="宋体" panose="02010600030101010101" pitchFamily="2" charset="-122"/>
                        </a:rPr>
                        <a:t>202</a:t>
                      </a:r>
                      <a:r>
                        <a:rPr lang="en-US" altLang="zh-CN" sz="1100" b="1">
                          <a:latin typeface="宋体" panose="02010600030101010101" pitchFamily="2" charset="-122"/>
                          <a:ea typeface="宋体" panose="02010600030101010101" pitchFamily="2" charset="-122"/>
                        </a:rPr>
                        <a:t>5</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年</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6</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月</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27</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日</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r>
              <a:tr h="1063625">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王成龙</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en-US" altLang="zh-CN" sz="1100" b="1">
                          <a:latin typeface="Times New Roman" panose="02020603050405020304"/>
                          <a:ea typeface="宋体" panose="02010600030101010101" pitchFamily="2" charset="-122"/>
                        </a:rPr>
                        <a:t>YOLOv8m</a:t>
                      </a:r>
                      <a:r>
                        <a:rPr lang="zh-CN" sz="1100" b="1">
                          <a:latin typeface="宋体" panose="02010600030101010101" pitchFamily="2" charset="-122"/>
                          <a:ea typeface="宋体" panose="02010600030101010101" pitchFamily="2" charset="-122"/>
                        </a:rPr>
                        <a:t>和</a:t>
                      </a:r>
                      <a:r>
                        <a:rPr lang="en-US" altLang="zh-CN" sz="1100" b="1">
                          <a:latin typeface="Times New Roman" panose="02020603050405020304"/>
                          <a:ea typeface="宋体" panose="02010600030101010101" pitchFamily="2" charset="-122"/>
                        </a:rPr>
                        <a:t>ResNe</a:t>
                      </a:r>
                      <a:r>
                        <a:rPr lang="en-US" altLang="zh-CN" sz="1100" b="1">
                          <a:latin typeface="Times New Roman" panose="02020603050405020304"/>
                          <a:ea typeface="宋体" panose="02010600030101010101" pitchFamily="2" charset="-122"/>
                        </a:rPr>
                        <a:t>t</a:t>
                      </a:r>
                      <a:r>
                        <a:rPr lang="zh-CN" sz="1100" b="1">
                          <a:latin typeface="宋体" panose="02010600030101010101" pitchFamily="2" charset="-122"/>
                          <a:ea typeface="宋体" panose="02010600030101010101" pitchFamily="2" charset="-122"/>
                        </a:rPr>
                        <a:t>模型训练</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en-US" altLang="zh-CN" sz="1100" b="1">
                          <a:latin typeface="宋体" panose="02010600030101010101" pitchFamily="2" charset="-122"/>
                          <a:ea typeface="宋体" panose="02010600030101010101" pitchFamily="2" charset="-122"/>
                        </a:rPr>
                        <a:t>202</a:t>
                      </a:r>
                      <a:r>
                        <a:rPr lang="en-US" altLang="zh-CN" sz="1100" b="1">
                          <a:latin typeface="宋体" panose="02010600030101010101" pitchFamily="2" charset="-122"/>
                          <a:ea typeface="宋体" panose="02010600030101010101" pitchFamily="2" charset="-122"/>
                        </a:rPr>
                        <a:t>5</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年</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6</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月</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28</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日</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r>
              <a:tr h="1061085">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李文超</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en-US" altLang="zh-CN" sz="1100" b="1">
                          <a:latin typeface="Times New Roman" panose="02020603050405020304"/>
                          <a:ea typeface="宋体" panose="02010600030101010101" pitchFamily="2" charset="-122"/>
                        </a:rPr>
                        <a:t>VGG</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和</a:t>
                      </a:r>
                      <a:r>
                        <a:rPr lang="zh-CN" altLang="en-US" sz="1100" b="1">
                          <a:latin typeface="宋体" panose="02010600030101010101" pitchFamily="2" charset="-122"/>
                          <a:ea typeface="宋体" panose="02010600030101010101" pitchFamily="2" charset="-122"/>
                        </a:rPr>
                        <a:t> </a:t>
                      </a:r>
                      <a:r>
                        <a:rPr lang="en-US" altLang="zh-CN" sz="1100" b="1">
                          <a:latin typeface="Times New Roman" panose="02020603050405020304"/>
                          <a:ea typeface="宋体" panose="02010600030101010101" pitchFamily="2" charset="-122"/>
                        </a:rPr>
                        <a:t>AlexNet</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模型训练</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en-US" altLang="zh-CN" sz="1100" b="1">
                          <a:latin typeface="宋体" panose="02010600030101010101" pitchFamily="2" charset="-122"/>
                          <a:ea typeface="宋体" panose="02010600030101010101" pitchFamily="2" charset="-122"/>
                        </a:rPr>
                        <a:t>202</a:t>
                      </a:r>
                      <a:r>
                        <a:rPr lang="en-US" altLang="zh-CN" sz="1100" b="1">
                          <a:latin typeface="宋体" panose="02010600030101010101" pitchFamily="2" charset="-122"/>
                          <a:ea typeface="宋体" panose="02010600030101010101" pitchFamily="2" charset="-122"/>
                        </a:rPr>
                        <a:t>5</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年</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6</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月</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28</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日</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r>
              <a:tr h="531495">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胡亦杰</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zh-CN" sz="1100" b="1">
                          <a:latin typeface="宋体" panose="02010600030101010101" pitchFamily="2" charset="-122"/>
                          <a:ea typeface="宋体" panose="02010600030101010101" pitchFamily="2" charset="-122"/>
                        </a:rPr>
                        <a:t>图像处理与数据增强</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c>
                  <a:txBody>
                    <a:bodyPr/>
                    <a:p>
                      <a:pPr marL="0" indent="0" algn="l">
                        <a:spcBef>
                          <a:spcPct val="0"/>
                        </a:spcBef>
                        <a:spcAft>
                          <a:spcPct val="0"/>
                        </a:spcAft>
                      </a:pPr>
                      <a:r>
                        <a:rPr lang="en-US" altLang="zh-CN" sz="1100" b="1">
                          <a:latin typeface="宋体" panose="02010600030101010101" pitchFamily="2" charset="-122"/>
                          <a:ea typeface="宋体" panose="02010600030101010101" pitchFamily="2" charset="-122"/>
                        </a:rPr>
                        <a:t>202</a:t>
                      </a:r>
                      <a:r>
                        <a:rPr lang="en-US" altLang="zh-CN" sz="1100" b="1">
                          <a:latin typeface="宋体" panose="02010600030101010101" pitchFamily="2" charset="-122"/>
                          <a:ea typeface="宋体" panose="02010600030101010101" pitchFamily="2" charset="-122"/>
                        </a:rPr>
                        <a:t>5</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年</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6</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月</a:t>
                      </a:r>
                      <a:r>
                        <a:rPr lang="zh-CN" altLang="en-US" sz="1100" b="1">
                          <a:latin typeface="宋体" panose="02010600030101010101" pitchFamily="2" charset="-122"/>
                          <a:ea typeface="宋体" panose="02010600030101010101" pitchFamily="2" charset="-122"/>
                        </a:rPr>
                        <a:t> </a:t>
                      </a:r>
                      <a:r>
                        <a:rPr lang="en-US" altLang="zh-CN" sz="1100" b="1">
                          <a:latin typeface="宋体" panose="02010600030101010101" pitchFamily="2" charset="-122"/>
                          <a:ea typeface="宋体" panose="02010600030101010101" pitchFamily="2" charset="-122"/>
                        </a:rPr>
                        <a:t>29</a:t>
                      </a:r>
                      <a:r>
                        <a:rPr lang="en-US" altLang="zh-CN" sz="1100" b="1">
                          <a:latin typeface="宋体" panose="02010600030101010101" pitchFamily="2" charset="-122"/>
                          <a:ea typeface="宋体" panose="02010600030101010101" pitchFamily="2" charset="-122"/>
                        </a:rPr>
                        <a:t> </a:t>
                      </a:r>
                      <a:r>
                        <a:rPr lang="zh-CN" sz="1100" b="1">
                          <a:latin typeface="宋体" panose="02010600030101010101" pitchFamily="2" charset="-122"/>
                          <a:ea typeface="宋体" panose="02010600030101010101" pitchFamily="2" charset="-122"/>
                        </a:rPr>
                        <a:t>日</a:t>
                      </a:r>
                      <a:endParaRPr lang="zh-CN" sz="1100" b="1">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65000"/>
                      </a:schemeClr>
                    </a:solidFill>
                  </a:tcPr>
                </a:tc>
              </a:tr>
            </a:tbl>
          </a:graphicData>
        </a:graphic>
      </p:graphicFrame>
      <p:sp>
        <p:nvSpPr>
          <p:cNvPr id="30" name="文本框 29"/>
          <p:cNvSpPr txBox="1"/>
          <p:nvPr/>
        </p:nvSpPr>
        <p:spPr>
          <a:xfrm>
            <a:off x="1031240" y="586105"/>
            <a:ext cx="4064000" cy="645160"/>
          </a:xfrm>
          <a:prstGeom prst="rect">
            <a:avLst/>
          </a:prstGeom>
          <a:noFill/>
        </p:spPr>
        <p:txBody>
          <a:bodyPr wrap="square" rtlCol="0">
            <a:spAutoFit/>
          </a:bodyPr>
          <a:p>
            <a:r>
              <a:rPr lang="zh-CN" altLang="en-US" sz="3600">
                <a:solidFill>
                  <a:schemeClr val="accent6"/>
                </a:solidFill>
              </a:rPr>
              <a:t>项目</a:t>
            </a:r>
            <a:r>
              <a:rPr lang="zh-CN" altLang="en-US" sz="3600">
                <a:solidFill>
                  <a:schemeClr val="accent6"/>
                </a:solidFill>
              </a:rPr>
              <a:t>分工</a:t>
            </a:r>
            <a:endParaRPr lang="zh-CN" altLang="en-US" sz="3600">
              <a:solidFill>
                <a:schemeClr val="accent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016"/>
        </a:solidFill>
        <a:effectLst/>
      </p:bgPr>
    </p:bg>
    <p:spTree>
      <p:nvGrpSpPr>
        <p:cNvPr id="1" name=""/>
        <p:cNvGrpSpPr/>
        <p:nvPr/>
      </p:nvGrpSpPr>
      <p:grpSpPr>
        <a:xfrm>
          <a:off x="0" y="0"/>
          <a:ext cx="0" cy="0"/>
          <a:chOff x="0" y="0"/>
          <a:chExt cx="0" cy="0"/>
        </a:xfrm>
      </p:grpSpPr>
      <p:pic>
        <p:nvPicPr>
          <p:cNvPr id="2" name="Image 0" descr="https://kimi-img.moonshot.cn/pub/slides/slides_tmpl/image/25-05-30-16:21:37-d0sml4c75iks2gau417g.png"/>
          <p:cNvPicPr>
            <a:picLocks noChangeAspect="1"/>
          </p:cNvPicPr>
          <p:nvPr/>
        </p:nvPicPr>
        <p:blipFill>
          <a:blip r:embed="rId1"/>
          <a:stretch>
            <a:fillRect/>
          </a:stretch>
        </p:blipFill>
        <p:spPr>
          <a:xfrm>
            <a:off x="4166818" y="-3600"/>
            <a:ext cx="8025182" cy="6865200"/>
          </a:xfrm>
          <a:prstGeom prst="rect">
            <a:avLst/>
          </a:prstGeom>
        </p:spPr>
      </p:pic>
      <p:sp>
        <p:nvSpPr>
          <p:cNvPr id="3" name="Shape 0"/>
          <p:cNvSpPr/>
          <p:nvPr/>
        </p:nvSpPr>
        <p:spPr>
          <a:xfrm>
            <a:off x="941070" y="828040"/>
            <a:ext cx="4953000" cy="923290"/>
          </a:xfrm>
          <a:prstGeom prst="rect">
            <a:avLst/>
          </a:prstGeom>
          <a:solidFill>
            <a:srgbClr val="000000">
              <a:alpha val="0"/>
            </a:srgbClr>
          </a:solidFill>
        </p:spPr>
      </p:sp>
      <p:sp>
        <p:nvSpPr>
          <p:cNvPr id="4" name="Text 1"/>
          <p:cNvSpPr/>
          <p:nvPr/>
        </p:nvSpPr>
        <p:spPr>
          <a:xfrm>
            <a:off x="941070" y="828040"/>
            <a:ext cx="4953000" cy="923290"/>
          </a:xfrm>
          <a:prstGeom prst="rect">
            <a:avLst/>
          </a:prstGeom>
          <a:noFill/>
        </p:spPr>
        <p:txBody>
          <a:bodyPr wrap="square" lIns="46863" tIns="90043" rIns="90043" bIns="46863" rtlCol="0" anchor="b"/>
          <a:lstStyle/>
          <a:p>
            <a:pPr marL="0" indent="0" algn="l">
              <a:lnSpc>
                <a:spcPct val="100000"/>
              </a:lnSpc>
              <a:buNone/>
            </a:pPr>
            <a:r>
              <a:rPr lang="en-US" sz="5400" dirty="0">
                <a:solidFill>
                  <a:srgbClr val="FFFFFF"/>
                </a:solidFill>
                <a:latin typeface="MiSans" pitchFamily="34" charset="-122"/>
                <a:ea typeface="MiSans" pitchFamily="34" charset="-122"/>
                <a:cs typeface="MiSans" pitchFamily="34" charset="-120"/>
              </a:rPr>
              <a:t>目录</a:t>
            </a:r>
            <a:endParaRPr lang="en-US" sz="1600" dirty="0"/>
          </a:p>
        </p:txBody>
      </p:sp>
      <p:sp>
        <p:nvSpPr>
          <p:cNvPr id="5" name="Text 2"/>
          <p:cNvSpPr/>
          <p:nvPr/>
        </p:nvSpPr>
        <p:spPr>
          <a:xfrm>
            <a:off x="941070" y="1504950"/>
            <a:ext cx="10367010" cy="422870"/>
          </a:xfrm>
          <a:prstGeom prst="rect">
            <a:avLst/>
          </a:prstGeom>
          <a:noFill/>
        </p:spPr>
        <p:txBody>
          <a:bodyPr wrap="square" lIns="91440" tIns="45720" rIns="91440" bIns="45720" rtlCol="0" anchor="t">
            <a:spAutoFit/>
          </a:bodyPr>
          <a:lstStyle/>
          <a:p>
            <a:pPr marL="0" indent="0" algn="l">
              <a:lnSpc>
                <a:spcPct val="100000"/>
              </a:lnSpc>
              <a:buNone/>
            </a:pPr>
            <a:r>
              <a:rPr lang="en-US" sz="2800" b="1" dirty="0">
                <a:solidFill>
                  <a:srgbClr val="FFFFFF">
                    <a:alpha val="54902"/>
                  </a:srgbClr>
                </a:solidFill>
                <a:latin typeface="MiSans" pitchFamily="34" charset="-122"/>
                <a:ea typeface="MiSans" pitchFamily="34" charset="-122"/>
                <a:cs typeface="MiSans" pitchFamily="34" charset="-120"/>
              </a:rPr>
              <a:t>CONTENTS</a:t>
            </a:r>
            <a:endParaRPr lang="en-US" sz="1600" dirty="0"/>
          </a:p>
        </p:txBody>
      </p:sp>
      <p:sp>
        <p:nvSpPr>
          <p:cNvPr id="6" name="Text 3"/>
          <p:cNvSpPr/>
          <p:nvPr/>
        </p:nvSpPr>
        <p:spPr>
          <a:xfrm>
            <a:off x="1846580" y="2225040"/>
            <a:ext cx="4887595" cy="303411"/>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项目概述</a:t>
            </a:r>
            <a:endParaRPr lang="en-US" sz="1600" dirty="0"/>
          </a:p>
        </p:txBody>
      </p:sp>
      <p:sp>
        <p:nvSpPr>
          <p:cNvPr id="7" name="Text 4"/>
          <p:cNvSpPr/>
          <p:nvPr/>
        </p:nvSpPr>
        <p:spPr>
          <a:xfrm>
            <a:off x="1054100" y="2169160"/>
            <a:ext cx="772795" cy="507365"/>
          </a:xfrm>
          <a:prstGeom prst="rect">
            <a:avLst/>
          </a:prstGeom>
          <a:noFill/>
        </p:spPr>
        <p:txBody>
          <a:bodyPr wrap="square" lIns="91440" tIns="45720" rIns="91440" bIns="45720" rtlCol="0" anchor="t"/>
          <a:lstStyle/>
          <a:p>
            <a:pPr marL="0" indent="0" algn="ctr">
              <a:lnSpc>
                <a:spcPct val="100000"/>
              </a:lnSpc>
              <a:buNone/>
            </a:pPr>
            <a:r>
              <a:rPr lang="en-US" sz="2800" b="1" dirty="0">
                <a:solidFill>
                  <a:srgbClr val="218EC1"/>
                </a:solidFill>
                <a:latin typeface="MiSans" pitchFamily="34" charset="-122"/>
                <a:ea typeface="MiSans" pitchFamily="34" charset="-122"/>
                <a:cs typeface="MiSans" pitchFamily="34" charset="-120"/>
              </a:rPr>
              <a:t>01</a:t>
            </a:r>
            <a:endParaRPr lang="en-US" sz="1600" dirty="0"/>
          </a:p>
        </p:txBody>
      </p:sp>
      <p:sp>
        <p:nvSpPr>
          <p:cNvPr id="8" name="Shape 5"/>
          <p:cNvSpPr/>
          <p:nvPr/>
        </p:nvSpPr>
        <p:spPr>
          <a:xfrm>
            <a:off x="1056005" y="2136775"/>
            <a:ext cx="353695" cy="354330"/>
          </a:xfrm>
          <a:prstGeom prst="ellipse">
            <a:avLst/>
          </a:prstGeom>
          <a:gradFill flip="none" rotWithShape="1">
            <a:gsLst>
              <a:gs pos="0">
                <a:srgbClr val="28A4DE"/>
              </a:gs>
              <a:gs pos="81000">
                <a:srgbClr val="C5C9CE">
                  <a:alpha val="0"/>
                </a:srgbClr>
              </a:gs>
            </a:gsLst>
            <a:lin ang="2700000" scaled="1"/>
          </a:gradFill>
        </p:spPr>
      </p:sp>
      <p:sp>
        <p:nvSpPr>
          <p:cNvPr id="9" name="Text 6"/>
          <p:cNvSpPr/>
          <p:nvPr/>
        </p:nvSpPr>
        <p:spPr>
          <a:xfrm>
            <a:off x="1056005" y="2136775"/>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7"/>
          <p:cNvSpPr/>
          <p:nvPr/>
        </p:nvSpPr>
        <p:spPr>
          <a:xfrm>
            <a:off x="1846580" y="3007995"/>
            <a:ext cx="4887595" cy="303411"/>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数据预处理与图像处理</a:t>
            </a:r>
            <a:endParaRPr lang="en-US" sz="1600" dirty="0"/>
          </a:p>
        </p:txBody>
      </p:sp>
      <p:sp>
        <p:nvSpPr>
          <p:cNvPr id="11" name="Text 8"/>
          <p:cNvSpPr/>
          <p:nvPr/>
        </p:nvSpPr>
        <p:spPr>
          <a:xfrm>
            <a:off x="1054100" y="2952115"/>
            <a:ext cx="772795" cy="507365"/>
          </a:xfrm>
          <a:prstGeom prst="rect">
            <a:avLst/>
          </a:prstGeom>
          <a:noFill/>
        </p:spPr>
        <p:txBody>
          <a:bodyPr wrap="square" lIns="91440" tIns="45720" rIns="91440" bIns="45720" rtlCol="0" anchor="t"/>
          <a:lstStyle/>
          <a:p>
            <a:pPr marL="0" indent="0" algn="ctr">
              <a:lnSpc>
                <a:spcPct val="100000"/>
              </a:lnSpc>
              <a:buNone/>
            </a:pPr>
            <a:r>
              <a:rPr lang="en-US" sz="2800" b="1" dirty="0">
                <a:solidFill>
                  <a:srgbClr val="218EC1"/>
                </a:solidFill>
                <a:latin typeface="MiSans" pitchFamily="34" charset="-122"/>
                <a:ea typeface="MiSans" pitchFamily="34" charset="-122"/>
                <a:cs typeface="MiSans" pitchFamily="34" charset="-120"/>
              </a:rPr>
              <a:t>02</a:t>
            </a:r>
            <a:endParaRPr lang="en-US" sz="1600" dirty="0"/>
          </a:p>
        </p:txBody>
      </p:sp>
      <p:sp>
        <p:nvSpPr>
          <p:cNvPr id="12" name="Shape 9"/>
          <p:cNvSpPr/>
          <p:nvPr/>
        </p:nvSpPr>
        <p:spPr>
          <a:xfrm>
            <a:off x="1056005" y="2910205"/>
            <a:ext cx="353695" cy="354330"/>
          </a:xfrm>
          <a:prstGeom prst="ellipse">
            <a:avLst/>
          </a:prstGeom>
          <a:gradFill flip="none" rotWithShape="1">
            <a:gsLst>
              <a:gs pos="0">
                <a:srgbClr val="28A4DE"/>
              </a:gs>
              <a:gs pos="81000">
                <a:srgbClr val="C5C9CE">
                  <a:alpha val="0"/>
                </a:srgbClr>
              </a:gs>
            </a:gsLst>
            <a:lin ang="2700000" scaled="1"/>
          </a:gradFill>
        </p:spPr>
      </p:sp>
      <p:sp>
        <p:nvSpPr>
          <p:cNvPr id="13" name="Text 10"/>
          <p:cNvSpPr/>
          <p:nvPr/>
        </p:nvSpPr>
        <p:spPr>
          <a:xfrm>
            <a:off x="1056005" y="2910205"/>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Text 11"/>
          <p:cNvSpPr/>
          <p:nvPr/>
        </p:nvSpPr>
        <p:spPr>
          <a:xfrm>
            <a:off x="1846580" y="3800475"/>
            <a:ext cx="4887595" cy="303411"/>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算法设计</a:t>
            </a:r>
            <a:endParaRPr lang="en-US" sz="1600" dirty="0"/>
          </a:p>
        </p:txBody>
      </p:sp>
      <p:sp>
        <p:nvSpPr>
          <p:cNvPr id="15" name="Text 12"/>
          <p:cNvSpPr/>
          <p:nvPr/>
        </p:nvSpPr>
        <p:spPr>
          <a:xfrm>
            <a:off x="1054100" y="3744595"/>
            <a:ext cx="772795" cy="507365"/>
          </a:xfrm>
          <a:prstGeom prst="rect">
            <a:avLst/>
          </a:prstGeom>
          <a:noFill/>
        </p:spPr>
        <p:txBody>
          <a:bodyPr wrap="square" lIns="91440" tIns="45720" rIns="91440" bIns="45720" rtlCol="0" anchor="t"/>
          <a:lstStyle/>
          <a:p>
            <a:pPr marL="0" indent="0" algn="ctr">
              <a:lnSpc>
                <a:spcPct val="100000"/>
              </a:lnSpc>
              <a:buNone/>
            </a:pPr>
            <a:r>
              <a:rPr lang="en-US" sz="2800" b="1" dirty="0">
                <a:solidFill>
                  <a:srgbClr val="218EC1"/>
                </a:solidFill>
                <a:latin typeface="MiSans" pitchFamily="34" charset="-122"/>
                <a:ea typeface="MiSans" pitchFamily="34" charset="-122"/>
                <a:cs typeface="MiSans" pitchFamily="34" charset="-120"/>
              </a:rPr>
              <a:t>03</a:t>
            </a:r>
            <a:endParaRPr lang="en-US" sz="1600" dirty="0"/>
          </a:p>
        </p:txBody>
      </p:sp>
      <p:sp>
        <p:nvSpPr>
          <p:cNvPr id="16" name="Shape 13"/>
          <p:cNvSpPr/>
          <p:nvPr/>
        </p:nvSpPr>
        <p:spPr>
          <a:xfrm>
            <a:off x="1056005" y="3693160"/>
            <a:ext cx="353695" cy="354330"/>
          </a:xfrm>
          <a:prstGeom prst="ellipse">
            <a:avLst/>
          </a:prstGeom>
          <a:gradFill flip="none" rotWithShape="1">
            <a:gsLst>
              <a:gs pos="0">
                <a:srgbClr val="28A4DE"/>
              </a:gs>
              <a:gs pos="81000">
                <a:srgbClr val="C5C9CE">
                  <a:alpha val="0"/>
                </a:srgbClr>
              </a:gs>
            </a:gsLst>
            <a:lin ang="2700000" scaled="1"/>
          </a:gradFill>
        </p:spPr>
      </p:sp>
      <p:sp>
        <p:nvSpPr>
          <p:cNvPr id="17" name="Text 14"/>
          <p:cNvSpPr/>
          <p:nvPr/>
        </p:nvSpPr>
        <p:spPr>
          <a:xfrm>
            <a:off x="1056005" y="3693160"/>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1846580" y="4602480"/>
            <a:ext cx="4887595" cy="303411"/>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Django系统部署与实现</a:t>
            </a:r>
            <a:endParaRPr lang="en-US" sz="1600" dirty="0"/>
          </a:p>
        </p:txBody>
      </p:sp>
      <p:sp>
        <p:nvSpPr>
          <p:cNvPr id="19" name="Text 16"/>
          <p:cNvSpPr/>
          <p:nvPr/>
        </p:nvSpPr>
        <p:spPr>
          <a:xfrm>
            <a:off x="1054100" y="4546600"/>
            <a:ext cx="772795" cy="507365"/>
          </a:xfrm>
          <a:prstGeom prst="rect">
            <a:avLst/>
          </a:prstGeom>
          <a:noFill/>
        </p:spPr>
        <p:txBody>
          <a:bodyPr wrap="square" lIns="91440" tIns="45720" rIns="91440" bIns="45720" rtlCol="0" anchor="t"/>
          <a:lstStyle/>
          <a:p>
            <a:pPr marL="0" indent="0" algn="ctr">
              <a:lnSpc>
                <a:spcPct val="100000"/>
              </a:lnSpc>
              <a:buNone/>
            </a:pPr>
            <a:r>
              <a:rPr lang="en-US" sz="2800" b="1" dirty="0">
                <a:solidFill>
                  <a:srgbClr val="218EC1"/>
                </a:solidFill>
                <a:latin typeface="MiSans" pitchFamily="34" charset="-122"/>
                <a:ea typeface="MiSans" pitchFamily="34" charset="-122"/>
                <a:cs typeface="MiSans" pitchFamily="34" charset="-120"/>
              </a:rPr>
              <a:t>04</a:t>
            </a:r>
            <a:endParaRPr lang="en-US" sz="1600" dirty="0"/>
          </a:p>
        </p:txBody>
      </p:sp>
      <p:sp>
        <p:nvSpPr>
          <p:cNvPr id="20" name="Shape 17"/>
          <p:cNvSpPr/>
          <p:nvPr/>
        </p:nvSpPr>
        <p:spPr>
          <a:xfrm>
            <a:off x="1056005" y="4485640"/>
            <a:ext cx="353695" cy="354330"/>
          </a:xfrm>
          <a:prstGeom prst="ellipse">
            <a:avLst/>
          </a:prstGeom>
          <a:gradFill flip="none" rotWithShape="1">
            <a:gsLst>
              <a:gs pos="0">
                <a:srgbClr val="28A4DE"/>
              </a:gs>
              <a:gs pos="81000">
                <a:srgbClr val="C5C9CE">
                  <a:alpha val="0"/>
                </a:srgbClr>
              </a:gs>
            </a:gsLst>
            <a:lin ang="2700000" scaled="1"/>
          </a:gradFill>
        </p:spPr>
      </p:sp>
      <p:sp>
        <p:nvSpPr>
          <p:cNvPr id="21" name="Text 18"/>
          <p:cNvSpPr/>
          <p:nvPr/>
        </p:nvSpPr>
        <p:spPr>
          <a:xfrm>
            <a:off x="1056005" y="4485640"/>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1846580" y="5414010"/>
            <a:ext cx="4887595" cy="303411"/>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前端界面设计</a:t>
            </a:r>
            <a:endParaRPr lang="en-US" sz="1600" dirty="0"/>
          </a:p>
        </p:txBody>
      </p:sp>
      <p:sp>
        <p:nvSpPr>
          <p:cNvPr id="23" name="Text 20"/>
          <p:cNvSpPr/>
          <p:nvPr/>
        </p:nvSpPr>
        <p:spPr>
          <a:xfrm>
            <a:off x="1054100" y="5358130"/>
            <a:ext cx="772795" cy="507365"/>
          </a:xfrm>
          <a:prstGeom prst="rect">
            <a:avLst/>
          </a:prstGeom>
          <a:noFill/>
        </p:spPr>
        <p:txBody>
          <a:bodyPr wrap="square" lIns="91440" tIns="45720" rIns="91440" bIns="45720" rtlCol="0" anchor="t"/>
          <a:lstStyle/>
          <a:p>
            <a:pPr marL="0" indent="0" algn="ctr">
              <a:lnSpc>
                <a:spcPct val="100000"/>
              </a:lnSpc>
              <a:buNone/>
            </a:pPr>
            <a:r>
              <a:rPr lang="en-US" sz="2800" b="1" dirty="0">
                <a:solidFill>
                  <a:srgbClr val="218EC1"/>
                </a:solidFill>
                <a:latin typeface="MiSans" pitchFamily="34" charset="-122"/>
                <a:ea typeface="MiSans" pitchFamily="34" charset="-122"/>
                <a:cs typeface="MiSans" pitchFamily="34" charset="-120"/>
              </a:rPr>
              <a:t>05</a:t>
            </a:r>
            <a:endParaRPr lang="en-US" sz="1600" dirty="0"/>
          </a:p>
        </p:txBody>
      </p:sp>
      <p:sp>
        <p:nvSpPr>
          <p:cNvPr id="24" name="Shape 21"/>
          <p:cNvSpPr/>
          <p:nvPr/>
        </p:nvSpPr>
        <p:spPr>
          <a:xfrm>
            <a:off x="1056005" y="5287645"/>
            <a:ext cx="353695" cy="354330"/>
          </a:xfrm>
          <a:prstGeom prst="ellipse">
            <a:avLst/>
          </a:prstGeom>
          <a:gradFill flip="none" rotWithShape="1">
            <a:gsLst>
              <a:gs pos="0">
                <a:srgbClr val="28A4DE"/>
              </a:gs>
              <a:gs pos="81000">
                <a:srgbClr val="C5C9CE">
                  <a:alpha val="0"/>
                </a:srgbClr>
              </a:gs>
            </a:gsLst>
            <a:lin ang="2700000" scaled="1"/>
          </a:gradFill>
        </p:spPr>
      </p:sp>
      <p:sp>
        <p:nvSpPr>
          <p:cNvPr id="25" name="Text 22"/>
          <p:cNvSpPr/>
          <p:nvPr/>
        </p:nvSpPr>
        <p:spPr>
          <a:xfrm>
            <a:off x="1056005" y="5287645"/>
            <a:ext cx="353695" cy="354330"/>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1-d0sml7s75iks2gau41ag.png"/>
          <p:cNvPicPr>
            <a:picLocks noChangeAspect="1"/>
          </p:cNvPicPr>
          <p:nvPr/>
        </p:nvPicPr>
        <p:blipFill>
          <a:blip r:embed="rId1"/>
          <a:srcRect l="8389" t="15000"/>
          <a:stretch>
            <a:fillRect/>
          </a:stretch>
        </p:blipFill>
        <p:spPr>
          <a:xfrm>
            <a:off x="0" y="0"/>
            <a:ext cx="12193200" cy="6856575"/>
          </a:xfrm>
          <a:prstGeom prst="rect">
            <a:avLst/>
          </a:prstGeom>
        </p:spPr>
      </p:pic>
      <p:sp>
        <p:nvSpPr>
          <p:cNvPr id="3" name="Shape 0"/>
          <p:cNvSpPr/>
          <p:nvPr/>
        </p:nvSpPr>
        <p:spPr>
          <a:xfrm>
            <a:off x="9768840" y="1196975"/>
            <a:ext cx="4304030" cy="4304030"/>
          </a:xfrm>
          <a:prstGeom prst="ellipse">
            <a:avLst/>
          </a:prstGeom>
          <a:solidFill>
            <a:srgbClr val="FFFFFF">
              <a:alpha val="5098"/>
            </a:srgbClr>
          </a:solidFill>
        </p:spPr>
      </p:sp>
      <p:sp>
        <p:nvSpPr>
          <p:cNvPr id="4" name="Text 1"/>
          <p:cNvSpPr/>
          <p:nvPr/>
        </p:nvSpPr>
        <p:spPr>
          <a:xfrm>
            <a:off x="9768840" y="1196975"/>
            <a:ext cx="4304030" cy="4304030"/>
          </a:xfrm>
          <a:prstGeom prst="rect">
            <a:avLst/>
          </a:prstGeom>
          <a:noFill/>
        </p:spPr>
        <p:txBody>
          <a:bodyPr wrap="square" lIns="0" tIns="0" rIns="0" bIns="0" rtlCol="0" anchor="t"/>
          <a:lstStyle/>
          <a:p>
            <a:pPr marL="0" indent="0">
              <a:lnSpc>
                <a:spcPct val="100000"/>
              </a:lnSpc>
              <a:buNone/>
            </a:pPr>
            <a:endParaRPr lang="en-US" sz="1600" dirty="0"/>
          </a:p>
        </p:txBody>
      </p:sp>
      <p:sp>
        <p:nvSpPr>
          <p:cNvPr id="5" name="Text 2"/>
          <p:cNvSpPr/>
          <p:nvPr/>
        </p:nvSpPr>
        <p:spPr>
          <a:xfrm>
            <a:off x="1459230" y="2247900"/>
            <a:ext cx="1612900" cy="1098550"/>
          </a:xfrm>
          <a:prstGeom prst="rect">
            <a:avLst/>
          </a:prstGeom>
          <a:noFill/>
        </p:spPr>
        <p:txBody>
          <a:bodyPr wrap="square" lIns="0" tIns="0" rIns="0" bIns="0" rtlCol="0" anchor="t"/>
          <a:lstStyle/>
          <a:p>
            <a:pPr marL="0" indent="0" algn="l">
              <a:lnSpc>
                <a:spcPct val="100000"/>
              </a:lnSpc>
              <a:buNone/>
            </a:pPr>
            <a:r>
              <a:rPr lang="en-US" sz="8000" dirty="0">
                <a:solidFill>
                  <a:srgbClr val="218EC1"/>
                </a:solidFill>
                <a:latin typeface="MiSans" pitchFamily="34" charset="-122"/>
                <a:ea typeface="MiSans" pitchFamily="34" charset="-122"/>
                <a:cs typeface="MiSans" pitchFamily="34" charset="-120"/>
              </a:rPr>
              <a:t>01</a:t>
            </a:r>
            <a:endParaRPr lang="en-US" sz="1600" dirty="0"/>
          </a:p>
        </p:txBody>
      </p:sp>
      <p:sp>
        <p:nvSpPr>
          <p:cNvPr id="6" name="Text 3"/>
          <p:cNvSpPr/>
          <p:nvPr/>
        </p:nvSpPr>
        <p:spPr>
          <a:xfrm>
            <a:off x="1440180" y="3517900"/>
            <a:ext cx="5314315" cy="1183640"/>
          </a:xfrm>
          <a:prstGeom prst="rect">
            <a:avLst/>
          </a:prstGeom>
          <a:noFill/>
        </p:spPr>
        <p:txBody>
          <a:bodyPr wrap="square" lIns="0" tIns="0" rIns="0" bIns="0" rtlCol="0" anchor="t"/>
          <a:lstStyle/>
          <a:p>
            <a:pPr marL="0" indent="0" algn="l">
              <a:lnSpc>
                <a:spcPct val="100000"/>
              </a:lnSpc>
              <a:buNone/>
            </a:pPr>
            <a:r>
              <a:rPr lang="en-US" sz="4400" dirty="0">
                <a:solidFill>
                  <a:srgbClr val="FFFFFF"/>
                </a:solidFill>
                <a:latin typeface="MiSans" pitchFamily="34" charset="-122"/>
                <a:ea typeface="MiSans" pitchFamily="34" charset="-122"/>
                <a:cs typeface="MiSans" pitchFamily="34" charset="-120"/>
              </a:rPr>
              <a:t>项目概述</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2:14-d0smldk75iks2gau41hg.png"/>
          <p:cNvPicPr>
            <a:picLocks noChangeAspect="1"/>
          </p:cNvPicPr>
          <p:nvPr>
            <p:custDataLst>
              <p:tags r:id="rId1"/>
            </p:custDataLst>
          </p:nvPr>
        </p:nvPicPr>
        <p:blipFill>
          <a:blip r:embed="rId2"/>
          <a:stretch>
            <a:fillRect/>
          </a:stretch>
        </p:blipFill>
        <p:spPr>
          <a:xfrm>
            <a:off x="552450" y="2012313"/>
            <a:ext cx="11103610" cy="561342"/>
          </a:xfrm>
          <a:prstGeom prst="rect">
            <a:avLst/>
          </a:prstGeom>
        </p:spPr>
      </p:pic>
      <p:sp>
        <p:nvSpPr>
          <p:cNvPr id="3" name="Shape 0"/>
          <p:cNvSpPr/>
          <p:nvPr>
            <p:custDataLst>
              <p:tags r:id="rId3"/>
            </p:custDataLst>
          </p:nvPr>
        </p:nvSpPr>
        <p:spPr>
          <a:xfrm>
            <a:off x="2004900" y="2159361"/>
            <a:ext cx="637961"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4" name="Text 1"/>
          <p:cNvSpPr/>
          <p:nvPr/>
        </p:nvSpPr>
        <p:spPr>
          <a:xfrm>
            <a:off x="2004900" y="2159361"/>
            <a:ext cx="637961"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custDataLst>
              <p:tags r:id="rId4"/>
            </p:custDataLst>
          </p:nvPr>
        </p:nvSpPr>
        <p:spPr>
          <a:xfrm>
            <a:off x="1991333" y="2325940"/>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6" name="Shape 3"/>
          <p:cNvSpPr/>
          <p:nvPr>
            <p:custDataLst>
              <p:tags r:id="rId5"/>
            </p:custDataLst>
          </p:nvPr>
        </p:nvSpPr>
        <p:spPr>
          <a:xfrm>
            <a:off x="5772776" y="1692636"/>
            <a:ext cx="637540"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7" name="Text 4"/>
          <p:cNvSpPr/>
          <p:nvPr/>
        </p:nvSpPr>
        <p:spPr>
          <a:xfrm>
            <a:off x="5772776" y="1692636"/>
            <a:ext cx="637540"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5"/>
          <p:cNvSpPr/>
          <p:nvPr>
            <p:custDataLst>
              <p:tags r:id="rId6"/>
            </p:custDataLst>
          </p:nvPr>
        </p:nvSpPr>
        <p:spPr>
          <a:xfrm>
            <a:off x="5746298" y="1859215"/>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9" name="Shape 6"/>
          <p:cNvSpPr/>
          <p:nvPr>
            <p:custDataLst>
              <p:tags r:id="rId7"/>
            </p:custDataLst>
          </p:nvPr>
        </p:nvSpPr>
        <p:spPr>
          <a:xfrm>
            <a:off x="9540231" y="2241911"/>
            <a:ext cx="637540"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0" name="Text 7"/>
          <p:cNvSpPr/>
          <p:nvPr/>
        </p:nvSpPr>
        <p:spPr>
          <a:xfrm>
            <a:off x="9540231" y="2241911"/>
            <a:ext cx="637540"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custDataLst>
              <p:tags r:id="rId8"/>
            </p:custDataLst>
          </p:nvPr>
        </p:nvSpPr>
        <p:spPr>
          <a:xfrm>
            <a:off x="9526244" y="2408490"/>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12" name="Text 9"/>
          <p:cNvSpPr/>
          <p:nvPr>
            <p:custDataLst>
              <p:tags r:id="rId9"/>
            </p:custDataLst>
          </p:nvPr>
        </p:nvSpPr>
        <p:spPr>
          <a:xfrm>
            <a:off x="659130" y="3448685"/>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应用场景</a:t>
            </a:r>
            <a:endParaRPr lang="en-US" sz="1600" dirty="0"/>
          </a:p>
        </p:txBody>
      </p:sp>
      <p:sp>
        <p:nvSpPr>
          <p:cNvPr id="13" name="Text 10"/>
          <p:cNvSpPr/>
          <p:nvPr>
            <p:custDataLst>
              <p:tags r:id="rId10"/>
            </p:custDataLst>
          </p:nvPr>
        </p:nvSpPr>
        <p:spPr>
          <a:xfrm>
            <a:off x="668971" y="3830955"/>
            <a:ext cx="3470913" cy="1149945"/>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人脸表情识别在心理学、人机交互、健康监测、安防等领域有广泛应用，如抑郁症监测、智能客服反馈调整等，具有重要研究和实用价值。</a:t>
            </a:r>
            <a:endParaRPr lang="en-US" sz="1600" dirty="0"/>
          </a:p>
        </p:txBody>
      </p:sp>
      <p:sp>
        <p:nvSpPr>
          <p:cNvPr id="14" name="Text 11"/>
          <p:cNvSpPr/>
          <p:nvPr>
            <p:custDataLst>
              <p:tags r:id="rId11"/>
            </p:custDataLst>
          </p:nvPr>
        </p:nvSpPr>
        <p:spPr>
          <a:xfrm>
            <a:off x="4408805" y="2708910"/>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技术路线</a:t>
            </a:r>
            <a:endParaRPr lang="en-US" sz="1600" dirty="0"/>
          </a:p>
        </p:txBody>
      </p:sp>
      <p:sp>
        <p:nvSpPr>
          <p:cNvPr id="15" name="Text 12"/>
          <p:cNvSpPr/>
          <p:nvPr>
            <p:custDataLst>
              <p:tags r:id="rId12"/>
            </p:custDataLst>
          </p:nvPr>
        </p:nvSpPr>
        <p:spPr>
          <a:xfrm>
            <a:off x="4452303" y="3091814"/>
            <a:ext cx="3403600" cy="1149945"/>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采用YOLOv8m进行人脸检测，结合ResNet、AlexNet、VGG等模型进行表情分类，通过数据增强和优化策略提升模型性能。</a:t>
            </a:r>
            <a:endParaRPr lang="en-US" sz="1600" dirty="0"/>
          </a:p>
        </p:txBody>
      </p:sp>
      <p:sp>
        <p:nvSpPr>
          <p:cNvPr id="16" name="Text 13"/>
          <p:cNvSpPr/>
          <p:nvPr>
            <p:custDataLst>
              <p:tags r:id="rId13"/>
            </p:custDataLst>
          </p:nvPr>
        </p:nvSpPr>
        <p:spPr>
          <a:xfrm>
            <a:off x="8157687" y="3430270"/>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成果展示</a:t>
            </a:r>
            <a:endParaRPr lang="en-US" sz="1600" dirty="0"/>
          </a:p>
        </p:txBody>
      </p:sp>
      <p:sp>
        <p:nvSpPr>
          <p:cNvPr id="17" name="Text 14"/>
          <p:cNvSpPr/>
          <p:nvPr>
            <p:custDataLst>
              <p:tags r:id="rId14"/>
            </p:custDataLst>
          </p:nvPr>
        </p:nvSpPr>
        <p:spPr>
          <a:xfrm>
            <a:off x="8201184" y="3813176"/>
            <a:ext cx="3403600" cy="862409"/>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系统可准确识别九种表情，整体分类准确率82.1%，在智能客服、教育、医疗等领域有良好应用前景。</a:t>
            </a:r>
            <a:endParaRPr lang="en-US" sz="1600" dirty="0"/>
          </a:p>
        </p:txBody>
      </p:sp>
      <p:sp>
        <p:nvSpPr>
          <p:cNvPr id="18" name="Shape 15"/>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9" name="Text 16"/>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20" name="Text 17"/>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项目背景</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1031240" y="586105"/>
            <a:ext cx="4064000" cy="645160"/>
          </a:xfrm>
          <a:prstGeom prst="rect">
            <a:avLst/>
          </a:prstGeom>
          <a:noFill/>
        </p:spPr>
        <p:txBody>
          <a:bodyPr wrap="square" rtlCol="0">
            <a:spAutoFit/>
          </a:bodyPr>
          <a:p>
            <a:r>
              <a:rPr lang="zh-CN" altLang="en-US" sz="3600">
                <a:solidFill>
                  <a:schemeClr val="accent6"/>
                </a:solidFill>
              </a:rPr>
              <a:t>技术路线图</a:t>
            </a:r>
            <a:endParaRPr lang="zh-CN" altLang="en-US" sz="3600">
              <a:solidFill>
                <a:schemeClr val="accent6"/>
              </a:solidFill>
            </a:endParaRPr>
          </a:p>
        </p:txBody>
      </p:sp>
      <p:pic>
        <p:nvPicPr>
          <p:cNvPr id="4" name="图片 3"/>
          <p:cNvPicPr>
            <a:picLocks noChangeAspect="1"/>
          </p:cNvPicPr>
          <p:nvPr/>
        </p:nvPicPr>
        <p:blipFill>
          <a:blip r:embed="rId2"/>
          <a:stretch>
            <a:fillRect/>
          </a:stretch>
        </p:blipFill>
        <p:spPr>
          <a:xfrm>
            <a:off x="2599690" y="1163955"/>
            <a:ext cx="6992620" cy="5536565"/>
          </a:xfrm>
          <a:prstGeom prst="rect">
            <a:avLst/>
          </a:prstGeom>
        </p:spPr>
      </p:pic>
      <p:sp>
        <p:nvSpPr>
          <p:cNvPr id="18" name="Shape 16"/>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1031240" y="586105"/>
            <a:ext cx="4064000" cy="645160"/>
          </a:xfrm>
          <a:prstGeom prst="rect">
            <a:avLst/>
          </a:prstGeom>
          <a:noFill/>
        </p:spPr>
        <p:txBody>
          <a:bodyPr wrap="square" rtlCol="0">
            <a:spAutoFit/>
          </a:bodyPr>
          <a:p>
            <a:r>
              <a:rPr lang="zh-CN" altLang="en-US" sz="3600">
                <a:solidFill>
                  <a:schemeClr val="accent6"/>
                </a:solidFill>
              </a:rPr>
              <a:t>成果</a:t>
            </a:r>
            <a:r>
              <a:rPr lang="zh-CN" altLang="en-US" sz="3600">
                <a:solidFill>
                  <a:schemeClr val="accent6"/>
                </a:solidFill>
              </a:rPr>
              <a:t>展示</a:t>
            </a:r>
            <a:endParaRPr lang="zh-CN" altLang="en-US" sz="3600">
              <a:solidFill>
                <a:schemeClr val="accent6"/>
              </a:solidFill>
            </a:endParaRPr>
          </a:p>
        </p:txBody>
      </p:sp>
      <p:sp>
        <p:nvSpPr>
          <p:cNvPr id="18" name="Shape 16"/>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pic>
        <p:nvPicPr>
          <p:cNvPr id="3" name="图片 17"/>
          <p:cNvPicPr>
            <a:picLocks noChangeAspect="1"/>
          </p:cNvPicPr>
          <p:nvPr/>
        </p:nvPicPr>
        <p:blipFill>
          <a:blip r:embed="rId2"/>
          <a:stretch>
            <a:fillRect/>
          </a:stretch>
        </p:blipFill>
        <p:spPr>
          <a:xfrm>
            <a:off x="1528445" y="1231265"/>
            <a:ext cx="8945245" cy="5311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1-d0sml7s75iks2gau41ag.png"/>
          <p:cNvPicPr>
            <a:picLocks noChangeAspect="1"/>
          </p:cNvPicPr>
          <p:nvPr/>
        </p:nvPicPr>
        <p:blipFill>
          <a:blip r:embed="rId1"/>
          <a:srcRect l="8389" t="15000"/>
          <a:stretch>
            <a:fillRect/>
          </a:stretch>
        </p:blipFill>
        <p:spPr>
          <a:xfrm>
            <a:off x="0" y="0"/>
            <a:ext cx="12193200" cy="6856575"/>
          </a:xfrm>
          <a:prstGeom prst="rect">
            <a:avLst/>
          </a:prstGeom>
        </p:spPr>
      </p:pic>
      <p:sp>
        <p:nvSpPr>
          <p:cNvPr id="3" name="Shape 0"/>
          <p:cNvSpPr/>
          <p:nvPr/>
        </p:nvSpPr>
        <p:spPr>
          <a:xfrm>
            <a:off x="9768840" y="1196975"/>
            <a:ext cx="4304030" cy="4304030"/>
          </a:xfrm>
          <a:prstGeom prst="ellipse">
            <a:avLst/>
          </a:prstGeom>
          <a:solidFill>
            <a:srgbClr val="FFFFFF">
              <a:alpha val="5098"/>
            </a:srgbClr>
          </a:solidFill>
        </p:spPr>
      </p:sp>
      <p:sp>
        <p:nvSpPr>
          <p:cNvPr id="4" name="Text 1"/>
          <p:cNvSpPr/>
          <p:nvPr/>
        </p:nvSpPr>
        <p:spPr>
          <a:xfrm>
            <a:off x="9768840" y="1196975"/>
            <a:ext cx="4304030" cy="4304030"/>
          </a:xfrm>
          <a:prstGeom prst="rect">
            <a:avLst/>
          </a:prstGeom>
          <a:noFill/>
        </p:spPr>
        <p:txBody>
          <a:bodyPr wrap="square" lIns="0" tIns="0" rIns="0" bIns="0" rtlCol="0" anchor="t"/>
          <a:lstStyle/>
          <a:p>
            <a:pPr marL="0" indent="0">
              <a:lnSpc>
                <a:spcPct val="100000"/>
              </a:lnSpc>
              <a:buNone/>
            </a:pPr>
            <a:endParaRPr lang="en-US" sz="1600" dirty="0"/>
          </a:p>
        </p:txBody>
      </p:sp>
      <p:sp>
        <p:nvSpPr>
          <p:cNvPr id="5" name="Text 2"/>
          <p:cNvSpPr/>
          <p:nvPr/>
        </p:nvSpPr>
        <p:spPr>
          <a:xfrm>
            <a:off x="1459230" y="2247900"/>
            <a:ext cx="1612900" cy="1098550"/>
          </a:xfrm>
          <a:prstGeom prst="rect">
            <a:avLst/>
          </a:prstGeom>
          <a:noFill/>
        </p:spPr>
        <p:txBody>
          <a:bodyPr wrap="square" lIns="0" tIns="0" rIns="0" bIns="0" rtlCol="0" anchor="t"/>
          <a:lstStyle/>
          <a:p>
            <a:pPr marL="0" indent="0" algn="l">
              <a:lnSpc>
                <a:spcPct val="100000"/>
              </a:lnSpc>
              <a:buNone/>
            </a:pPr>
            <a:r>
              <a:rPr lang="en-US" sz="8000" dirty="0">
                <a:solidFill>
                  <a:srgbClr val="218EC1"/>
                </a:solidFill>
                <a:latin typeface="MiSans" pitchFamily="34" charset="-122"/>
                <a:ea typeface="MiSans" pitchFamily="34" charset="-122"/>
                <a:cs typeface="MiSans" pitchFamily="34" charset="-120"/>
              </a:rPr>
              <a:t>02</a:t>
            </a:r>
            <a:endParaRPr lang="en-US" sz="1600" dirty="0"/>
          </a:p>
        </p:txBody>
      </p:sp>
      <p:sp>
        <p:nvSpPr>
          <p:cNvPr id="6" name="Text 3"/>
          <p:cNvSpPr/>
          <p:nvPr/>
        </p:nvSpPr>
        <p:spPr>
          <a:xfrm>
            <a:off x="1440180" y="3517900"/>
            <a:ext cx="5314315" cy="1183640"/>
          </a:xfrm>
          <a:prstGeom prst="rect">
            <a:avLst/>
          </a:prstGeom>
          <a:noFill/>
        </p:spPr>
        <p:txBody>
          <a:bodyPr wrap="square" lIns="0" tIns="0" rIns="0" bIns="0" rtlCol="0" anchor="t"/>
          <a:lstStyle/>
          <a:p>
            <a:pPr marL="0" indent="0" algn="l">
              <a:lnSpc>
                <a:spcPct val="100000"/>
              </a:lnSpc>
              <a:buNone/>
            </a:pPr>
            <a:r>
              <a:rPr lang="en-US" sz="4400" dirty="0">
                <a:solidFill>
                  <a:srgbClr val="FFFFFF"/>
                </a:solidFill>
                <a:latin typeface="MiSans" pitchFamily="34" charset="-122"/>
                <a:ea typeface="MiSans" pitchFamily="34" charset="-122"/>
                <a:cs typeface="MiSans" pitchFamily="34" charset="-120"/>
              </a:rPr>
              <a:t>数据预处理与图像处理</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rot="5400000">
            <a:off x="-1348105" y="100965"/>
            <a:ext cx="6858000" cy="6656070"/>
          </a:xfrm>
          <a:prstGeom prst="round2SameRect">
            <a:avLst>
              <a:gd name="adj1" fmla="val 50000"/>
              <a:gd name="adj2" fmla="val 0"/>
            </a:avLst>
          </a:prstGeom>
          <a:gradFill flip="none" rotWithShape="1">
            <a:gsLst>
              <a:gs pos="54000">
                <a:srgbClr val="28A4DE">
                  <a:alpha val="9000"/>
                </a:srgbClr>
              </a:gs>
              <a:gs pos="100000">
                <a:srgbClr val="232322">
                  <a:alpha val="0"/>
                </a:srgbClr>
              </a:gs>
            </a:gsLst>
            <a:lin ang="13500000" scaled="1"/>
          </a:gradFill>
        </p:spPr>
      </p:sp>
      <p:sp>
        <p:nvSpPr>
          <p:cNvPr id="3" name="Text 1"/>
          <p:cNvSpPr/>
          <p:nvPr/>
        </p:nvSpPr>
        <p:spPr>
          <a:xfrm rot="5400000">
            <a:off x="-1348105" y="100965"/>
            <a:ext cx="6858000" cy="6656070"/>
          </a:xfrm>
          <a:prstGeom prst="rect">
            <a:avLst/>
          </a:prstGeom>
          <a:noFill/>
        </p:spPr>
        <p:txBody>
          <a:bodyPr wrap="square" lIns="0" tIns="0" rIns="0" bIns="0" rtlCol="0" anchor="t"/>
          <a:lstStyle/>
          <a:p>
            <a:pPr marL="0" indent="0">
              <a:lnSpc>
                <a:spcPct val="100000"/>
              </a:lnSpc>
              <a:buNone/>
            </a:pPr>
            <a:endParaRPr lang="en-US" sz="1600" dirty="0"/>
          </a:p>
        </p:txBody>
      </p:sp>
      <p:pic>
        <p:nvPicPr>
          <p:cNvPr id="4" name="Image 0" descr="https://kimi-img.moonshot.cn/pub/slides/slides_tmpl/image/25-05-30-16:22:14-d0smldk75iks2gau41h0.png"/>
          <p:cNvPicPr>
            <a:picLocks noChangeAspect="1"/>
          </p:cNvPicPr>
          <p:nvPr/>
        </p:nvPicPr>
        <p:blipFill>
          <a:blip r:embed="rId1">
            <a:alphaModFix amt="20000"/>
          </a:blip>
          <a:stretch>
            <a:fillRect/>
          </a:stretch>
        </p:blipFill>
        <p:spPr>
          <a:xfrm>
            <a:off x="0" y="13335"/>
            <a:ext cx="5393055" cy="6858000"/>
          </a:xfrm>
          <a:prstGeom prst="rect">
            <a:avLst/>
          </a:prstGeom>
        </p:spPr>
      </p:pic>
      <p:sp>
        <p:nvSpPr>
          <p:cNvPr id="5" name="Text 2"/>
          <p:cNvSpPr/>
          <p:nvPr/>
        </p:nvSpPr>
        <p:spPr>
          <a:xfrm>
            <a:off x="6503035" y="2703830"/>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数据标注</a:t>
            </a:r>
            <a:endParaRPr lang="en-US" sz="1600" dirty="0"/>
          </a:p>
        </p:txBody>
      </p:sp>
      <p:sp>
        <p:nvSpPr>
          <p:cNvPr id="6" name="Text 3"/>
          <p:cNvSpPr/>
          <p:nvPr/>
        </p:nvSpPr>
        <p:spPr>
          <a:xfrm>
            <a:off x="6502400" y="3114040"/>
            <a:ext cx="5083175" cy="148463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对采集的人脸图像进行精确标注，包括表情类别、人脸位置等信息，确保数据质量。</a:t>
            </a:r>
            <a:endParaRPr lang="en-US" sz="1600" dirty="0"/>
          </a:p>
        </p:txBody>
      </p:sp>
      <p:sp>
        <p:nvSpPr>
          <p:cNvPr id="7" name="Text 4"/>
          <p:cNvSpPr/>
          <p:nvPr/>
        </p:nvSpPr>
        <p:spPr>
          <a:xfrm>
            <a:off x="5779135" y="4692015"/>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数据集展示</a:t>
            </a:r>
            <a:endParaRPr lang="en-US" sz="1600" dirty="0"/>
          </a:p>
        </p:txBody>
      </p:sp>
      <p:sp>
        <p:nvSpPr>
          <p:cNvPr id="8" name="Text 5"/>
          <p:cNvSpPr/>
          <p:nvPr/>
        </p:nvSpPr>
        <p:spPr>
          <a:xfrm>
            <a:off x="5778500" y="5102225"/>
            <a:ext cx="5083175" cy="148463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展示部分原始数据集图像，体现数据多样性和复杂性。</a:t>
            </a:r>
            <a:endParaRPr lang="en-US" sz="1600" dirty="0"/>
          </a:p>
        </p:txBody>
      </p:sp>
      <p:sp>
        <p:nvSpPr>
          <p:cNvPr id="9" name="Text 6"/>
          <p:cNvSpPr/>
          <p:nvPr/>
        </p:nvSpPr>
        <p:spPr>
          <a:xfrm>
            <a:off x="5778500" y="715010"/>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数据集来源</a:t>
            </a:r>
            <a:endParaRPr lang="en-US" sz="1600" dirty="0"/>
          </a:p>
        </p:txBody>
      </p:sp>
      <p:sp>
        <p:nvSpPr>
          <p:cNvPr id="10" name="Text 7"/>
          <p:cNvSpPr/>
          <p:nvPr/>
        </p:nvSpPr>
        <p:spPr>
          <a:xfrm>
            <a:off x="5778500" y="1125220"/>
            <a:ext cx="5083175" cy="148590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数据集包含多种表情样本，涵盖不同人种、光照条件和姿态变化，为模型训练提供丰富数据基础。</a:t>
            </a:r>
            <a:endParaRPr lang="en-US" sz="1600" dirty="0"/>
          </a:p>
        </p:txBody>
      </p:sp>
      <p:sp>
        <p:nvSpPr>
          <p:cNvPr id="11" name="Text 8"/>
          <p:cNvSpPr/>
          <p:nvPr/>
        </p:nvSpPr>
        <p:spPr>
          <a:xfrm>
            <a:off x="597535" y="2781300"/>
            <a:ext cx="4161790" cy="1837690"/>
          </a:xfrm>
          <a:prstGeom prst="rect">
            <a:avLst/>
          </a:prstGeom>
          <a:noFill/>
        </p:spPr>
        <p:txBody>
          <a:bodyPr wrap="square" lIns="45720" tIns="45720" rIns="45720" bIns="45720" rtlCol="0" anchor="t"/>
          <a:lstStyle/>
          <a:p>
            <a:pPr marL="0" indent="0" algn="l">
              <a:lnSpc>
                <a:spcPct val="100000"/>
              </a:lnSpc>
              <a:buNone/>
            </a:pPr>
            <a:r>
              <a:rPr lang="en-US" sz="3600" dirty="0">
                <a:solidFill>
                  <a:srgbClr val="218EC1"/>
                </a:solidFill>
                <a:latin typeface="MiSans" pitchFamily="34" charset="-122"/>
                <a:ea typeface="MiSans" pitchFamily="34" charset="-122"/>
                <a:cs typeface="MiSans" pitchFamily="34" charset="-120"/>
              </a:rPr>
              <a:t>数据采集</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636270" y="509270"/>
            <a:ext cx="4064000" cy="706755"/>
          </a:xfrm>
          <a:prstGeom prst="rect">
            <a:avLst/>
          </a:prstGeom>
          <a:noFill/>
        </p:spPr>
        <p:txBody>
          <a:bodyPr wrap="square" rtlCol="0">
            <a:spAutoFit/>
          </a:bodyPr>
          <a:p>
            <a:pPr algn="ctr"/>
            <a:r>
              <a:rPr lang="en-US" altLang="zh-CN"/>
              <a:t>s</a:t>
            </a:r>
            <a:r>
              <a:rPr lang="zh-CN" altLang="en-US" sz="4000">
                <a:solidFill>
                  <a:schemeClr val="accent6"/>
                </a:solidFill>
              </a:rPr>
              <a:t>数据集展示</a:t>
            </a:r>
            <a:endParaRPr lang="zh-CN" altLang="en-US" sz="4000">
              <a:solidFill>
                <a:schemeClr val="accent6"/>
              </a:solidFill>
            </a:endParaRPr>
          </a:p>
        </p:txBody>
      </p:sp>
      <p:pic>
        <p:nvPicPr>
          <p:cNvPr id="11" name="图片 3" descr="IMG_256"/>
          <p:cNvPicPr>
            <a:picLocks noChangeAspect="1"/>
          </p:cNvPicPr>
          <p:nvPr/>
        </p:nvPicPr>
        <p:blipFill>
          <a:blip r:embed="rId2"/>
          <a:stretch>
            <a:fillRect/>
          </a:stretch>
        </p:blipFill>
        <p:spPr>
          <a:xfrm>
            <a:off x="2439035" y="1216025"/>
            <a:ext cx="7313930" cy="5302250"/>
          </a:xfrm>
          <a:prstGeom prst="rect">
            <a:avLst/>
          </a:prstGeom>
          <a:noFill/>
          <a:ln w="9525">
            <a:noFill/>
          </a:ln>
        </p:spPr>
      </p:pic>
      <p:sp>
        <p:nvSpPr>
          <p:cNvPr id="18" name="Shape 16"/>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420370" y="1716405"/>
            <a:ext cx="5551805" cy="1913890"/>
          </a:xfrm>
          <a:prstGeom prst="roundRect">
            <a:avLst>
              <a:gd name="adj" fmla="val 4433"/>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txBody>
          <a:bodyPr/>
          <a:p>
            <a:endParaRPr lang="zh-CN" altLang="en-US"/>
          </a:p>
        </p:txBody>
      </p:sp>
      <p:sp>
        <p:nvSpPr>
          <p:cNvPr id="3" name="Text 1"/>
          <p:cNvSpPr/>
          <p:nvPr/>
        </p:nvSpPr>
        <p:spPr>
          <a:xfrm>
            <a:off x="420370" y="1716405"/>
            <a:ext cx="5551805" cy="1913890"/>
          </a:xfrm>
          <a:prstGeom prst="rect">
            <a:avLst/>
          </a:prstGeom>
          <a:noFill/>
        </p:spPr>
        <p:txBody>
          <a:bodyPr wrap="square" lIns="0" tIns="0" rIns="0" bIns="0" rtlCol="0" anchor="t"/>
          <a:lstStyle/>
          <a:p>
            <a:pPr marL="0" indent="0">
              <a:lnSpc>
                <a:spcPct val="100000"/>
              </a:lnSpc>
              <a:buNone/>
            </a:pPr>
            <a:endParaRPr lang="en-US" sz="1600" dirty="0"/>
          </a:p>
        </p:txBody>
      </p:sp>
      <p:sp>
        <p:nvSpPr>
          <p:cNvPr id="4" name="Shape 2"/>
          <p:cNvSpPr/>
          <p:nvPr>
            <p:custDataLst>
              <p:tags r:id="rId2"/>
            </p:custDataLst>
          </p:nvPr>
        </p:nvSpPr>
        <p:spPr>
          <a:xfrm>
            <a:off x="6166485" y="1716405"/>
            <a:ext cx="5551805" cy="1913890"/>
          </a:xfrm>
          <a:prstGeom prst="roundRect">
            <a:avLst>
              <a:gd name="adj" fmla="val 4433"/>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5" name="Text 3"/>
          <p:cNvSpPr/>
          <p:nvPr/>
        </p:nvSpPr>
        <p:spPr>
          <a:xfrm>
            <a:off x="6166485" y="1716405"/>
            <a:ext cx="5551805" cy="1913890"/>
          </a:xfrm>
          <a:prstGeom prst="rect">
            <a:avLst/>
          </a:prstGeom>
          <a:noFill/>
        </p:spPr>
        <p:txBody>
          <a:bodyPr wrap="square" lIns="0" tIns="0" rIns="0" bIns="0" rtlCol="0" anchor="t"/>
          <a:lstStyle/>
          <a:p>
            <a:pPr marL="0" indent="0">
              <a:lnSpc>
                <a:spcPct val="100000"/>
              </a:lnSpc>
              <a:buNone/>
            </a:pPr>
            <a:endParaRPr lang="en-US" sz="1600" dirty="0"/>
          </a:p>
        </p:txBody>
      </p:sp>
      <p:sp>
        <p:nvSpPr>
          <p:cNvPr id="6" name="Shape 4"/>
          <p:cNvSpPr/>
          <p:nvPr>
            <p:custDataLst>
              <p:tags r:id="rId3"/>
            </p:custDataLst>
          </p:nvPr>
        </p:nvSpPr>
        <p:spPr>
          <a:xfrm>
            <a:off x="420370" y="4012565"/>
            <a:ext cx="5551805" cy="1913890"/>
          </a:xfrm>
          <a:prstGeom prst="roundRect">
            <a:avLst>
              <a:gd name="adj" fmla="val 4433"/>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7" name="Text 5"/>
          <p:cNvSpPr/>
          <p:nvPr/>
        </p:nvSpPr>
        <p:spPr>
          <a:xfrm>
            <a:off x="420370" y="4012565"/>
            <a:ext cx="5551805" cy="1913890"/>
          </a:xfrm>
          <a:prstGeom prst="rect">
            <a:avLst/>
          </a:prstGeom>
          <a:noFill/>
        </p:spPr>
        <p:txBody>
          <a:bodyPr wrap="square" lIns="0" tIns="0" rIns="0" bIns="0" rtlCol="0" anchor="t"/>
          <a:lstStyle/>
          <a:p>
            <a:pPr marL="0" indent="0">
              <a:lnSpc>
                <a:spcPct val="100000"/>
              </a:lnSpc>
              <a:buNone/>
            </a:pPr>
            <a:endParaRPr lang="en-US" sz="1600" dirty="0"/>
          </a:p>
        </p:txBody>
      </p:sp>
      <p:sp>
        <p:nvSpPr>
          <p:cNvPr id="8" name="Shape 6"/>
          <p:cNvSpPr/>
          <p:nvPr>
            <p:custDataLst>
              <p:tags r:id="rId4"/>
            </p:custDataLst>
          </p:nvPr>
        </p:nvSpPr>
        <p:spPr>
          <a:xfrm>
            <a:off x="6166485" y="4012565"/>
            <a:ext cx="5551805" cy="1913890"/>
          </a:xfrm>
          <a:prstGeom prst="roundRect">
            <a:avLst>
              <a:gd name="adj" fmla="val 4433"/>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9" name="Text 7"/>
          <p:cNvSpPr/>
          <p:nvPr/>
        </p:nvSpPr>
        <p:spPr>
          <a:xfrm>
            <a:off x="6166485" y="4012565"/>
            <a:ext cx="5551805" cy="1913890"/>
          </a:xfrm>
          <a:prstGeom prst="rect">
            <a:avLst/>
          </a:prstGeom>
          <a:noFill/>
        </p:spPr>
        <p:txBody>
          <a:bodyPr wrap="square" lIns="0" tIns="0" rIns="0" bIns="0" rtlCol="0" anchor="t"/>
          <a:lstStyle/>
          <a:p>
            <a:pPr marL="0" indent="0">
              <a:lnSpc>
                <a:spcPct val="100000"/>
              </a:lnSpc>
              <a:buNone/>
            </a:pPr>
            <a:endParaRPr lang="en-US" sz="1600" dirty="0"/>
          </a:p>
        </p:txBody>
      </p:sp>
      <p:sp>
        <p:nvSpPr>
          <p:cNvPr id="10" name="Text 8"/>
          <p:cNvSpPr/>
          <p:nvPr>
            <p:custDataLst>
              <p:tags r:id="rId5"/>
            </p:custDataLst>
          </p:nvPr>
        </p:nvSpPr>
        <p:spPr>
          <a:xfrm>
            <a:off x="709930" y="2359025"/>
            <a:ext cx="4973320" cy="1144270"/>
          </a:xfrm>
          <a:prstGeom prst="rect">
            <a:avLst/>
          </a:prstGeom>
          <a:noFill/>
        </p:spPr>
        <p:txBody>
          <a:bodyPr wrap="square" lIns="0" tIns="0" rIns="0" bIns="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通过调整HSV参数增强数据多样性，适应不同肤色和光照条件，提升模型鲁棒性。</a:t>
            </a:r>
            <a:endParaRPr lang="en-US" sz="1600" dirty="0"/>
          </a:p>
        </p:txBody>
      </p:sp>
      <p:sp>
        <p:nvSpPr>
          <p:cNvPr id="11" name="Text 9"/>
          <p:cNvSpPr/>
          <p:nvPr>
            <p:custDataLst>
              <p:tags r:id="rId6"/>
            </p:custDataLst>
          </p:nvPr>
        </p:nvSpPr>
        <p:spPr>
          <a:xfrm>
            <a:off x="714375" y="1908810"/>
            <a:ext cx="5083810"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颜色增强</a:t>
            </a:r>
            <a:endParaRPr lang="en-US" sz="1600" dirty="0"/>
          </a:p>
        </p:txBody>
      </p:sp>
      <p:sp>
        <p:nvSpPr>
          <p:cNvPr id="12" name="Text 10"/>
          <p:cNvSpPr/>
          <p:nvPr>
            <p:custDataLst>
              <p:tags r:id="rId7"/>
            </p:custDataLst>
          </p:nvPr>
        </p:nvSpPr>
        <p:spPr>
          <a:xfrm>
            <a:off x="714375" y="4638675"/>
            <a:ext cx="4973320" cy="1144270"/>
          </a:xfrm>
          <a:prstGeom prst="rect">
            <a:avLst/>
          </a:prstGeom>
          <a:noFill/>
        </p:spPr>
        <p:txBody>
          <a:bodyPr wrap="square" lIns="0" tIns="0" rIns="0" bIns="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采用旋转、缩放、平移等仿射变换模拟人脸姿态变化，扩充数据集，提高模型对姿态变化的适应能力。</a:t>
            </a:r>
            <a:endParaRPr lang="en-US" sz="1600" dirty="0"/>
          </a:p>
        </p:txBody>
      </p:sp>
      <p:sp>
        <p:nvSpPr>
          <p:cNvPr id="13" name="Text 11"/>
          <p:cNvSpPr/>
          <p:nvPr>
            <p:custDataLst>
              <p:tags r:id="rId8"/>
            </p:custDataLst>
          </p:nvPr>
        </p:nvSpPr>
        <p:spPr>
          <a:xfrm>
            <a:off x="718820" y="4188460"/>
            <a:ext cx="5083810"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几何变换</a:t>
            </a:r>
            <a:endParaRPr lang="en-US" sz="1600" dirty="0"/>
          </a:p>
        </p:txBody>
      </p:sp>
      <p:sp>
        <p:nvSpPr>
          <p:cNvPr id="14" name="Text 12"/>
          <p:cNvSpPr/>
          <p:nvPr>
            <p:custDataLst>
              <p:tags r:id="rId9"/>
            </p:custDataLst>
          </p:nvPr>
        </p:nvSpPr>
        <p:spPr>
          <a:xfrm>
            <a:off x="6456045" y="2359025"/>
            <a:ext cx="4973320" cy="1144270"/>
          </a:xfrm>
          <a:prstGeom prst="rect">
            <a:avLst/>
          </a:prstGeom>
          <a:noFill/>
        </p:spPr>
        <p:txBody>
          <a:bodyPr wrap="square" lIns="0" tIns="0" rIns="0" bIns="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使用Gamma校正和随机阴影模拟增强光照鲁棒性，使模型在不同光照环境下表现稳定。</a:t>
            </a:r>
            <a:endParaRPr lang="en-US" sz="1600" dirty="0"/>
          </a:p>
        </p:txBody>
      </p:sp>
      <p:sp>
        <p:nvSpPr>
          <p:cNvPr id="15" name="Text 13"/>
          <p:cNvSpPr/>
          <p:nvPr>
            <p:custDataLst>
              <p:tags r:id="rId10"/>
            </p:custDataLst>
          </p:nvPr>
        </p:nvSpPr>
        <p:spPr>
          <a:xfrm>
            <a:off x="6456045" y="1909445"/>
            <a:ext cx="5083810"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光照调整</a:t>
            </a:r>
            <a:endParaRPr lang="en-US" sz="1600" dirty="0"/>
          </a:p>
        </p:txBody>
      </p:sp>
      <p:sp>
        <p:nvSpPr>
          <p:cNvPr id="16" name="Text 14"/>
          <p:cNvSpPr/>
          <p:nvPr>
            <p:custDataLst>
              <p:tags r:id="rId11"/>
            </p:custDataLst>
          </p:nvPr>
        </p:nvSpPr>
        <p:spPr>
          <a:xfrm>
            <a:off x="6478905" y="4638675"/>
            <a:ext cx="4973320" cy="1144270"/>
          </a:xfrm>
          <a:prstGeom prst="rect">
            <a:avLst/>
          </a:prstGeom>
          <a:noFill/>
        </p:spPr>
        <p:txBody>
          <a:bodyPr wrap="square" lIns="0" tIns="0" rIns="0" bIns="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添加随机遮挡和中心裁剪操作，模拟现实场景中的遮挡情况，进一步提升模型泛化能力。</a:t>
            </a:r>
            <a:endParaRPr lang="en-US" sz="1600" dirty="0"/>
          </a:p>
        </p:txBody>
      </p:sp>
      <p:sp>
        <p:nvSpPr>
          <p:cNvPr id="17" name="Text 15"/>
          <p:cNvSpPr/>
          <p:nvPr>
            <p:custDataLst>
              <p:tags r:id="rId12"/>
            </p:custDataLst>
          </p:nvPr>
        </p:nvSpPr>
        <p:spPr>
          <a:xfrm>
            <a:off x="6469380" y="4189095"/>
            <a:ext cx="5083810"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随机遮挡与中心裁剪</a:t>
            </a:r>
            <a:endParaRPr lang="en-US" sz="1600" dirty="0"/>
          </a:p>
        </p:txBody>
      </p:sp>
      <p:sp>
        <p:nvSpPr>
          <p:cNvPr id="18" name="Shape 16"/>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9" name="Text 17"/>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20" name="Text 18"/>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数据增强</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975995" y="1080135"/>
            <a:ext cx="4064000" cy="922020"/>
          </a:xfrm>
          <a:prstGeom prst="rect">
            <a:avLst/>
          </a:prstGeom>
          <a:noFill/>
        </p:spPr>
        <p:txBody>
          <a:bodyPr wrap="square" rtlCol="0">
            <a:spAutoFit/>
          </a:bodyPr>
          <a:p>
            <a:r>
              <a:rPr lang="zh-CN" altLang="en-US">
                <a:solidFill>
                  <a:schemeClr val="accent6"/>
                </a:solidFill>
              </a:rPr>
              <a:t>颜色</a:t>
            </a:r>
            <a:r>
              <a:rPr lang="zh-CN" altLang="en-US">
                <a:solidFill>
                  <a:schemeClr val="accent6"/>
                </a:solidFill>
              </a:rPr>
              <a:t>增强</a:t>
            </a:r>
            <a:endParaRPr lang="zh-CN" altLang="en-US">
              <a:solidFill>
                <a:schemeClr val="accent6"/>
              </a:solidFill>
            </a:endParaRPr>
          </a:p>
          <a:p>
            <a:endParaRPr lang="zh-CN" altLang="en-US">
              <a:solidFill>
                <a:schemeClr val="accent6"/>
              </a:solidFill>
            </a:endParaRPr>
          </a:p>
          <a:p>
            <a:endParaRPr lang="zh-CN" altLang="en-US">
              <a:solidFill>
                <a:schemeClr val="accent6"/>
              </a:solidFill>
            </a:endParaRPr>
          </a:p>
        </p:txBody>
      </p:sp>
      <p:pic>
        <p:nvPicPr>
          <p:cNvPr id="9" name="图片 9" descr="07fd7c0bcbd77110d7227ea3ac97a922"/>
          <p:cNvPicPr>
            <a:picLocks noChangeAspect="1"/>
          </p:cNvPicPr>
          <p:nvPr/>
        </p:nvPicPr>
        <p:blipFill>
          <a:blip r:embed="rId2"/>
          <a:stretch>
            <a:fillRect/>
          </a:stretch>
        </p:blipFill>
        <p:spPr>
          <a:xfrm>
            <a:off x="975678" y="1442403"/>
            <a:ext cx="5273675" cy="1778635"/>
          </a:xfrm>
          <a:prstGeom prst="rect">
            <a:avLst/>
          </a:prstGeom>
        </p:spPr>
      </p:pic>
      <p:sp>
        <p:nvSpPr>
          <p:cNvPr id="4" name="文本框 3"/>
          <p:cNvSpPr txBox="1"/>
          <p:nvPr/>
        </p:nvSpPr>
        <p:spPr>
          <a:xfrm>
            <a:off x="6761480" y="1074420"/>
            <a:ext cx="4064000" cy="368300"/>
          </a:xfrm>
          <a:prstGeom prst="rect">
            <a:avLst/>
          </a:prstGeom>
          <a:noFill/>
        </p:spPr>
        <p:txBody>
          <a:bodyPr wrap="square" rtlCol="0">
            <a:spAutoFit/>
          </a:bodyPr>
          <a:p>
            <a:r>
              <a:rPr lang="zh-CN" altLang="en-US">
                <a:solidFill>
                  <a:schemeClr val="accent6"/>
                </a:solidFill>
              </a:rPr>
              <a:t>光照</a:t>
            </a:r>
            <a:r>
              <a:rPr lang="zh-CN" altLang="en-US">
                <a:solidFill>
                  <a:schemeClr val="accent6"/>
                </a:solidFill>
              </a:rPr>
              <a:t>调整</a:t>
            </a:r>
            <a:endParaRPr lang="zh-CN" altLang="en-US">
              <a:solidFill>
                <a:schemeClr val="accent6"/>
              </a:solidFill>
            </a:endParaRPr>
          </a:p>
        </p:txBody>
      </p:sp>
      <p:pic>
        <p:nvPicPr>
          <p:cNvPr id="15" name="图片 7"/>
          <p:cNvPicPr>
            <a:picLocks noChangeAspect="1"/>
          </p:cNvPicPr>
          <p:nvPr/>
        </p:nvPicPr>
        <p:blipFill>
          <a:blip r:embed="rId3"/>
          <a:stretch>
            <a:fillRect/>
          </a:stretch>
        </p:blipFill>
        <p:spPr>
          <a:xfrm>
            <a:off x="975995" y="4430078"/>
            <a:ext cx="5274310" cy="1986915"/>
          </a:xfrm>
          <a:prstGeom prst="rect">
            <a:avLst/>
          </a:prstGeom>
          <a:noFill/>
          <a:ln>
            <a:noFill/>
          </a:ln>
        </p:spPr>
      </p:pic>
      <p:sp>
        <p:nvSpPr>
          <p:cNvPr id="6" name="文本框 5"/>
          <p:cNvSpPr txBox="1"/>
          <p:nvPr/>
        </p:nvSpPr>
        <p:spPr>
          <a:xfrm>
            <a:off x="1009015" y="4031615"/>
            <a:ext cx="4064000" cy="398780"/>
          </a:xfrm>
          <a:prstGeom prst="rect">
            <a:avLst/>
          </a:prstGeom>
          <a:noFill/>
        </p:spPr>
        <p:txBody>
          <a:bodyPr wrap="square" rtlCol="0">
            <a:spAutoFit/>
          </a:bodyPr>
          <a:p>
            <a:r>
              <a:rPr lang="zh-CN" altLang="en-US" sz="2000">
                <a:solidFill>
                  <a:schemeClr val="accent6"/>
                </a:solidFill>
              </a:rPr>
              <a:t>几何变换</a:t>
            </a:r>
            <a:endParaRPr lang="zh-CN" altLang="en-US" sz="2000">
              <a:solidFill>
                <a:schemeClr val="accent6"/>
              </a:solidFill>
            </a:endParaRPr>
          </a:p>
        </p:txBody>
      </p:sp>
      <p:pic>
        <p:nvPicPr>
          <p:cNvPr id="16" name="图片 8"/>
          <p:cNvPicPr>
            <a:picLocks noChangeAspect="1"/>
          </p:cNvPicPr>
          <p:nvPr/>
        </p:nvPicPr>
        <p:blipFill>
          <a:blip r:embed="rId4"/>
          <a:stretch>
            <a:fillRect/>
          </a:stretch>
        </p:blipFill>
        <p:spPr>
          <a:xfrm>
            <a:off x="6665913" y="1442403"/>
            <a:ext cx="5268595" cy="1589405"/>
          </a:xfrm>
          <a:prstGeom prst="rect">
            <a:avLst/>
          </a:prstGeom>
          <a:noFill/>
          <a:ln>
            <a:noFill/>
          </a:ln>
        </p:spPr>
      </p:pic>
      <p:sp>
        <p:nvSpPr>
          <p:cNvPr id="7" name="文本框 6"/>
          <p:cNvSpPr txBox="1"/>
          <p:nvPr/>
        </p:nvSpPr>
        <p:spPr>
          <a:xfrm>
            <a:off x="6901815" y="4130675"/>
            <a:ext cx="4064000" cy="368300"/>
          </a:xfrm>
          <a:prstGeom prst="rect">
            <a:avLst/>
          </a:prstGeom>
          <a:noFill/>
        </p:spPr>
        <p:txBody>
          <a:bodyPr wrap="square" rtlCol="0">
            <a:spAutoFit/>
          </a:bodyPr>
          <a:p>
            <a:r>
              <a:rPr lang="zh-CN" altLang="en-US">
                <a:solidFill>
                  <a:schemeClr val="accent6"/>
                </a:solidFill>
              </a:rPr>
              <a:t>完整</a:t>
            </a:r>
            <a:r>
              <a:rPr lang="zh-CN" altLang="en-US">
                <a:solidFill>
                  <a:schemeClr val="accent6"/>
                </a:solidFill>
              </a:rPr>
              <a:t>增强</a:t>
            </a:r>
            <a:endParaRPr lang="zh-CN" altLang="en-US">
              <a:solidFill>
                <a:schemeClr val="accent6"/>
              </a:solidFill>
            </a:endParaRPr>
          </a:p>
        </p:txBody>
      </p:sp>
      <p:pic>
        <p:nvPicPr>
          <p:cNvPr id="18" name="图片 10"/>
          <p:cNvPicPr>
            <a:picLocks noChangeAspect="1"/>
          </p:cNvPicPr>
          <p:nvPr/>
        </p:nvPicPr>
        <p:blipFill>
          <a:blip r:embed="rId5"/>
          <a:stretch>
            <a:fillRect/>
          </a:stretch>
        </p:blipFill>
        <p:spPr>
          <a:xfrm>
            <a:off x="6556375" y="4430395"/>
            <a:ext cx="5269230" cy="2057400"/>
          </a:xfrm>
          <a:prstGeom prst="rect">
            <a:avLst/>
          </a:prstGeom>
          <a:noFill/>
          <a:ln>
            <a:noFill/>
          </a:ln>
        </p:spPr>
      </p:pic>
      <p:sp>
        <p:nvSpPr>
          <p:cNvPr id="3" name="Shape 16"/>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8" name="文本框 7"/>
          <p:cNvSpPr txBox="1"/>
          <p:nvPr/>
        </p:nvSpPr>
        <p:spPr>
          <a:xfrm>
            <a:off x="1151890" y="403225"/>
            <a:ext cx="4064000" cy="706755"/>
          </a:xfrm>
          <a:prstGeom prst="rect">
            <a:avLst/>
          </a:prstGeom>
          <a:noFill/>
        </p:spPr>
        <p:txBody>
          <a:bodyPr wrap="square" rtlCol="0">
            <a:spAutoFit/>
          </a:bodyPr>
          <a:p>
            <a:pPr algn="ctr"/>
            <a:r>
              <a:rPr lang="en-US" altLang="zh-CN"/>
              <a:t>s</a:t>
            </a:r>
            <a:r>
              <a:rPr lang="zh-CN" altLang="en-US" sz="4000">
                <a:solidFill>
                  <a:schemeClr val="accent6"/>
                </a:solidFill>
              </a:rPr>
              <a:t>数据增强</a:t>
            </a:r>
            <a:r>
              <a:rPr lang="zh-CN" altLang="en-US" sz="4000">
                <a:solidFill>
                  <a:schemeClr val="accent6"/>
                </a:solidFill>
              </a:rPr>
              <a:t>代码</a:t>
            </a:r>
            <a:endParaRPr lang="zh-CN" altLang="en-US" sz="4000">
              <a:solidFill>
                <a:schemeClr val="accent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a:off x="4106545" y="1449705"/>
            <a:ext cx="7505700" cy="1700530"/>
          </a:xfrm>
          <a:prstGeom prst="roundRect">
            <a:avLst>
              <a:gd name="adj" fmla="val 4248"/>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3" name="Text 1"/>
          <p:cNvSpPr/>
          <p:nvPr/>
        </p:nvSpPr>
        <p:spPr>
          <a:xfrm>
            <a:off x="4106545" y="1449705"/>
            <a:ext cx="7505700" cy="1700530"/>
          </a:xfrm>
          <a:prstGeom prst="rect">
            <a:avLst/>
          </a:prstGeom>
          <a:noFill/>
        </p:spPr>
        <p:txBody>
          <a:bodyPr wrap="square" lIns="0" tIns="0" rIns="0" bIns="0" rtlCol="0" anchor="t"/>
          <a:lstStyle/>
          <a:p>
            <a:pPr marL="0" indent="0">
              <a:lnSpc>
                <a:spcPct val="100000"/>
              </a:lnSpc>
              <a:buNone/>
            </a:pPr>
            <a:endParaRPr lang="en-US" sz="1600" dirty="0"/>
          </a:p>
        </p:txBody>
      </p:sp>
      <p:sp>
        <p:nvSpPr>
          <p:cNvPr id="4" name="Text 2"/>
          <p:cNvSpPr/>
          <p:nvPr/>
        </p:nvSpPr>
        <p:spPr>
          <a:xfrm>
            <a:off x="4277995" y="1582420"/>
            <a:ext cx="6160135" cy="401955"/>
          </a:xfrm>
          <a:prstGeom prst="rect">
            <a:avLst/>
          </a:prstGeom>
          <a:noFill/>
        </p:spPr>
        <p:txBody>
          <a:bodyPr wrap="square" lIns="45720" tIns="45720" rIns="45720" bIns="45720" rtlCol="0" anchor="t"/>
          <a:lstStyle/>
          <a:p>
            <a:pPr marL="0" indent="0" algn="l">
              <a:lnSpc>
                <a:spcPct val="100000"/>
              </a:lnSpc>
              <a:buNone/>
            </a:pPr>
            <a:r>
              <a:rPr lang="en-US" sz="2000" dirty="0">
                <a:solidFill>
                  <a:srgbClr val="7EC9EB"/>
                </a:solidFill>
                <a:latin typeface="MiSans" pitchFamily="34" charset="-122"/>
                <a:ea typeface="MiSans" pitchFamily="34" charset="-122"/>
                <a:cs typeface="MiSans" pitchFamily="34" charset="-120"/>
              </a:rPr>
              <a:t>YOLOv8m模型</a:t>
            </a:r>
            <a:endParaRPr lang="en-US" sz="1600" dirty="0"/>
          </a:p>
        </p:txBody>
      </p:sp>
      <p:pic>
        <p:nvPicPr>
          <p:cNvPr id="5" name="Image 0" descr="https://kimi-img.moonshot.cn/pub/slides/slides_tmpl/image/25-05-30-16:22:10-d0smlck75iks2gau41gg.png"/>
          <p:cNvPicPr>
            <a:picLocks noChangeAspect="1"/>
          </p:cNvPicPr>
          <p:nvPr/>
        </p:nvPicPr>
        <p:blipFill>
          <a:blip r:embed="rId1"/>
          <a:srcRect l="30741" t="4671" r="31441"/>
          <a:stretch>
            <a:fillRect/>
          </a:stretch>
        </p:blipFill>
        <p:spPr>
          <a:xfrm>
            <a:off x="537845" y="1432560"/>
            <a:ext cx="3388360" cy="4804410"/>
          </a:xfrm>
          <a:prstGeom prst="rect">
            <a:avLst/>
          </a:prstGeom>
        </p:spPr>
      </p:pic>
      <p:sp>
        <p:nvSpPr>
          <p:cNvPr id="6" name="Text 3"/>
          <p:cNvSpPr/>
          <p:nvPr/>
        </p:nvSpPr>
        <p:spPr>
          <a:xfrm>
            <a:off x="4321810" y="2058670"/>
            <a:ext cx="7278370" cy="1259840"/>
          </a:xfrm>
          <a:prstGeom prst="rect">
            <a:avLst/>
          </a:prstGeom>
          <a:noFill/>
        </p:spPr>
        <p:txBody>
          <a:bodyPr wrap="square" lIns="45720" tIns="45720" rIns="45720" bIns="45720" rtlCol="0" anchor="t"/>
          <a:lstStyle/>
          <a:p>
            <a:pPr marL="0" indent="0" algn="just">
              <a:lnSpc>
                <a:spcPct val="130000"/>
              </a:lnSpc>
              <a:buNone/>
            </a:pPr>
            <a:r>
              <a:rPr lang="zh-CN" altLang="en-US" sz="1400" dirty="0">
                <a:solidFill>
                  <a:srgbClr val="FFFFFF"/>
                </a:solidFill>
                <a:latin typeface="MiSans" pitchFamily="34" charset="-122"/>
                <a:ea typeface="MiSans" pitchFamily="34" charset="-122"/>
                <a:cs typeface="MiSans" pitchFamily="34" charset="-120"/>
              </a:rPr>
              <a:t>使用</a:t>
            </a:r>
            <a:r>
              <a:rPr lang="en-US" altLang="zh-CN" sz="1400" dirty="0">
                <a:solidFill>
                  <a:srgbClr val="FFFFFF"/>
                </a:solidFill>
                <a:latin typeface="MiSans" pitchFamily="34" charset="-122"/>
                <a:ea typeface="MiSans" pitchFamily="34" charset="-122"/>
                <a:cs typeface="MiSans" pitchFamily="34" charset="-120"/>
              </a:rPr>
              <a:t> YOLOv8m </a:t>
            </a:r>
            <a:r>
              <a:rPr lang="zh-CN" altLang="en-US" sz="1400" dirty="0">
                <a:solidFill>
                  <a:srgbClr val="FFFFFF"/>
                </a:solidFill>
                <a:latin typeface="MiSans" pitchFamily="34" charset="-122"/>
                <a:ea typeface="MiSans" pitchFamily="34" charset="-122"/>
                <a:cs typeface="MiSans" pitchFamily="34" charset="-120"/>
              </a:rPr>
              <a:t>模型定位人脸区域，通过关键点检测（眼角、嘴角等</a:t>
            </a:r>
            <a:r>
              <a:rPr lang="en-US" altLang="zh-CN" sz="1400" dirty="0">
                <a:solidFill>
                  <a:srgbClr val="FFFFFF"/>
                </a:solidFill>
                <a:latin typeface="MiSans" pitchFamily="34" charset="-122"/>
                <a:ea typeface="MiSans" pitchFamily="34" charset="-122"/>
                <a:cs typeface="MiSans" pitchFamily="34" charset="-120"/>
              </a:rPr>
              <a:t> 68 </a:t>
            </a:r>
            <a:r>
              <a:rPr lang="zh-CN" altLang="en-US" sz="1400" dirty="0">
                <a:solidFill>
                  <a:srgbClr val="FFFFFF"/>
                </a:solidFill>
                <a:latin typeface="MiSans" pitchFamily="34" charset="-122"/>
                <a:ea typeface="MiSans" pitchFamily="34" charset="-122"/>
                <a:cs typeface="MiSans" pitchFamily="34" charset="-120"/>
              </a:rPr>
              <a:t>个地标点）进行人脸对齐，消除姿态变化对表情识别的影响。</a:t>
            </a:r>
            <a:endParaRPr lang="en-US" sz="1600" dirty="0"/>
          </a:p>
        </p:txBody>
      </p:sp>
      <p:sp>
        <p:nvSpPr>
          <p:cNvPr id="7" name="Shape 4"/>
          <p:cNvSpPr/>
          <p:nvPr>
            <p:custDataLst>
              <p:tags r:id="rId2"/>
            </p:custDataLst>
          </p:nvPr>
        </p:nvSpPr>
        <p:spPr>
          <a:xfrm>
            <a:off x="4189095" y="3265805"/>
            <a:ext cx="3619500" cy="2957195"/>
          </a:xfrm>
          <a:prstGeom prst="roundRect">
            <a:avLst>
              <a:gd name="adj" fmla="val 4248"/>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8" name="Text 5"/>
          <p:cNvSpPr/>
          <p:nvPr/>
        </p:nvSpPr>
        <p:spPr>
          <a:xfrm>
            <a:off x="4189095" y="3265805"/>
            <a:ext cx="3619500" cy="2957195"/>
          </a:xfrm>
          <a:prstGeom prst="rect">
            <a:avLst/>
          </a:prstGeom>
          <a:noFill/>
        </p:spPr>
        <p:txBody>
          <a:bodyPr wrap="square" lIns="0" tIns="0" rIns="0" bIns="0" rtlCol="0" anchor="t"/>
          <a:lstStyle/>
          <a:p>
            <a:pPr marL="0" indent="0">
              <a:lnSpc>
                <a:spcPct val="100000"/>
              </a:lnSpc>
              <a:buNone/>
            </a:pPr>
            <a:endParaRPr lang="en-US" sz="1600" dirty="0"/>
          </a:p>
        </p:txBody>
      </p:sp>
      <p:sp>
        <p:nvSpPr>
          <p:cNvPr id="9" name="Text 6"/>
          <p:cNvSpPr/>
          <p:nvPr>
            <p:custDataLst>
              <p:tags r:id="rId3"/>
            </p:custDataLst>
          </p:nvPr>
        </p:nvSpPr>
        <p:spPr>
          <a:xfrm>
            <a:off x="4390390" y="3369310"/>
            <a:ext cx="3218180" cy="767715"/>
          </a:xfrm>
          <a:prstGeom prst="rect">
            <a:avLst/>
          </a:prstGeom>
          <a:noFill/>
        </p:spPr>
        <p:txBody>
          <a:bodyPr wrap="square" lIns="45720" tIns="45720" rIns="45720" bIns="45720" rtlCol="0" anchor="ctr"/>
          <a:lstStyle/>
          <a:p>
            <a:pPr marL="0" indent="0" algn="l">
              <a:lnSpc>
                <a:spcPct val="100000"/>
              </a:lnSpc>
              <a:buNone/>
            </a:pPr>
            <a:r>
              <a:rPr lang="en-US" sz="1800" b="1" dirty="0">
                <a:solidFill>
                  <a:srgbClr val="7EC9EB"/>
                </a:solidFill>
                <a:latin typeface="MiSans" pitchFamily="34" charset="-122"/>
                <a:ea typeface="MiSans" pitchFamily="34" charset="-122"/>
                <a:cs typeface="MiSans" pitchFamily="34" charset="-120"/>
              </a:rPr>
              <a:t>关键点检测</a:t>
            </a:r>
            <a:endParaRPr lang="en-US" sz="1600" dirty="0"/>
          </a:p>
        </p:txBody>
      </p:sp>
      <p:sp>
        <p:nvSpPr>
          <p:cNvPr id="10" name="Text 7"/>
          <p:cNvSpPr/>
          <p:nvPr>
            <p:custDataLst>
              <p:tags r:id="rId4"/>
            </p:custDataLst>
          </p:nvPr>
        </p:nvSpPr>
        <p:spPr>
          <a:xfrm>
            <a:off x="4390390" y="3975100"/>
            <a:ext cx="3218180" cy="2540635"/>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通过关键点检测对齐人脸，消除姿态变化对表情识别的影响，提高识别精度。</a:t>
            </a:r>
            <a:endParaRPr lang="en-US" sz="1600" dirty="0"/>
          </a:p>
        </p:txBody>
      </p:sp>
      <p:sp>
        <p:nvSpPr>
          <p:cNvPr id="11" name="Shape 8"/>
          <p:cNvSpPr/>
          <p:nvPr>
            <p:custDataLst>
              <p:tags r:id="rId5"/>
            </p:custDataLst>
          </p:nvPr>
        </p:nvSpPr>
        <p:spPr>
          <a:xfrm>
            <a:off x="7992745" y="3265805"/>
            <a:ext cx="3619500" cy="2957195"/>
          </a:xfrm>
          <a:prstGeom prst="roundRect">
            <a:avLst>
              <a:gd name="adj" fmla="val 4248"/>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12" name="Text 9"/>
          <p:cNvSpPr/>
          <p:nvPr/>
        </p:nvSpPr>
        <p:spPr>
          <a:xfrm>
            <a:off x="7992745" y="3265805"/>
            <a:ext cx="3619500" cy="2957195"/>
          </a:xfrm>
          <a:prstGeom prst="rect">
            <a:avLst/>
          </a:prstGeom>
          <a:noFill/>
        </p:spPr>
        <p:txBody>
          <a:bodyPr wrap="square" lIns="0" tIns="0" rIns="0" bIns="0" rtlCol="0" anchor="t"/>
          <a:lstStyle/>
          <a:p>
            <a:pPr marL="0" indent="0">
              <a:lnSpc>
                <a:spcPct val="100000"/>
              </a:lnSpc>
              <a:buNone/>
            </a:pPr>
            <a:endParaRPr lang="en-US" sz="1600" dirty="0"/>
          </a:p>
        </p:txBody>
      </p:sp>
      <p:sp>
        <p:nvSpPr>
          <p:cNvPr id="13" name="Text 10"/>
          <p:cNvSpPr/>
          <p:nvPr>
            <p:custDataLst>
              <p:tags r:id="rId6"/>
            </p:custDataLst>
          </p:nvPr>
        </p:nvSpPr>
        <p:spPr>
          <a:xfrm>
            <a:off x="8194040" y="3369310"/>
            <a:ext cx="3218180" cy="767715"/>
          </a:xfrm>
          <a:prstGeom prst="rect">
            <a:avLst/>
          </a:prstGeom>
          <a:noFill/>
        </p:spPr>
        <p:txBody>
          <a:bodyPr wrap="square" lIns="45720" tIns="45720" rIns="45720" bIns="45720" rtlCol="0" anchor="ctr"/>
          <a:lstStyle/>
          <a:p>
            <a:pPr marL="0" indent="0" algn="l">
              <a:lnSpc>
                <a:spcPct val="100000"/>
              </a:lnSpc>
              <a:buNone/>
            </a:pPr>
            <a:r>
              <a:rPr lang="en-US" sz="1800" b="1" dirty="0">
                <a:solidFill>
                  <a:srgbClr val="7EC9EB"/>
                </a:solidFill>
                <a:latin typeface="MiSans" pitchFamily="34" charset="-122"/>
                <a:ea typeface="MiSans" pitchFamily="34" charset="-122"/>
                <a:cs typeface="MiSans" pitchFamily="34" charset="-120"/>
              </a:rPr>
              <a:t>对齐效果展示</a:t>
            </a:r>
            <a:endParaRPr lang="en-US" sz="1600" dirty="0"/>
          </a:p>
        </p:txBody>
      </p:sp>
      <p:sp>
        <p:nvSpPr>
          <p:cNvPr id="14" name="Text 11"/>
          <p:cNvSpPr/>
          <p:nvPr>
            <p:custDataLst>
              <p:tags r:id="rId7"/>
            </p:custDataLst>
          </p:nvPr>
        </p:nvSpPr>
        <p:spPr>
          <a:xfrm>
            <a:off x="8194040" y="3975100"/>
            <a:ext cx="3218180" cy="2540635"/>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展示对齐前后的人脸图像对比，体现对齐操作的有效性。</a:t>
            </a:r>
            <a:endParaRPr lang="en-US" sz="1600" dirty="0"/>
          </a:p>
        </p:txBody>
      </p:sp>
      <p:sp>
        <p:nvSpPr>
          <p:cNvPr id="15" name="Shape 12"/>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6" name="Text 13"/>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17" name="Text 14"/>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人脸检测与对齐</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a:off x="1919605" y="-5283835"/>
            <a:ext cx="8323580" cy="8323580"/>
          </a:xfrm>
          <a:prstGeom prst="ellipse">
            <a:avLst/>
          </a:prstGeom>
          <a:solidFill>
            <a:srgbClr val="FFFFFF">
              <a:alpha val="5098"/>
            </a:srgbClr>
          </a:solidFill>
        </p:spPr>
      </p:sp>
      <p:sp>
        <p:nvSpPr>
          <p:cNvPr id="3" name="Text 1"/>
          <p:cNvSpPr/>
          <p:nvPr/>
        </p:nvSpPr>
        <p:spPr>
          <a:xfrm>
            <a:off x="1919605" y="-5283835"/>
            <a:ext cx="8323580" cy="8323580"/>
          </a:xfrm>
          <a:prstGeom prst="rect">
            <a:avLst/>
          </a:prstGeom>
          <a:noFill/>
        </p:spPr>
        <p:txBody>
          <a:bodyPr wrap="square" lIns="0" tIns="0" rIns="0" bIns="0" rtlCol="0" anchor="t"/>
          <a:lstStyle/>
          <a:p>
            <a:pPr marL="0" indent="0">
              <a:lnSpc>
                <a:spcPct val="100000"/>
              </a:lnSpc>
              <a:buNone/>
            </a:pPr>
            <a:endParaRPr lang="en-US" sz="1600" dirty="0"/>
          </a:p>
        </p:txBody>
      </p:sp>
      <p:sp>
        <p:nvSpPr>
          <p:cNvPr id="4" name="Shape 2"/>
          <p:cNvSpPr/>
          <p:nvPr/>
        </p:nvSpPr>
        <p:spPr>
          <a:xfrm>
            <a:off x="-3264535" y="3461385"/>
            <a:ext cx="5857240" cy="5857240"/>
          </a:xfrm>
          <a:prstGeom prst="ellipse">
            <a:avLst/>
          </a:prstGeom>
          <a:solidFill>
            <a:srgbClr val="FFFFFF">
              <a:alpha val="10196"/>
            </a:srgbClr>
          </a:solidFill>
        </p:spPr>
      </p:sp>
      <p:sp>
        <p:nvSpPr>
          <p:cNvPr id="5" name="Text 3"/>
          <p:cNvSpPr/>
          <p:nvPr/>
        </p:nvSpPr>
        <p:spPr>
          <a:xfrm>
            <a:off x="-3264535" y="3461385"/>
            <a:ext cx="5857240" cy="5857240"/>
          </a:xfrm>
          <a:prstGeom prst="rect">
            <a:avLst/>
          </a:prstGeom>
          <a:noFill/>
        </p:spPr>
        <p:txBody>
          <a:bodyPr wrap="square" lIns="0" tIns="0" rIns="0" bIns="0" rtlCol="0" anchor="t"/>
          <a:lstStyle/>
          <a:p>
            <a:pPr marL="0" indent="0">
              <a:lnSpc>
                <a:spcPct val="100000"/>
              </a:lnSpc>
              <a:buNone/>
            </a:pPr>
            <a:endParaRPr lang="en-US" sz="1600" dirty="0"/>
          </a:p>
        </p:txBody>
      </p:sp>
      <p:sp>
        <p:nvSpPr>
          <p:cNvPr id="6" name="Shape 4"/>
          <p:cNvSpPr/>
          <p:nvPr/>
        </p:nvSpPr>
        <p:spPr>
          <a:xfrm>
            <a:off x="9224645" y="3373120"/>
            <a:ext cx="4029075" cy="4029075"/>
          </a:xfrm>
          <a:prstGeom prst="ellipse">
            <a:avLst/>
          </a:prstGeom>
          <a:solidFill>
            <a:srgbClr val="FFFFFF">
              <a:alpha val="10196"/>
            </a:srgbClr>
          </a:solidFill>
        </p:spPr>
      </p:sp>
      <p:sp>
        <p:nvSpPr>
          <p:cNvPr id="7" name="Text 5"/>
          <p:cNvSpPr/>
          <p:nvPr/>
        </p:nvSpPr>
        <p:spPr>
          <a:xfrm>
            <a:off x="9224645" y="3373120"/>
            <a:ext cx="4029075" cy="4029075"/>
          </a:xfrm>
          <a:prstGeom prst="rect">
            <a:avLst/>
          </a:prstGeom>
          <a:noFill/>
        </p:spPr>
        <p:txBody>
          <a:bodyPr wrap="square" lIns="0" tIns="0" rIns="0" bIns="0" rtlCol="0" anchor="t"/>
          <a:lstStyle/>
          <a:p>
            <a:pPr marL="0" indent="0">
              <a:lnSpc>
                <a:spcPct val="100000"/>
              </a:lnSpc>
              <a:buNone/>
            </a:pPr>
            <a:endParaRPr lang="en-US" sz="1600" dirty="0"/>
          </a:p>
        </p:txBody>
      </p:sp>
      <p:sp>
        <p:nvSpPr>
          <p:cNvPr id="8" name="Shape 6"/>
          <p:cNvSpPr/>
          <p:nvPr/>
        </p:nvSpPr>
        <p:spPr>
          <a:xfrm rot="16200000">
            <a:off x="7044690" y="425450"/>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9" name="Text 7"/>
          <p:cNvSpPr/>
          <p:nvPr/>
        </p:nvSpPr>
        <p:spPr>
          <a:xfrm rot="16200000">
            <a:off x="7044690" y="425450"/>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16200000">
            <a:off x="4777105" y="-3001645"/>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11" name="Text 9"/>
          <p:cNvSpPr/>
          <p:nvPr/>
        </p:nvSpPr>
        <p:spPr>
          <a:xfrm rot="16200000">
            <a:off x="4777105" y="-3001645"/>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rot="16200000">
            <a:off x="5709920" y="-1296035"/>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13" name="Text 11"/>
          <p:cNvSpPr/>
          <p:nvPr/>
        </p:nvSpPr>
        <p:spPr>
          <a:xfrm rot="16200000">
            <a:off x="5709920" y="-1296035"/>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751938" y="3559536"/>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5" name="Text 13"/>
          <p:cNvSpPr/>
          <p:nvPr/>
        </p:nvSpPr>
        <p:spPr>
          <a:xfrm>
            <a:off x="1751938" y="3559536"/>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784198" y="1904091"/>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7" name="Text 15"/>
          <p:cNvSpPr/>
          <p:nvPr/>
        </p:nvSpPr>
        <p:spPr>
          <a:xfrm>
            <a:off x="784198" y="1904091"/>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3071468" y="5338806"/>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9" name="Text 17"/>
          <p:cNvSpPr/>
          <p:nvPr/>
        </p:nvSpPr>
        <p:spPr>
          <a:xfrm>
            <a:off x="3071468" y="5338806"/>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784199" y="2075110"/>
            <a:ext cx="665094" cy="295787"/>
          </a:xfrm>
          <a:prstGeom prst="rect">
            <a:avLst/>
          </a:prstGeom>
          <a:solidFill>
            <a:srgbClr val="000000">
              <a:alpha val="0"/>
            </a:srgbClr>
          </a:solidFill>
        </p:spPr>
      </p:sp>
      <p:sp>
        <p:nvSpPr>
          <p:cNvPr id="21" name="Text 19"/>
          <p:cNvSpPr/>
          <p:nvPr/>
        </p:nvSpPr>
        <p:spPr>
          <a:xfrm>
            <a:off x="784199" y="2075110"/>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22" name="Shape 20"/>
          <p:cNvSpPr/>
          <p:nvPr/>
        </p:nvSpPr>
        <p:spPr>
          <a:xfrm>
            <a:off x="1725064" y="3730950"/>
            <a:ext cx="665094" cy="295787"/>
          </a:xfrm>
          <a:prstGeom prst="rect">
            <a:avLst/>
          </a:prstGeom>
          <a:solidFill>
            <a:srgbClr val="000000">
              <a:alpha val="0"/>
            </a:srgbClr>
          </a:solidFill>
        </p:spPr>
      </p:sp>
      <p:sp>
        <p:nvSpPr>
          <p:cNvPr id="23" name="Text 21"/>
          <p:cNvSpPr/>
          <p:nvPr/>
        </p:nvSpPr>
        <p:spPr>
          <a:xfrm>
            <a:off x="1725064" y="3730950"/>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4" name="Shape 22"/>
          <p:cNvSpPr/>
          <p:nvPr/>
        </p:nvSpPr>
        <p:spPr>
          <a:xfrm>
            <a:off x="3057900" y="5527017"/>
            <a:ext cx="665094" cy="295787"/>
          </a:xfrm>
          <a:prstGeom prst="rect">
            <a:avLst/>
          </a:prstGeom>
          <a:solidFill>
            <a:srgbClr val="000000">
              <a:alpha val="0"/>
            </a:srgbClr>
          </a:solidFill>
        </p:spPr>
      </p:sp>
      <p:sp>
        <p:nvSpPr>
          <p:cNvPr id="25" name="Text 23"/>
          <p:cNvSpPr/>
          <p:nvPr/>
        </p:nvSpPr>
        <p:spPr>
          <a:xfrm>
            <a:off x="3057900" y="5527017"/>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6" name="Text 24"/>
          <p:cNvSpPr/>
          <p:nvPr/>
        </p:nvSpPr>
        <p:spPr>
          <a:xfrm>
            <a:off x="1644650" y="148590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浅层特征提取</a:t>
            </a:r>
            <a:endParaRPr lang="en-US" sz="1600" dirty="0"/>
          </a:p>
        </p:txBody>
      </p:sp>
      <p:sp>
        <p:nvSpPr>
          <p:cNvPr id="27" name="Text 25"/>
          <p:cNvSpPr/>
          <p:nvPr/>
        </p:nvSpPr>
        <p:spPr>
          <a:xfrm>
            <a:off x="1644649" y="1840229"/>
            <a:ext cx="7555229"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利用AlexNet提取边缘、纹理等基础特征，为表情识别提供初步信息。</a:t>
            </a:r>
            <a:endParaRPr lang="en-US" sz="1600" dirty="0"/>
          </a:p>
        </p:txBody>
      </p:sp>
      <p:sp>
        <p:nvSpPr>
          <p:cNvPr id="28" name="Text 26"/>
          <p:cNvSpPr/>
          <p:nvPr/>
        </p:nvSpPr>
        <p:spPr>
          <a:xfrm>
            <a:off x="2529840" y="324993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深层特征提取</a:t>
            </a:r>
            <a:endParaRPr lang="en-US" sz="1600" dirty="0"/>
          </a:p>
        </p:txBody>
      </p:sp>
      <p:sp>
        <p:nvSpPr>
          <p:cNvPr id="29" name="Text 27"/>
          <p:cNvSpPr/>
          <p:nvPr/>
        </p:nvSpPr>
        <p:spPr>
          <a:xfrm>
            <a:off x="2529839" y="3604260"/>
            <a:ext cx="7555232" cy="574873"/>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使用ResNet-50提取抽象表情语义特征，VGG-16捕捉局部表情细节，融合后输入BP神经网络进行降维与分类。</a:t>
            </a:r>
            <a:endParaRPr lang="en-US" sz="1600" dirty="0"/>
          </a:p>
        </p:txBody>
      </p:sp>
      <p:sp>
        <p:nvSpPr>
          <p:cNvPr id="30" name="Text 28"/>
          <p:cNvSpPr/>
          <p:nvPr/>
        </p:nvSpPr>
        <p:spPr>
          <a:xfrm>
            <a:off x="4034790" y="495300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特征融合</a:t>
            </a:r>
            <a:endParaRPr lang="en-US" sz="1600" dirty="0"/>
          </a:p>
        </p:txBody>
      </p:sp>
      <p:sp>
        <p:nvSpPr>
          <p:cNvPr id="31" name="Text 29"/>
          <p:cNvSpPr/>
          <p:nvPr/>
        </p:nvSpPr>
        <p:spPr>
          <a:xfrm>
            <a:off x="4034789" y="5307330"/>
            <a:ext cx="7555231"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将不同模型提取的特征进行融合，充分发挥各模型优势，提升表情识别性能。</a:t>
            </a:r>
            <a:endParaRPr lang="en-US" sz="1600" dirty="0"/>
          </a:p>
        </p:txBody>
      </p:sp>
      <p:sp>
        <p:nvSpPr>
          <p:cNvPr id="32" name="Shape 30"/>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33" name="Text 31"/>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34" name="Text 32"/>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特征提取</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2:14-d0smldk75iks2gau41hg.png"/>
          <p:cNvPicPr>
            <a:picLocks noChangeAspect="1"/>
          </p:cNvPicPr>
          <p:nvPr/>
        </p:nvPicPr>
        <p:blipFill>
          <a:blip r:embed="rId1"/>
          <a:stretch>
            <a:fillRect/>
          </a:stretch>
        </p:blipFill>
        <p:spPr>
          <a:xfrm>
            <a:off x="552450" y="2012313"/>
            <a:ext cx="11103610" cy="561342"/>
          </a:xfrm>
          <a:prstGeom prst="rect">
            <a:avLst/>
          </a:prstGeom>
        </p:spPr>
      </p:pic>
      <p:sp>
        <p:nvSpPr>
          <p:cNvPr id="3" name="Shape 0"/>
          <p:cNvSpPr/>
          <p:nvPr/>
        </p:nvSpPr>
        <p:spPr>
          <a:xfrm>
            <a:off x="2004900" y="2159361"/>
            <a:ext cx="637961"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4" name="Text 1"/>
          <p:cNvSpPr/>
          <p:nvPr/>
        </p:nvSpPr>
        <p:spPr>
          <a:xfrm>
            <a:off x="2004900" y="2159361"/>
            <a:ext cx="637961"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1991333" y="2325940"/>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6" name="Shape 3"/>
          <p:cNvSpPr/>
          <p:nvPr/>
        </p:nvSpPr>
        <p:spPr>
          <a:xfrm>
            <a:off x="5772776" y="1692636"/>
            <a:ext cx="637540"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7" name="Text 4"/>
          <p:cNvSpPr/>
          <p:nvPr/>
        </p:nvSpPr>
        <p:spPr>
          <a:xfrm>
            <a:off x="5772776" y="1692636"/>
            <a:ext cx="637540"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5"/>
          <p:cNvSpPr/>
          <p:nvPr/>
        </p:nvSpPr>
        <p:spPr>
          <a:xfrm>
            <a:off x="5746298" y="1859215"/>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9" name="Shape 6"/>
          <p:cNvSpPr/>
          <p:nvPr/>
        </p:nvSpPr>
        <p:spPr>
          <a:xfrm>
            <a:off x="9540231" y="2241911"/>
            <a:ext cx="637540"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0" name="Text 7"/>
          <p:cNvSpPr/>
          <p:nvPr/>
        </p:nvSpPr>
        <p:spPr>
          <a:xfrm>
            <a:off x="9540231" y="2241911"/>
            <a:ext cx="637540"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9526244" y="2408490"/>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12" name="Text 9"/>
          <p:cNvSpPr/>
          <p:nvPr/>
        </p:nvSpPr>
        <p:spPr>
          <a:xfrm>
            <a:off x="659130" y="3448685"/>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划分比例</a:t>
            </a:r>
            <a:endParaRPr lang="en-US" sz="1600" dirty="0"/>
          </a:p>
        </p:txBody>
      </p:sp>
      <p:sp>
        <p:nvSpPr>
          <p:cNvPr id="13" name="Text 10"/>
          <p:cNvSpPr/>
          <p:nvPr/>
        </p:nvSpPr>
        <p:spPr>
          <a:xfrm>
            <a:off x="668971" y="3830955"/>
            <a:ext cx="3470913" cy="862409"/>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按8:2比例划分训练集和测试集，使用K折交叉验证评估模型泛化能力，确保数据均衡。</a:t>
            </a:r>
            <a:endParaRPr lang="en-US" sz="1600" dirty="0"/>
          </a:p>
        </p:txBody>
      </p:sp>
      <p:sp>
        <p:nvSpPr>
          <p:cNvPr id="14" name="Text 11"/>
          <p:cNvSpPr/>
          <p:nvPr/>
        </p:nvSpPr>
        <p:spPr>
          <a:xfrm>
            <a:off x="4408805" y="2708910"/>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划分代码</a:t>
            </a:r>
            <a:endParaRPr lang="en-US" sz="1600" dirty="0"/>
          </a:p>
        </p:txBody>
      </p:sp>
      <p:sp>
        <p:nvSpPr>
          <p:cNvPr id="15" name="Text 12"/>
          <p:cNvSpPr/>
          <p:nvPr/>
        </p:nvSpPr>
        <p:spPr>
          <a:xfrm>
            <a:off x="4452303" y="3091814"/>
            <a:ext cx="3403600" cy="574873"/>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展示数据集划分的具体代码实现，说明划分过程的严谨性。</a:t>
            </a:r>
            <a:endParaRPr lang="en-US" sz="1600" dirty="0"/>
          </a:p>
        </p:txBody>
      </p:sp>
      <p:sp>
        <p:nvSpPr>
          <p:cNvPr id="16" name="Text 13"/>
          <p:cNvSpPr/>
          <p:nvPr/>
        </p:nvSpPr>
        <p:spPr>
          <a:xfrm>
            <a:off x="8157687" y="3430270"/>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划分效果</a:t>
            </a:r>
            <a:endParaRPr lang="en-US" sz="1600" dirty="0"/>
          </a:p>
        </p:txBody>
      </p:sp>
      <p:sp>
        <p:nvSpPr>
          <p:cNvPr id="17" name="Text 14"/>
          <p:cNvSpPr/>
          <p:nvPr/>
        </p:nvSpPr>
        <p:spPr>
          <a:xfrm>
            <a:off x="8201184" y="3813176"/>
            <a:ext cx="3403600" cy="862409"/>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通过划分后的数据集进行模型训练和验证，确保模型在不同表情类别上的性能均衡。</a:t>
            </a:r>
            <a:endParaRPr lang="en-US" sz="1600" dirty="0"/>
          </a:p>
        </p:txBody>
      </p:sp>
      <p:sp>
        <p:nvSpPr>
          <p:cNvPr id="18" name="Shape 15"/>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9" name="Text 16"/>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20" name="Text 17"/>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数据集划分</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1-d0sml7s75iks2gau41ag.png"/>
          <p:cNvPicPr>
            <a:picLocks noChangeAspect="1"/>
          </p:cNvPicPr>
          <p:nvPr/>
        </p:nvPicPr>
        <p:blipFill>
          <a:blip r:embed="rId1"/>
          <a:srcRect l="8389" t="15000"/>
          <a:stretch>
            <a:fillRect/>
          </a:stretch>
        </p:blipFill>
        <p:spPr>
          <a:xfrm>
            <a:off x="0" y="0"/>
            <a:ext cx="12193200" cy="6856575"/>
          </a:xfrm>
          <a:prstGeom prst="rect">
            <a:avLst/>
          </a:prstGeom>
        </p:spPr>
      </p:pic>
      <p:sp>
        <p:nvSpPr>
          <p:cNvPr id="3" name="Shape 0"/>
          <p:cNvSpPr/>
          <p:nvPr/>
        </p:nvSpPr>
        <p:spPr>
          <a:xfrm>
            <a:off x="9768840" y="1196975"/>
            <a:ext cx="4304030" cy="4304030"/>
          </a:xfrm>
          <a:prstGeom prst="ellipse">
            <a:avLst/>
          </a:prstGeom>
          <a:solidFill>
            <a:srgbClr val="FFFFFF">
              <a:alpha val="5098"/>
            </a:srgbClr>
          </a:solidFill>
        </p:spPr>
      </p:sp>
      <p:sp>
        <p:nvSpPr>
          <p:cNvPr id="4" name="Text 1"/>
          <p:cNvSpPr/>
          <p:nvPr/>
        </p:nvSpPr>
        <p:spPr>
          <a:xfrm>
            <a:off x="9768840" y="1196975"/>
            <a:ext cx="4304030" cy="4304030"/>
          </a:xfrm>
          <a:prstGeom prst="rect">
            <a:avLst/>
          </a:prstGeom>
          <a:noFill/>
        </p:spPr>
        <p:txBody>
          <a:bodyPr wrap="square" lIns="0" tIns="0" rIns="0" bIns="0" rtlCol="0" anchor="t"/>
          <a:lstStyle/>
          <a:p>
            <a:pPr marL="0" indent="0">
              <a:lnSpc>
                <a:spcPct val="100000"/>
              </a:lnSpc>
              <a:buNone/>
            </a:pPr>
            <a:endParaRPr lang="en-US" sz="1600" dirty="0"/>
          </a:p>
        </p:txBody>
      </p:sp>
      <p:sp>
        <p:nvSpPr>
          <p:cNvPr id="5" name="Text 2"/>
          <p:cNvSpPr/>
          <p:nvPr/>
        </p:nvSpPr>
        <p:spPr>
          <a:xfrm>
            <a:off x="1459230" y="2247900"/>
            <a:ext cx="1612900" cy="1098550"/>
          </a:xfrm>
          <a:prstGeom prst="rect">
            <a:avLst/>
          </a:prstGeom>
          <a:noFill/>
        </p:spPr>
        <p:txBody>
          <a:bodyPr wrap="square" lIns="0" tIns="0" rIns="0" bIns="0" rtlCol="0" anchor="t"/>
          <a:lstStyle/>
          <a:p>
            <a:pPr marL="0" indent="0" algn="l">
              <a:lnSpc>
                <a:spcPct val="100000"/>
              </a:lnSpc>
              <a:buNone/>
            </a:pPr>
            <a:r>
              <a:rPr lang="en-US" sz="8000" dirty="0">
                <a:solidFill>
                  <a:srgbClr val="218EC1"/>
                </a:solidFill>
                <a:latin typeface="MiSans" pitchFamily="34" charset="-122"/>
                <a:ea typeface="MiSans" pitchFamily="34" charset="-122"/>
                <a:cs typeface="MiSans" pitchFamily="34" charset="-120"/>
              </a:rPr>
              <a:t>03</a:t>
            </a:r>
            <a:endParaRPr lang="en-US" sz="1600" dirty="0"/>
          </a:p>
        </p:txBody>
      </p:sp>
      <p:sp>
        <p:nvSpPr>
          <p:cNvPr id="6" name="Text 3"/>
          <p:cNvSpPr/>
          <p:nvPr/>
        </p:nvSpPr>
        <p:spPr>
          <a:xfrm>
            <a:off x="1440180" y="3517900"/>
            <a:ext cx="5314315" cy="1183640"/>
          </a:xfrm>
          <a:prstGeom prst="rect">
            <a:avLst/>
          </a:prstGeom>
          <a:noFill/>
        </p:spPr>
        <p:txBody>
          <a:bodyPr wrap="square" lIns="0" tIns="0" rIns="0" bIns="0" rtlCol="0" anchor="t"/>
          <a:lstStyle/>
          <a:p>
            <a:pPr marL="0" indent="0" algn="l">
              <a:lnSpc>
                <a:spcPct val="100000"/>
              </a:lnSpc>
              <a:buNone/>
            </a:pPr>
            <a:r>
              <a:rPr lang="en-US" sz="4400" dirty="0">
                <a:solidFill>
                  <a:srgbClr val="FFFFFF"/>
                </a:solidFill>
                <a:latin typeface="MiSans" pitchFamily="34" charset="-122"/>
                <a:ea typeface="MiSans" pitchFamily="34" charset="-122"/>
                <a:cs typeface="MiSans" pitchFamily="34" charset="-120"/>
              </a:rPr>
              <a:t>算法设计</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5-d0sml8s75iks2gau41c0.png"/>
          <p:cNvPicPr>
            <a:picLocks noChangeAspect="1"/>
          </p:cNvPicPr>
          <p:nvPr/>
        </p:nvPicPr>
        <p:blipFill>
          <a:blip r:embed="rId1"/>
          <a:stretch>
            <a:fillRect/>
          </a:stretch>
        </p:blipFill>
        <p:spPr>
          <a:xfrm>
            <a:off x="724534" y="1371600"/>
            <a:ext cx="76202" cy="2342515"/>
          </a:xfrm>
          <a:prstGeom prst="rect">
            <a:avLst/>
          </a:prstGeom>
        </p:spPr>
      </p:pic>
      <p:sp>
        <p:nvSpPr>
          <p:cNvPr id="3" name="Shape 0"/>
          <p:cNvSpPr/>
          <p:nvPr/>
        </p:nvSpPr>
        <p:spPr>
          <a:xfrm>
            <a:off x="-236925" y="3711575"/>
            <a:ext cx="12588560" cy="318"/>
          </a:xfrm>
          <a:prstGeom prst="line">
            <a:avLst/>
          </a:prstGeom>
          <a:noFill/>
          <a:ln w="12700">
            <a:solidFill>
              <a:srgbClr val="FFFFFF"/>
            </a:solidFill>
            <a:prstDash val="solid"/>
            <a:headEnd type="none"/>
            <a:tailEnd type="none"/>
          </a:ln>
        </p:spPr>
      </p:sp>
      <p:pic>
        <p:nvPicPr>
          <p:cNvPr id="4" name="Image 1" descr="https://kimi-img.moonshot.cn/pub/slides/slides_tmpl/image/25-05-30-16:21:55-d0sml8s75iks2gau41c0.png"/>
          <p:cNvPicPr>
            <a:picLocks noChangeAspect="1"/>
          </p:cNvPicPr>
          <p:nvPr/>
        </p:nvPicPr>
        <p:blipFill>
          <a:blip r:embed="rId1"/>
          <a:stretch>
            <a:fillRect/>
          </a:stretch>
        </p:blipFill>
        <p:spPr>
          <a:xfrm>
            <a:off x="6380479" y="1377950"/>
            <a:ext cx="76202" cy="2342515"/>
          </a:xfrm>
          <a:prstGeom prst="rect">
            <a:avLst/>
          </a:prstGeom>
        </p:spPr>
      </p:pic>
      <p:pic>
        <p:nvPicPr>
          <p:cNvPr id="5" name="Image 2" descr="https://kimi-img.moonshot.cn/pub/slides/slides_tmpl/image/25-05-30-16:21:55-d0sml8s75iks2gau41c0.png"/>
          <p:cNvPicPr>
            <a:picLocks noChangeAspect="1"/>
          </p:cNvPicPr>
          <p:nvPr/>
        </p:nvPicPr>
        <p:blipFill>
          <a:blip r:embed="rId1"/>
          <a:stretch>
            <a:fillRect/>
          </a:stretch>
        </p:blipFill>
        <p:spPr>
          <a:xfrm>
            <a:off x="1158238" y="3750310"/>
            <a:ext cx="76202" cy="2342515"/>
          </a:xfrm>
          <a:prstGeom prst="rect">
            <a:avLst/>
          </a:prstGeom>
        </p:spPr>
      </p:pic>
      <p:pic>
        <p:nvPicPr>
          <p:cNvPr id="6" name="Image 3" descr="https://kimi-img.moonshot.cn/pub/slides/slides_tmpl/image/25-05-30-16:21:55-d0sml8s75iks2gau41c0.png"/>
          <p:cNvPicPr>
            <a:picLocks noChangeAspect="1"/>
          </p:cNvPicPr>
          <p:nvPr/>
        </p:nvPicPr>
        <p:blipFill>
          <a:blip r:embed="rId1"/>
          <a:stretch>
            <a:fillRect/>
          </a:stretch>
        </p:blipFill>
        <p:spPr>
          <a:xfrm>
            <a:off x="6887209" y="3750310"/>
            <a:ext cx="76202" cy="2342515"/>
          </a:xfrm>
          <a:prstGeom prst="rect">
            <a:avLst/>
          </a:prstGeom>
        </p:spPr>
      </p:pic>
      <p:sp>
        <p:nvSpPr>
          <p:cNvPr id="7" name="Text 1"/>
          <p:cNvSpPr/>
          <p:nvPr/>
        </p:nvSpPr>
        <p:spPr>
          <a:xfrm>
            <a:off x="983615" y="1395095"/>
            <a:ext cx="4536440" cy="797560"/>
          </a:xfrm>
          <a:prstGeom prst="rect">
            <a:avLst/>
          </a:prstGeom>
          <a:noFill/>
        </p:spPr>
        <p:txBody>
          <a:bodyPr wrap="square" lIns="0" tIns="0" rIns="0" bIns="0" rtlCol="0" anchor="t"/>
          <a:lstStyle/>
          <a:p>
            <a:pPr marL="0" indent="0" algn="l">
              <a:lnSpc>
                <a:spcPct val="100000"/>
              </a:lnSpc>
              <a:buNone/>
            </a:pPr>
            <a:r>
              <a:rPr lang="en-US" sz="2400" dirty="0">
                <a:solidFill>
                  <a:srgbClr val="FFFFFF"/>
                </a:solidFill>
                <a:latin typeface="MiSans" pitchFamily="34" charset="-122"/>
                <a:ea typeface="MiSans" pitchFamily="34" charset="-122"/>
                <a:cs typeface="MiSans" pitchFamily="34" charset="-120"/>
              </a:rPr>
              <a:t>网络结构优化</a:t>
            </a:r>
            <a:endParaRPr lang="en-US" sz="1600" dirty="0"/>
          </a:p>
        </p:txBody>
      </p:sp>
      <p:sp>
        <p:nvSpPr>
          <p:cNvPr id="8" name="Text 2"/>
          <p:cNvSpPr/>
          <p:nvPr/>
        </p:nvSpPr>
        <p:spPr>
          <a:xfrm>
            <a:off x="983544" y="1809748"/>
            <a:ext cx="3838578" cy="862409"/>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介绍YOLOv8m模型的核心架构、特征融合方式和检测头定制，突出其在人脸表情检测中的优势。</a:t>
            </a:r>
            <a:endParaRPr lang="en-US" sz="1600" dirty="0"/>
          </a:p>
        </p:txBody>
      </p:sp>
      <p:sp>
        <p:nvSpPr>
          <p:cNvPr id="9" name="Text 3"/>
          <p:cNvSpPr/>
          <p:nvPr/>
        </p:nvSpPr>
        <p:spPr>
          <a:xfrm>
            <a:off x="6639560" y="1395095"/>
            <a:ext cx="4536440" cy="797560"/>
          </a:xfrm>
          <a:prstGeom prst="rect">
            <a:avLst/>
          </a:prstGeom>
          <a:noFill/>
        </p:spPr>
        <p:txBody>
          <a:bodyPr wrap="square" lIns="0" tIns="0" rIns="0" bIns="0" rtlCol="0" anchor="t"/>
          <a:lstStyle/>
          <a:p>
            <a:pPr marL="0" indent="0" algn="l">
              <a:lnSpc>
                <a:spcPct val="100000"/>
              </a:lnSpc>
              <a:buNone/>
            </a:pPr>
            <a:r>
              <a:rPr lang="en-US" sz="2400" dirty="0">
                <a:solidFill>
                  <a:srgbClr val="FFFFFF"/>
                </a:solidFill>
                <a:latin typeface="MiSans" pitchFamily="34" charset="-122"/>
                <a:ea typeface="MiSans" pitchFamily="34" charset="-122"/>
                <a:cs typeface="MiSans" pitchFamily="34" charset="-120"/>
              </a:rPr>
              <a:t>性能指标</a:t>
            </a:r>
            <a:endParaRPr lang="en-US" sz="1600" dirty="0"/>
          </a:p>
        </p:txBody>
      </p:sp>
      <p:sp>
        <p:nvSpPr>
          <p:cNvPr id="10" name="Text 4"/>
          <p:cNvSpPr/>
          <p:nvPr/>
        </p:nvSpPr>
        <p:spPr>
          <a:xfrm>
            <a:off x="6639490" y="1809749"/>
            <a:ext cx="3838575" cy="862409"/>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展示YOLOv8m模型在人脸检测和表情分类任务中的性能指标，如mAP、推理速度、模型大小等。</a:t>
            </a:r>
            <a:endParaRPr lang="en-US" sz="1600" dirty="0"/>
          </a:p>
        </p:txBody>
      </p:sp>
      <p:sp>
        <p:nvSpPr>
          <p:cNvPr id="11" name="Text 5"/>
          <p:cNvSpPr/>
          <p:nvPr/>
        </p:nvSpPr>
        <p:spPr>
          <a:xfrm>
            <a:off x="1417320" y="4007485"/>
            <a:ext cx="4536440" cy="797560"/>
          </a:xfrm>
          <a:prstGeom prst="rect">
            <a:avLst/>
          </a:prstGeom>
          <a:noFill/>
        </p:spPr>
        <p:txBody>
          <a:bodyPr wrap="square" lIns="0" tIns="0" rIns="0" bIns="0" rtlCol="0" anchor="t"/>
          <a:lstStyle/>
          <a:p>
            <a:pPr marL="0" indent="0" algn="l">
              <a:lnSpc>
                <a:spcPct val="100000"/>
              </a:lnSpc>
              <a:buNone/>
            </a:pPr>
            <a:r>
              <a:rPr lang="en-US" sz="2400" dirty="0">
                <a:solidFill>
                  <a:srgbClr val="FFFFFF"/>
                </a:solidFill>
                <a:latin typeface="MiSans" pitchFamily="34" charset="-122"/>
                <a:ea typeface="MiSans" pitchFamily="34" charset="-122"/>
                <a:cs typeface="MiSans" pitchFamily="34" charset="-120"/>
              </a:rPr>
              <a:t>关键训练控制</a:t>
            </a:r>
            <a:endParaRPr lang="en-US" sz="1600" dirty="0"/>
          </a:p>
        </p:txBody>
      </p:sp>
      <p:sp>
        <p:nvSpPr>
          <p:cNvPr id="12" name="Text 6"/>
          <p:cNvSpPr/>
          <p:nvPr/>
        </p:nvSpPr>
        <p:spPr>
          <a:xfrm>
            <a:off x="1417249" y="4447540"/>
            <a:ext cx="3838578" cy="574873"/>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说明动态增强策略、类别平衡方法和精度保障措施，如自动混合精度训练、早停机制等。</a:t>
            </a:r>
            <a:endParaRPr lang="en-US" sz="1600" dirty="0"/>
          </a:p>
        </p:txBody>
      </p:sp>
      <p:sp>
        <p:nvSpPr>
          <p:cNvPr id="13" name="Text 7"/>
          <p:cNvSpPr/>
          <p:nvPr/>
        </p:nvSpPr>
        <p:spPr>
          <a:xfrm>
            <a:off x="7146290" y="4007485"/>
            <a:ext cx="4536440" cy="797560"/>
          </a:xfrm>
          <a:prstGeom prst="rect">
            <a:avLst/>
          </a:prstGeom>
          <a:noFill/>
        </p:spPr>
        <p:txBody>
          <a:bodyPr wrap="square" lIns="0" tIns="0" rIns="0" bIns="0" rtlCol="0" anchor="t"/>
          <a:lstStyle/>
          <a:p>
            <a:pPr marL="0" indent="0" algn="l">
              <a:lnSpc>
                <a:spcPct val="100000"/>
              </a:lnSpc>
              <a:buNone/>
            </a:pPr>
            <a:r>
              <a:rPr lang="en-US" sz="2400" dirty="0">
                <a:solidFill>
                  <a:srgbClr val="FFFFFF"/>
                </a:solidFill>
                <a:latin typeface="MiSans" pitchFamily="34" charset="-122"/>
                <a:ea typeface="MiSans" pitchFamily="34" charset="-122"/>
                <a:cs typeface="MiSans" pitchFamily="34" charset="-120"/>
              </a:rPr>
              <a:t>实验结果分析</a:t>
            </a:r>
            <a:endParaRPr lang="en-US" sz="1600" dirty="0"/>
          </a:p>
        </p:txBody>
      </p:sp>
      <p:sp>
        <p:nvSpPr>
          <p:cNvPr id="14" name="Text 8"/>
          <p:cNvSpPr/>
          <p:nvPr/>
        </p:nvSpPr>
        <p:spPr>
          <a:xfrm>
            <a:off x="7146221" y="4447540"/>
            <a:ext cx="3838577" cy="862409"/>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分析训练过程中的损失变化、置信度阈值对性能的影响，以及不同表情类别的预测结果和错误模式。</a:t>
            </a:r>
            <a:endParaRPr lang="en-US" sz="1600" dirty="0"/>
          </a:p>
        </p:txBody>
      </p:sp>
      <p:sp>
        <p:nvSpPr>
          <p:cNvPr id="15" name="Shape 9"/>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6" name="Text 10"/>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17" name="Text 11"/>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YOLOv8m表情检测模型</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789940" y="619125"/>
            <a:ext cx="4064000" cy="2399665"/>
          </a:xfrm>
          <a:prstGeom prst="rect">
            <a:avLst/>
          </a:prstGeom>
          <a:noFill/>
        </p:spPr>
        <p:txBody>
          <a:bodyPr wrap="square" rtlCol="0">
            <a:spAutoFit/>
          </a:bodyPr>
          <a:p>
            <a:r>
              <a:rPr lang="zh-CN" altLang="en-US" sz="2400">
                <a:solidFill>
                  <a:schemeClr val="accent6"/>
                </a:solidFill>
              </a:rPr>
              <a:t>网络结构优化：</a:t>
            </a:r>
            <a:endParaRPr lang="zh-CN" altLang="en-US" sz="2400">
              <a:solidFill>
                <a:schemeClr val="accent6"/>
              </a:solidFill>
            </a:endParaRPr>
          </a:p>
          <a:p>
            <a:r>
              <a:rPr lang="en-US" altLang="zh-CN" sz="1400">
                <a:solidFill>
                  <a:schemeClr val="bg1"/>
                </a:solidFill>
              </a:rPr>
              <a:t>-</a:t>
            </a:r>
            <a:r>
              <a:rPr lang="zh-CN" altLang="en-US" sz="1400">
                <a:solidFill>
                  <a:schemeClr val="bg1"/>
                </a:solidFill>
              </a:rPr>
              <a:t>核心架构：基于</a:t>
            </a:r>
            <a:r>
              <a:rPr lang="en-US" altLang="zh-CN" sz="1400">
                <a:solidFill>
                  <a:schemeClr val="bg1"/>
                </a:solidFill>
              </a:rPr>
              <a:t>YOLOv8m</a:t>
            </a:r>
            <a:r>
              <a:rPr lang="zh-CN" altLang="en-US" sz="1400">
                <a:solidFill>
                  <a:schemeClr val="bg1"/>
                </a:solidFill>
              </a:rPr>
              <a:t>的</a:t>
            </a:r>
            <a:r>
              <a:rPr lang="en-US" altLang="zh-CN" sz="1400">
                <a:solidFill>
                  <a:schemeClr val="bg1"/>
                </a:solidFill>
              </a:rPr>
              <a:t>anchor-free</a:t>
            </a:r>
            <a:r>
              <a:rPr lang="zh-CN" altLang="en-US" sz="1400">
                <a:solidFill>
                  <a:schemeClr val="bg1"/>
                </a:solidFill>
              </a:rPr>
              <a:t>检测框架，保留</a:t>
            </a:r>
            <a:r>
              <a:rPr lang="en-US" altLang="zh-CN" sz="1400">
                <a:solidFill>
                  <a:schemeClr val="bg1"/>
                </a:solidFill>
              </a:rPr>
              <a:t>C2f</a:t>
            </a:r>
            <a:r>
              <a:rPr lang="zh-CN" altLang="en-US" sz="1400">
                <a:solidFill>
                  <a:schemeClr val="bg1"/>
                </a:solidFill>
              </a:rPr>
              <a:t>骨干网络的高效特征提取能力</a:t>
            </a:r>
            <a:endParaRPr lang="zh-CN" altLang="en-US" sz="1400">
              <a:solidFill>
                <a:schemeClr val="bg1"/>
              </a:solidFill>
            </a:endParaRPr>
          </a:p>
          <a:p>
            <a:r>
              <a:rPr lang="en-US" altLang="zh-CN" sz="1400">
                <a:solidFill>
                  <a:schemeClr val="bg1"/>
                </a:solidFill>
              </a:rPr>
              <a:t>-</a:t>
            </a:r>
            <a:r>
              <a:rPr lang="zh-CN" altLang="en-US" sz="1400">
                <a:solidFill>
                  <a:schemeClr val="bg1"/>
                </a:solidFill>
              </a:rPr>
              <a:t>特征融合：采用</a:t>
            </a:r>
            <a:r>
              <a:rPr lang="en-US" altLang="zh-CN" sz="1400">
                <a:solidFill>
                  <a:schemeClr val="bg1"/>
                </a:solidFill>
              </a:rPr>
              <a:t>PAN</a:t>
            </a:r>
            <a:r>
              <a:rPr lang="zh-CN" altLang="en-US" sz="1400">
                <a:solidFill>
                  <a:schemeClr val="bg1"/>
                </a:solidFill>
              </a:rPr>
              <a:t>（</a:t>
            </a:r>
            <a:r>
              <a:rPr lang="en-US" altLang="zh-CN" sz="1400">
                <a:solidFill>
                  <a:schemeClr val="bg1"/>
                </a:solidFill>
              </a:rPr>
              <a:t>Path Aggregation Network</a:t>
            </a:r>
            <a:r>
              <a:rPr lang="zh-CN" altLang="en-US" sz="1400">
                <a:solidFill>
                  <a:schemeClr val="bg1"/>
                </a:solidFill>
              </a:rPr>
              <a:t>）颈部结构，增强多尺度表情特征融合</a:t>
            </a:r>
            <a:endParaRPr lang="zh-CN" altLang="en-US" sz="1400">
              <a:solidFill>
                <a:schemeClr val="bg1"/>
              </a:solidFill>
            </a:endParaRPr>
          </a:p>
          <a:p>
            <a:r>
              <a:rPr lang="en-US" altLang="zh-CN" sz="1400">
                <a:solidFill>
                  <a:schemeClr val="bg1"/>
                </a:solidFill>
              </a:rPr>
              <a:t>-</a:t>
            </a:r>
            <a:r>
              <a:rPr lang="zh-CN" altLang="en-US" sz="1400">
                <a:solidFill>
                  <a:schemeClr val="bg1"/>
                </a:solidFill>
              </a:rPr>
              <a:t>检测头定制：</a:t>
            </a:r>
            <a:endParaRPr lang="zh-CN" altLang="en-US" sz="1400">
              <a:solidFill>
                <a:schemeClr val="bg1"/>
              </a:solidFill>
            </a:endParaRPr>
          </a:p>
          <a:p>
            <a:r>
              <a:rPr lang="en-US" altLang="zh-CN" sz="1400">
                <a:solidFill>
                  <a:schemeClr val="bg1"/>
                </a:solidFill>
              </a:rPr>
              <a:t>1.</a:t>
            </a:r>
            <a:r>
              <a:rPr lang="zh-CN" altLang="en-US" sz="1400">
                <a:solidFill>
                  <a:schemeClr val="bg1"/>
                </a:solidFill>
              </a:rPr>
              <a:t>调整回归分支参数（</a:t>
            </a:r>
            <a:r>
              <a:rPr lang="en-US" altLang="zh-CN" sz="1400">
                <a:solidFill>
                  <a:schemeClr val="bg1"/>
                </a:solidFill>
              </a:rPr>
              <a:t>reg_max=16</a:t>
            </a:r>
            <a:r>
              <a:rPr lang="zh-CN" altLang="en-US" sz="1400">
                <a:solidFill>
                  <a:schemeClr val="bg1"/>
                </a:solidFill>
              </a:rPr>
              <a:t>）优化人脸边界框预测</a:t>
            </a:r>
            <a:endParaRPr lang="zh-CN" altLang="en-US" sz="1400">
              <a:solidFill>
                <a:schemeClr val="bg1"/>
              </a:solidFill>
            </a:endParaRPr>
          </a:p>
          <a:p>
            <a:r>
              <a:rPr lang="en-US" altLang="zh-CN" sz="1400">
                <a:solidFill>
                  <a:schemeClr val="bg1"/>
                </a:solidFill>
              </a:rPr>
              <a:t>2.</a:t>
            </a:r>
            <a:r>
              <a:rPr lang="zh-CN" altLang="en-US" sz="1400">
                <a:solidFill>
                  <a:schemeClr val="bg1"/>
                </a:solidFill>
              </a:rPr>
              <a:t>分类头使用深度可分离卷积降低计算量</a:t>
            </a:r>
            <a:endParaRPr lang="zh-CN" altLang="en-US" sz="1400">
              <a:solidFill>
                <a:schemeClr val="bg1"/>
              </a:solidFill>
            </a:endParaRPr>
          </a:p>
          <a:p>
            <a:r>
              <a:rPr lang="en-US" altLang="zh-CN" sz="1400">
                <a:solidFill>
                  <a:schemeClr val="bg1"/>
                </a:solidFill>
              </a:rPr>
              <a:t>3.</a:t>
            </a:r>
            <a:r>
              <a:rPr lang="zh-CN" altLang="en-US" sz="1400">
                <a:solidFill>
                  <a:schemeClr val="bg1"/>
                </a:solidFill>
              </a:rPr>
              <a:t>输出层通道数适配</a:t>
            </a:r>
            <a:r>
              <a:rPr lang="en-US" altLang="zh-CN" sz="1400">
                <a:solidFill>
                  <a:schemeClr val="bg1"/>
                </a:solidFill>
              </a:rPr>
              <a:t>7</a:t>
            </a:r>
            <a:r>
              <a:rPr lang="zh-CN" altLang="en-US" sz="1400">
                <a:solidFill>
                  <a:schemeClr val="bg1"/>
                </a:solidFill>
              </a:rPr>
              <a:t>种基本表情类别</a:t>
            </a:r>
            <a:endParaRPr lang="zh-CN" altLang="en-US" sz="1400">
              <a:solidFill>
                <a:schemeClr val="bg1"/>
              </a:solidFill>
            </a:endParaRPr>
          </a:p>
        </p:txBody>
      </p:sp>
      <p:sp>
        <p:nvSpPr>
          <p:cNvPr id="3" name="文本框 2"/>
          <p:cNvSpPr txBox="1"/>
          <p:nvPr/>
        </p:nvSpPr>
        <p:spPr>
          <a:xfrm>
            <a:off x="6781165" y="619125"/>
            <a:ext cx="4064000" cy="1198880"/>
          </a:xfrm>
          <a:prstGeom prst="rect">
            <a:avLst/>
          </a:prstGeom>
          <a:noFill/>
        </p:spPr>
        <p:txBody>
          <a:bodyPr wrap="square" rtlCol="0">
            <a:spAutoFit/>
          </a:bodyPr>
          <a:p>
            <a:r>
              <a:rPr lang="zh-CN" altLang="en-US" sz="2400">
                <a:solidFill>
                  <a:schemeClr val="accent6"/>
                </a:solidFill>
              </a:rPr>
              <a:t>性能指标</a:t>
            </a:r>
            <a:r>
              <a:rPr lang="zh-CN" altLang="en-US" sz="2000">
                <a:solidFill>
                  <a:schemeClr val="accent6"/>
                </a:solidFill>
              </a:rPr>
              <a:t>：</a:t>
            </a:r>
            <a:endParaRPr lang="zh-CN" altLang="en-US" sz="2000">
              <a:solidFill>
                <a:schemeClr val="accent6"/>
              </a:solidFill>
            </a:endParaRPr>
          </a:p>
          <a:p>
            <a:r>
              <a:rPr lang="en-US" altLang="zh-CN" sz="1400">
                <a:solidFill>
                  <a:schemeClr val="bg1"/>
                </a:solidFill>
              </a:rPr>
              <a:t>-</a:t>
            </a:r>
            <a:r>
              <a:rPr lang="zh-CN" altLang="en-US" sz="1400">
                <a:solidFill>
                  <a:schemeClr val="bg1"/>
                </a:solidFill>
              </a:rPr>
              <a:t>人脸检测：</a:t>
            </a:r>
            <a:r>
              <a:rPr lang="en-US" altLang="zh-CN" sz="1400">
                <a:solidFill>
                  <a:schemeClr val="bg1"/>
                </a:solidFill>
              </a:rPr>
              <a:t>mAP@0.5=98.7%</a:t>
            </a:r>
            <a:r>
              <a:rPr lang="zh-CN" altLang="en-US" sz="1400">
                <a:solidFill>
                  <a:schemeClr val="bg1"/>
                </a:solidFill>
              </a:rPr>
              <a:t>（</a:t>
            </a:r>
            <a:r>
              <a:rPr lang="en-US" altLang="zh-CN" sz="1400">
                <a:solidFill>
                  <a:schemeClr val="bg1"/>
                </a:solidFill>
              </a:rPr>
              <a:t>WIDER Face</a:t>
            </a:r>
            <a:r>
              <a:rPr lang="zh-CN" altLang="en-US" sz="1400">
                <a:solidFill>
                  <a:schemeClr val="bg1"/>
                </a:solidFill>
              </a:rPr>
              <a:t>验证集）</a:t>
            </a:r>
            <a:endParaRPr lang="zh-CN" altLang="en-US" sz="1400">
              <a:solidFill>
                <a:schemeClr val="bg1"/>
              </a:solidFill>
            </a:endParaRPr>
          </a:p>
          <a:p>
            <a:r>
              <a:rPr lang="en-US" altLang="zh-CN" sz="1400">
                <a:solidFill>
                  <a:schemeClr val="bg1"/>
                </a:solidFill>
              </a:rPr>
              <a:t>-</a:t>
            </a:r>
            <a:r>
              <a:rPr lang="zh-CN" altLang="en-US" sz="1400">
                <a:solidFill>
                  <a:schemeClr val="bg1"/>
                </a:solidFill>
              </a:rPr>
              <a:t>推理速度：</a:t>
            </a:r>
            <a:r>
              <a:rPr lang="en-US" altLang="zh-CN" sz="1400">
                <a:solidFill>
                  <a:schemeClr val="bg1"/>
                </a:solidFill>
              </a:rPr>
              <a:t>RTX 3060</a:t>
            </a:r>
            <a:r>
              <a:rPr lang="zh-CN" altLang="en-US" sz="1400">
                <a:solidFill>
                  <a:schemeClr val="bg1"/>
                </a:solidFill>
              </a:rPr>
              <a:t>上</a:t>
            </a:r>
            <a:r>
              <a:rPr lang="en-US" altLang="zh-CN" sz="1400">
                <a:solidFill>
                  <a:schemeClr val="bg1"/>
                </a:solidFill>
              </a:rPr>
              <a:t>42 FPS</a:t>
            </a:r>
            <a:r>
              <a:rPr lang="zh-CN" altLang="en-US" sz="1400">
                <a:solidFill>
                  <a:schemeClr val="bg1"/>
                </a:solidFill>
              </a:rPr>
              <a:t>（</a:t>
            </a:r>
            <a:r>
              <a:rPr lang="en-US" altLang="zh-CN" sz="1400">
                <a:solidFill>
                  <a:schemeClr val="bg1"/>
                </a:solidFill>
              </a:rPr>
              <a:t>640</a:t>
            </a:r>
            <a:r>
              <a:rPr lang="en-US" altLang="en-US" sz="1400">
                <a:solidFill>
                  <a:schemeClr val="bg1"/>
                </a:solidFill>
              </a:rPr>
              <a:t>×</a:t>
            </a:r>
            <a:r>
              <a:rPr lang="en-US" altLang="zh-CN" sz="1400">
                <a:solidFill>
                  <a:schemeClr val="bg1"/>
                </a:solidFill>
              </a:rPr>
              <a:t>640</a:t>
            </a:r>
            <a:r>
              <a:rPr lang="zh-CN" altLang="en-US" sz="1400">
                <a:solidFill>
                  <a:schemeClr val="bg1"/>
                </a:solidFill>
              </a:rPr>
              <a:t>输入）</a:t>
            </a:r>
            <a:endParaRPr lang="zh-CN" altLang="en-US" sz="1400">
              <a:solidFill>
                <a:schemeClr val="bg1"/>
              </a:solidFill>
            </a:endParaRPr>
          </a:p>
          <a:p>
            <a:r>
              <a:rPr lang="en-US" altLang="zh-CN" sz="1400">
                <a:solidFill>
                  <a:schemeClr val="bg1"/>
                </a:solidFill>
              </a:rPr>
              <a:t>-</a:t>
            </a:r>
            <a:r>
              <a:rPr lang="zh-CN" altLang="en-US" sz="1400">
                <a:solidFill>
                  <a:schemeClr val="bg1"/>
                </a:solidFill>
              </a:rPr>
              <a:t>模型大小：</a:t>
            </a:r>
            <a:r>
              <a:rPr lang="en-US" altLang="zh-CN" sz="1400">
                <a:solidFill>
                  <a:schemeClr val="bg1"/>
                </a:solidFill>
              </a:rPr>
              <a:t>50.2MB</a:t>
            </a:r>
            <a:r>
              <a:rPr lang="zh-CN" altLang="en-US" sz="1400">
                <a:solidFill>
                  <a:schemeClr val="bg1"/>
                </a:solidFill>
              </a:rPr>
              <a:t>（</a:t>
            </a:r>
            <a:r>
              <a:rPr lang="en-US" altLang="zh-CN" sz="1400">
                <a:solidFill>
                  <a:schemeClr val="bg1"/>
                </a:solidFill>
              </a:rPr>
              <a:t>INT8</a:t>
            </a:r>
            <a:r>
              <a:rPr lang="zh-CN" altLang="en-US" sz="1400">
                <a:solidFill>
                  <a:schemeClr val="bg1"/>
                </a:solidFill>
              </a:rPr>
              <a:t>量化后</a:t>
            </a:r>
            <a:r>
              <a:rPr lang="zh-CN" altLang="en-US" sz="2000">
                <a:solidFill>
                  <a:schemeClr val="accent6"/>
                </a:solidFill>
              </a:rPr>
              <a:t>）</a:t>
            </a:r>
            <a:endParaRPr lang="zh-CN" altLang="en-US" sz="2000">
              <a:solidFill>
                <a:schemeClr val="accent6"/>
              </a:solidFill>
            </a:endParaRPr>
          </a:p>
        </p:txBody>
      </p:sp>
      <p:sp>
        <p:nvSpPr>
          <p:cNvPr id="4" name="文本框 3"/>
          <p:cNvSpPr txBox="1"/>
          <p:nvPr/>
        </p:nvSpPr>
        <p:spPr>
          <a:xfrm>
            <a:off x="844550" y="3713480"/>
            <a:ext cx="4064000" cy="2830195"/>
          </a:xfrm>
          <a:prstGeom prst="rect">
            <a:avLst/>
          </a:prstGeom>
          <a:noFill/>
        </p:spPr>
        <p:txBody>
          <a:bodyPr wrap="square" rtlCol="0">
            <a:spAutoFit/>
          </a:bodyPr>
          <a:p>
            <a:r>
              <a:rPr lang="zh-CN" altLang="en-US" sz="2400">
                <a:solidFill>
                  <a:schemeClr val="accent6"/>
                </a:solidFill>
              </a:rPr>
              <a:t>关键训练控制：</a:t>
            </a:r>
            <a:endParaRPr lang="zh-CN" altLang="en-US" sz="2400">
              <a:solidFill>
                <a:schemeClr val="accent6"/>
              </a:solidFill>
            </a:endParaRPr>
          </a:p>
          <a:p>
            <a:r>
              <a:rPr lang="zh-CN" altLang="en-US" sz="1400">
                <a:solidFill>
                  <a:schemeClr val="bg1"/>
                </a:solidFill>
              </a:rPr>
              <a:t>一、动态增强策略：</a:t>
            </a:r>
            <a:endParaRPr lang="zh-CN" altLang="en-US" sz="1400">
              <a:solidFill>
                <a:schemeClr val="bg1"/>
              </a:solidFill>
            </a:endParaRPr>
          </a:p>
          <a:p>
            <a:r>
              <a:rPr lang="en-US" altLang="en-US" sz="1400">
                <a:solidFill>
                  <a:schemeClr val="bg1"/>
                </a:solidFill>
              </a:rPr>
              <a:t></a:t>
            </a:r>
            <a:r>
              <a:rPr lang="zh-CN" altLang="en-US" sz="1400">
                <a:solidFill>
                  <a:schemeClr val="bg1"/>
                </a:solidFill>
              </a:rPr>
              <a:t>前</a:t>
            </a:r>
            <a:r>
              <a:rPr lang="en-US" altLang="zh-CN" sz="1400">
                <a:solidFill>
                  <a:schemeClr val="bg1"/>
                </a:solidFill>
              </a:rPr>
              <a:t>10</a:t>
            </a:r>
            <a:r>
              <a:rPr lang="zh-CN" altLang="en-US" sz="1400">
                <a:solidFill>
                  <a:schemeClr val="bg1"/>
                </a:solidFill>
              </a:rPr>
              <a:t>个</a:t>
            </a:r>
            <a:r>
              <a:rPr lang="en-US" altLang="zh-CN" sz="1400">
                <a:solidFill>
                  <a:schemeClr val="bg1"/>
                </a:solidFill>
              </a:rPr>
              <a:t>epoch</a:t>
            </a:r>
            <a:r>
              <a:rPr lang="zh-CN" altLang="en-US" sz="1400">
                <a:solidFill>
                  <a:schemeClr val="bg1"/>
                </a:solidFill>
              </a:rPr>
              <a:t>保持</a:t>
            </a:r>
            <a:r>
              <a:rPr lang="en-US" altLang="zh-CN" sz="1400">
                <a:solidFill>
                  <a:schemeClr val="bg1"/>
                </a:solidFill>
              </a:rPr>
              <a:t>mosaic(0.8)</a:t>
            </a:r>
            <a:r>
              <a:rPr lang="zh-CN" altLang="en-US" sz="1400">
                <a:solidFill>
                  <a:schemeClr val="bg1"/>
                </a:solidFill>
              </a:rPr>
              <a:t>、</a:t>
            </a:r>
            <a:r>
              <a:rPr lang="en-US" altLang="zh-CN" sz="1400">
                <a:solidFill>
                  <a:schemeClr val="bg1"/>
                </a:solidFill>
              </a:rPr>
              <a:t>mixup(0.1)</a:t>
            </a:r>
            <a:r>
              <a:rPr lang="zh-CN" altLang="en-US" sz="1400">
                <a:solidFill>
                  <a:schemeClr val="bg1"/>
                </a:solidFill>
              </a:rPr>
              <a:t>增强</a:t>
            </a:r>
            <a:endParaRPr lang="zh-CN" altLang="en-US" sz="1400">
              <a:solidFill>
                <a:schemeClr val="bg1"/>
              </a:solidFill>
            </a:endParaRPr>
          </a:p>
          <a:p>
            <a:r>
              <a:rPr lang="en-US" altLang="en-US" sz="1400">
                <a:solidFill>
                  <a:schemeClr val="bg1"/>
                </a:solidFill>
              </a:rPr>
              <a:t></a:t>
            </a:r>
            <a:r>
              <a:rPr lang="zh-CN" altLang="en-US" sz="1400">
                <a:solidFill>
                  <a:schemeClr val="bg1"/>
                </a:solidFill>
              </a:rPr>
              <a:t>后期关闭复杂增强，专注微调</a:t>
            </a:r>
            <a:endParaRPr lang="zh-CN" altLang="en-US" sz="1400">
              <a:solidFill>
                <a:schemeClr val="bg1"/>
              </a:solidFill>
            </a:endParaRPr>
          </a:p>
          <a:p>
            <a:r>
              <a:rPr lang="zh-CN" altLang="en-US" sz="1400">
                <a:solidFill>
                  <a:schemeClr val="bg1"/>
                </a:solidFill>
              </a:rPr>
              <a:t>二、类别平衡：</a:t>
            </a:r>
            <a:endParaRPr lang="zh-CN" altLang="en-US" sz="1400">
              <a:solidFill>
                <a:schemeClr val="bg1"/>
              </a:solidFill>
            </a:endParaRPr>
          </a:p>
          <a:p>
            <a:r>
              <a:rPr lang="en-US" altLang="en-US" sz="1400">
                <a:solidFill>
                  <a:schemeClr val="bg1"/>
                </a:solidFill>
              </a:rPr>
              <a:t></a:t>
            </a:r>
            <a:r>
              <a:rPr lang="zh-CN" altLang="en-US" sz="1400">
                <a:solidFill>
                  <a:schemeClr val="bg1"/>
                </a:solidFill>
              </a:rPr>
              <a:t>采用样本加权采样（在</a:t>
            </a:r>
            <a:r>
              <a:rPr lang="en-US" altLang="zh-CN" sz="1400">
                <a:solidFill>
                  <a:schemeClr val="bg1"/>
                </a:solidFill>
              </a:rPr>
              <a:t>data.yaml</a:t>
            </a:r>
            <a:r>
              <a:rPr lang="zh-CN" altLang="en-US" sz="1400">
                <a:solidFill>
                  <a:schemeClr val="bg1"/>
                </a:solidFill>
              </a:rPr>
              <a:t>中配置类别权重）</a:t>
            </a:r>
            <a:endParaRPr lang="zh-CN" altLang="en-US" sz="1400">
              <a:solidFill>
                <a:schemeClr val="bg1"/>
              </a:solidFill>
            </a:endParaRPr>
          </a:p>
          <a:p>
            <a:r>
              <a:rPr lang="en-US" altLang="en-US" sz="1400">
                <a:solidFill>
                  <a:schemeClr val="bg1"/>
                </a:solidFill>
              </a:rPr>
              <a:t></a:t>
            </a:r>
            <a:r>
              <a:rPr lang="zh-CN" altLang="en-US" sz="1400">
                <a:solidFill>
                  <a:schemeClr val="bg1"/>
                </a:solidFill>
              </a:rPr>
              <a:t>焦点损失</a:t>
            </a:r>
            <a:r>
              <a:rPr lang="en-US" altLang="zh-CN" sz="1400">
                <a:solidFill>
                  <a:schemeClr val="bg1"/>
                </a:solidFill>
              </a:rPr>
              <a:t>γ=1.5</a:t>
            </a:r>
            <a:r>
              <a:rPr lang="zh-CN" altLang="en-US" sz="1400">
                <a:solidFill>
                  <a:schemeClr val="bg1"/>
                </a:solidFill>
              </a:rPr>
              <a:t>抑制易分类样本</a:t>
            </a:r>
            <a:endParaRPr lang="zh-CN" altLang="en-US" sz="1400">
              <a:solidFill>
                <a:schemeClr val="bg1"/>
              </a:solidFill>
            </a:endParaRPr>
          </a:p>
          <a:p>
            <a:r>
              <a:rPr lang="zh-CN" altLang="en-US" sz="1400">
                <a:solidFill>
                  <a:schemeClr val="bg1"/>
                </a:solidFill>
              </a:rPr>
              <a:t>三、精度保障：</a:t>
            </a:r>
            <a:endParaRPr lang="zh-CN" altLang="en-US" sz="1400">
              <a:solidFill>
                <a:schemeClr val="bg1"/>
              </a:solidFill>
            </a:endParaRPr>
          </a:p>
          <a:p>
            <a:r>
              <a:rPr lang="en-US" altLang="en-US" sz="1400">
                <a:solidFill>
                  <a:schemeClr val="bg1"/>
                </a:solidFill>
              </a:rPr>
              <a:t></a:t>
            </a:r>
            <a:r>
              <a:rPr lang="zh-CN" altLang="en-US" sz="1400">
                <a:solidFill>
                  <a:schemeClr val="bg1"/>
                </a:solidFill>
              </a:rPr>
              <a:t>自动混合精度（</a:t>
            </a:r>
            <a:r>
              <a:rPr lang="en-US" altLang="zh-CN" sz="1400">
                <a:solidFill>
                  <a:schemeClr val="bg1"/>
                </a:solidFill>
              </a:rPr>
              <a:t>AMP</a:t>
            </a:r>
            <a:r>
              <a:rPr lang="zh-CN" altLang="en-US" sz="1400">
                <a:solidFill>
                  <a:schemeClr val="bg1"/>
                </a:solidFill>
              </a:rPr>
              <a:t>）训练</a:t>
            </a:r>
            <a:endParaRPr lang="zh-CN" altLang="en-US" sz="1400">
              <a:solidFill>
                <a:schemeClr val="bg1"/>
              </a:solidFill>
            </a:endParaRPr>
          </a:p>
          <a:p>
            <a:r>
              <a:rPr lang="en-US" altLang="en-US" sz="1400">
                <a:solidFill>
                  <a:schemeClr val="bg1"/>
                </a:solidFill>
              </a:rPr>
              <a:t></a:t>
            </a:r>
            <a:r>
              <a:rPr lang="zh-CN" altLang="en-US" sz="1400">
                <a:solidFill>
                  <a:schemeClr val="bg1"/>
                </a:solidFill>
              </a:rPr>
              <a:t>每</a:t>
            </a:r>
            <a:r>
              <a:rPr lang="en-US" altLang="zh-CN" sz="1400">
                <a:solidFill>
                  <a:schemeClr val="bg1"/>
                </a:solidFill>
              </a:rPr>
              <a:t>epoch</a:t>
            </a:r>
            <a:r>
              <a:rPr lang="zh-CN" altLang="en-US" sz="1400">
                <a:solidFill>
                  <a:schemeClr val="bg1"/>
                </a:solidFill>
              </a:rPr>
              <a:t>验证集</a:t>
            </a:r>
            <a:r>
              <a:rPr lang="en-US" altLang="zh-CN" sz="1400">
                <a:solidFill>
                  <a:schemeClr val="bg1"/>
                </a:solidFill>
              </a:rPr>
              <a:t>mAP</a:t>
            </a:r>
            <a:r>
              <a:rPr lang="zh-CN" altLang="en-US" sz="1400">
                <a:solidFill>
                  <a:schemeClr val="bg1"/>
                </a:solidFill>
              </a:rPr>
              <a:t>监控</a:t>
            </a:r>
            <a:endParaRPr lang="zh-CN" altLang="en-US" sz="1400">
              <a:solidFill>
                <a:schemeClr val="bg1"/>
              </a:solidFill>
            </a:endParaRPr>
          </a:p>
          <a:p>
            <a:r>
              <a:rPr lang="en-US" altLang="en-US" sz="1400">
                <a:solidFill>
                  <a:schemeClr val="bg1"/>
                </a:solidFill>
              </a:rPr>
              <a:t></a:t>
            </a:r>
            <a:r>
              <a:rPr lang="zh-CN" altLang="en-US" sz="1400">
                <a:solidFill>
                  <a:schemeClr val="bg1"/>
                </a:solidFill>
              </a:rPr>
              <a:t>早停机制（</a:t>
            </a:r>
            <a:r>
              <a:rPr lang="en-US" altLang="zh-CN" sz="1400">
                <a:solidFill>
                  <a:schemeClr val="bg1"/>
                </a:solidFill>
              </a:rPr>
              <a:t>patience=30</a:t>
            </a:r>
            <a:r>
              <a:rPr lang="zh-CN" altLang="en-US" sz="1400">
                <a:solidFill>
                  <a:schemeClr val="bg1"/>
                </a:solidFill>
              </a:rPr>
              <a:t>）</a:t>
            </a:r>
            <a:endParaRPr lang="zh-CN" altLang="en-US" sz="1400">
              <a:solidFill>
                <a:schemeClr val="bg1"/>
              </a:solidFill>
            </a:endParaRPr>
          </a:p>
        </p:txBody>
      </p:sp>
      <p:sp>
        <p:nvSpPr>
          <p:cNvPr id="5" name="文本框 4"/>
          <p:cNvSpPr txBox="1"/>
          <p:nvPr/>
        </p:nvSpPr>
        <p:spPr>
          <a:xfrm>
            <a:off x="6781165" y="3768725"/>
            <a:ext cx="4064000" cy="829945"/>
          </a:xfrm>
          <a:prstGeom prst="rect">
            <a:avLst/>
          </a:prstGeom>
          <a:noFill/>
        </p:spPr>
        <p:txBody>
          <a:bodyPr wrap="square" rtlCol="0">
            <a:spAutoFit/>
          </a:bodyPr>
          <a:p>
            <a:r>
              <a:rPr lang="en-US" altLang="zh-CN" sz="2400"/>
              <a:t>s</a:t>
            </a:r>
            <a:r>
              <a:rPr lang="zh-CN" altLang="en-US" sz="2400">
                <a:solidFill>
                  <a:schemeClr val="accent6"/>
                </a:solidFill>
              </a:rPr>
              <a:t>实验结果分析：</a:t>
            </a:r>
            <a:endParaRPr lang="zh-CN" altLang="en-US" sz="2400">
              <a:solidFill>
                <a:schemeClr val="accent6"/>
              </a:solidFill>
            </a:endParaRPr>
          </a:p>
          <a:p>
            <a:endParaRPr lang="zh-CN" altLang="en-US" sz="2400">
              <a:solidFill>
                <a:schemeClr val="accent6"/>
              </a:solidFill>
            </a:endParaRPr>
          </a:p>
        </p:txBody>
      </p:sp>
      <p:pic>
        <p:nvPicPr>
          <p:cNvPr id="6" name="图片 5"/>
          <p:cNvPicPr>
            <a:picLocks noChangeAspect="1"/>
          </p:cNvPicPr>
          <p:nvPr/>
        </p:nvPicPr>
        <p:blipFill>
          <a:blip r:embed="rId2"/>
          <a:stretch>
            <a:fillRect/>
          </a:stretch>
        </p:blipFill>
        <p:spPr>
          <a:xfrm>
            <a:off x="6874510" y="4235450"/>
            <a:ext cx="3970655" cy="26244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rot="5400000">
            <a:off x="-1348105" y="100965"/>
            <a:ext cx="6858000" cy="6656070"/>
          </a:xfrm>
          <a:prstGeom prst="round2SameRect">
            <a:avLst>
              <a:gd name="adj1" fmla="val 50000"/>
              <a:gd name="adj2" fmla="val 0"/>
            </a:avLst>
          </a:prstGeom>
          <a:gradFill flip="none" rotWithShape="1">
            <a:gsLst>
              <a:gs pos="54000">
                <a:srgbClr val="28A4DE">
                  <a:alpha val="9000"/>
                </a:srgbClr>
              </a:gs>
              <a:gs pos="100000">
                <a:srgbClr val="232322">
                  <a:alpha val="0"/>
                </a:srgbClr>
              </a:gs>
            </a:gsLst>
            <a:lin ang="13500000" scaled="1"/>
          </a:gradFill>
        </p:spPr>
      </p:sp>
      <p:sp>
        <p:nvSpPr>
          <p:cNvPr id="3" name="Text 1"/>
          <p:cNvSpPr/>
          <p:nvPr/>
        </p:nvSpPr>
        <p:spPr>
          <a:xfrm rot="5400000">
            <a:off x="-1348105" y="100965"/>
            <a:ext cx="6858000" cy="6656070"/>
          </a:xfrm>
          <a:prstGeom prst="rect">
            <a:avLst/>
          </a:prstGeom>
          <a:noFill/>
        </p:spPr>
        <p:txBody>
          <a:bodyPr wrap="square" lIns="0" tIns="0" rIns="0" bIns="0" rtlCol="0" anchor="t"/>
          <a:lstStyle/>
          <a:p>
            <a:pPr marL="0" indent="0">
              <a:lnSpc>
                <a:spcPct val="100000"/>
              </a:lnSpc>
              <a:buNone/>
            </a:pPr>
            <a:endParaRPr lang="en-US" sz="1600" dirty="0"/>
          </a:p>
        </p:txBody>
      </p:sp>
      <p:pic>
        <p:nvPicPr>
          <p:cNvPr id="4" name="Image 0" descr="https://kimi-img.moonshot.cn/pub/slides/slides_tmpl/image/25-05-30-16:22:14-d0smldk75iks2gau41h0.png"/>
          <p:cNvPicPr>
            <a:picLocks noChangeAspect="1"/>
          </p:cNvPicPr>
          <p:nvPr/>
        </p:nvPicPr>
        <p:blipFill>
          <a:blip r:embed="rId1">
            <a:alphaModFix amt="20000"/>
          </a:blip>
          <a:stretch>
            <a:fillRect/>
          </a:stretch>
        </p:blipFill>
        <p:spPr>
          <a:xfrm>
            <a:off x="0" y="13335"/>
            <a:ext cx="5393055" cy="6858000"/>
          </a:xfrm>
          <a:prstGeom prst="rect">
            <a:avLst/>
          </a:prstGeom>
        </p:spPr>
      </p:pic>
      <p:sp>
        <p:nvSpPr>
          <p:cNvPr id="5" name="Text 2"/>
          <p:cNvSpPr/>
          <p:nvPr/>
        </p:nvSpPr>
        <p:spPr>
          <a:xfrm>
            <a:off x="6503035" y="2703830"/>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训练步骤</a:t>
            </a:r>
            <a:endParaRPr lang="en-US" sz="1600" dirty="0"/>
          </a:p>
        </p:txBody>
      </p:sp>
      <p:sp>
        <p:nvSpPr>
          <p:cNvPr id="6" name="Text 3"/>
          <p:cNvSpPr/>
          <p:nvPr/>
        </p:nvSpPr>
        <p:spPr>
          <a:xfrm>
            <a:off x="6502400" y="3114040"/>
            <a:ext cx="5083175" cy="148463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详细说明VGG16模型的训练流程，包括数据预处理、模型初始化、前向传播、误差计算等。</a:t>
            </a:r>
            <a:endParaRPr lang="en-US" sz="1600" dirty="0"/>
          </a:p>
        </p:txBody>
      </p:sp>
      <p:sp>
        <p:nvSpPr>
          <p:cNvPr id="7" name="Text 4"/>
          <p:cNvSpPr/>
          <p:nvPr/>
        </p:nvSpPr>
        <p:spPr>
          <a:xfrm>
            <a:off x="5779135" y="4692015"/>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测试与可视化</a:t>
            </a:r>
            <a:endParaRPr lang="en-US" sz="1600" dirty="0"/>
          </a:p>
        </p:txBody>
      </p:sp>
      <p:sp>
        <p:nvSpPr>
          <p:cNvPr id="8" name="Text 5"/>
          <p:cNvSpPr/>
          <p:nvPr/>
        </p:nvSpPr>
        <p:spPr>
          <a:xfrm>
            <a:off x="5778500" y="5102225"/>
            <a:ext cx="5083175" cy="148463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展示VGG16模型在测试集上的性能，通过可视化结果分析模型的分类效果。</a:t>
            </a:r>
            <a:endParaRPr lang="en-US" sz="1600" dirty="0"/>
          </a:p>
        </p:txBody>
      </p:sp>
      <p:sp>
        <p:nvSpPr>
          <p:cNvPr id="9" name="Text 6"/>
          <p:cNvSpPr/>
          <p:nvPr/>
        </p:nvSpPr>
        <p:spPr>
          <a:xfrm>
            <a:off x="5778500" y="715010"/>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VGG模型介绍</a:t>
            </a:r>
            <a:endParaRPr lang="en-US" sz="1600" dirty="0"/>
          </a:p>
        </p:txBody>
      </p:sp>
      <p:sp>
        <p:nvSpPr>
          <p:cNvPr id="10" name="Text 7"/>
          <p:cNvSpPr/>
          <p:nvPr/>
        </p:nvSpPr>
        <p:spPr>
          <a:xfrm>
            <a:off x="5778500" y="1125220"/>
            <a:ext cx="5083175" cy="148590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介绍VGG16模型的结构特点、优势及其在图像分类任务中的应用。</a:t>
            </a:r>
            <a:endParaRPr lang="en-US" sz="1600" dirty="0"/>
          </a:p>
        </p:txBody>
      </p:sp>
      <p:sp>
        <p:nvSpPr>
          <p:cNvPr id="11" name="Text 8"/>
          <p:cNvSpPr/>
          <p:nvPr/>
        </p:nvSpPr>
        <p:spPr>
          <a:xfrm>
            <a:off x="597535" y="2781300"/>
            <a:ext cx="4161790" cy="1837690"/>
          </a:xfrm>
          <a:prstGeom prst="rect">
            <a:avLst/>
          </a:prstGeom>
          <a:noFill/>
        </p:spPr>
        <p:txBody>
          <a:bodyPr wrap="square" lIns="45720" tIns="45720" rIns="45720" bIns="45720" rtlCol="0" anchor="t"/>
          <a:lstStyle/>
          <a:p>
            <a:pPr marL="0" indent="0" algn="l">
              <a:lnSpc>
                <a:spcPct val="100000"/>
              </a:lnSpc>
              <a:buNone/>
            </a:pPr>
            <a:r>
              <a:rPr lang="en-US" sz="3600" dirty="0">
                <a:solidFill>
                  <a:srgbClr val="218EC1"/>
                </a:solidFill>
                <a:latin typeface="MiSans" pitchFamily="34" charset="-122"/>
                <a:ea typeface="MiSans" pitchFamily="34" charset="-122"/>
                <a:cs typeface="MiSans" pitchFamily="34" charset="-120"/>
              </a:rPr>
              <a:t>VGG16表情分类模型</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361950" y="443230"/>
            <a:ext cx="4064000" cy="460375"/>
          </a:xfrm>
          <a:prstGeom prst="rect">
            <a:avLst/>
          </a:prstGeom>
          <a:noFill/>
        </p:spPr>
        <p:txBody>
          <a:bodyPr wrap="square" rtlCol="0">
            <a:spAutoFit/>
          </a:bodyPr>
          <a:p>
            <a:r>
              <a:rPr lang="en-US" altLang="zh-CN" sz="2400">
                <a:solidFill>
                  <a:schemeClr val="accent6"/>
                </a:solidFill>
              </a:rPr>
              <a:t>VGG</a:t>
            </a:r>
            <a:r>
              <a:rPr lang="zh-CN" altLang="en-US" sz="2400">
                <a:solidFill>
                  <a:schemeClr val="accent6"/>
                </a:solidFill>
              </a:rPr>
              <a:t>模型介绍</a:t>
            </a:r>
            <a:endParaRPr lang="zh-CN" altLang="en-US" sz="2400">
              <a:solidFill>
                <a:schemeClr val="accent6"/>
              </a:solidFill>
            </a:endParaRPr>
          </a:p>
        </p:txBody>
      </p:sp>
      <p:sp>
        <p:nvSpPr>
          <p:cNvPr id="3" name="文本框 2"/>
          <p:cNvSpPr txBox="1"/>
          <p:nvPr/>
        </p:nvSpPr>
        <p:spPr>
          <a:xfrm>
            <a:off x="394335" y="1211580"/>
            <a:ext cx="4064000" cy="4769485"/>
          </a:xfrm>
          <a:prstGeom prst="rect">
            <a:avLst/>
          </a:prstGeom>
          <a:noFill/>
        </p:spPr>
        <p:txBody>
          <a:bodyPr wrap="square" rtlCol="0">
            <a:spAutoFit/>
          </a:bodyPr>
          <a:p>
            <a:r>
              <a:rPr lang="en-US" altLang="zh-CN" sz="1600">
                <a:solidFill>
                  <a:schemeClr val="bg1"/>
                </a:solidFill>
              </a:rPr>
              <a:t>VGG16</a:t>
            </a:r>
            <a:r>
              <a:rPr lang="zh-CN" altLang="en-US" sz="1600">
                <a:solidFill>
                  <a:schemeClr val="bg1"/>
                </a:solidFill>
              </a:rPr>
              <a:t>是一种深度卷积神经网络模型，用于图像分类和识别任务。它是由牛津大学的研究团队开发的，命名为</a:t>
            </a:r>
            <a:r>
              <a:rPr lang="en-US" altLang="zh-CN" sz="1600">
                <a:solidFill>
                  <a:schemeClr val="bg1"/>
                </a:solidFill>
              </a:rPr>
              <a:t>Visual Geometry Group</a:t>
            </a:r>
            <a:r>
              <a:rPr lang="zh-CN" altLang="en-US" sz="1600">
                <a:solidFill>
                  <a:schemeClr val="bg1"/>
                </a:solidFill>
              </a:rPr>
              <a:t>（</a:t>
            </a:r>
            <a:r>
              <a:rPr lang="en-US" altLang="zh-CN" sz="1600">
                <a:solidFill>
                  <a:schemeClr val="bg1"/>
                </a:solidFill>
              </a:rPr>
              <a:t>VGG</a:t>
            </a:r>
            <a:r>
              <a:rPr lang="zh-CN" altLang="en-US" sz="1600">
                <a:solidFill>
                  <a:schemeClr val="bg1"/>
                </a:solidFill>
              </a:rPr>
              <a:t>），并在</a:t>
            </a:r>
            <a:r>
              <a:rPr lang="en-US" altLang="zh-CN" sz="1600">
                <a:solidFill>
                  <a:schemeClr val="bg1"/>
                </a:solidFill>
              </a:rPr>
              <a:t>2014</a:t>
            </a:r>
            <a:r>
              <a:rPr lang="zh-CN" altLang="en-US" sz="1600">
                <a:solidFill>
                  <a:schemeClr val="bg1"/>
                </a:solidFill>
              </a:rPr>
              <a:t>年的</a:t>
            </a:r>
            <a:r>
              <a:rPr lang="en-US" altLang="zh-CN" sz="1600">
                <a:solidFill>
                  <a:schemeClr val="bg1"/>
                </a:solidFill>
              </a:rPr>
              <a:t>ImageNet</a:t>
            </a:r>
            <a:r>
              <a:rPr lang="zh-CN" altLang="en-US" sz="1600">
                <a:solidFill>
                  <a:schemeClr val="bg1"/>
                </a:solidFill>
              </a:rPr>
              <a:t>图像识别挑战中取得了很好的成绩。</a:t>
            </a:r>
            <a:endParaRPr lang="zh-CN" altLang="en-US" sz="1600">
              <a:solidFill>
                <a:schemeClr val="bg1"/>
              </a:solidFill>
            </a:endParaRPr>
          </a:p>
          <a:p>
            <a:r>
              <a:rPr lang="en-US" altLang="zh-CN" sz="1600">
                <a:solidFill>
                  <a:schemeClr val="bg1"/>
                </a:solidFill>
              </a:rPr>
              <a:t>VGG16</a:t>
            </a:r>
            <a:r>
              <a:rPr lang="zh-CN" altLang="en-US" sz="1600">
                <a:solidFill>
                  <a:schemeClr val="bg1"/>
                </a:solidFill>
              </a:rPr>
              <a:t>模型具有</a:t>
            </a:r>
            <a:r>
              <a:rPr lang="en-US" altLang="zh-CN" sz="1600">
                <a:solidFill>
                  <a:schemeClr val="bg1"/>
                </a:solidFill>
              </a:rPr>
              <a:t>13</a:t>
            </a:r>
            <a:r>
              <a:rPr lang="zh-CN" altLang="en-US" sz="1600">
                <a:solidFill>
                  <a:schemeClr val="bg1"/>
                </a:solidFill>
              </a:rPr>
              <a:t>个卷积层和</a:t>
            </a:r>
            <a:r>
              <a:rPr lang="en-US" altLang="zh-CN" sz="1600">
                <a:solidFill>
                  <a:schemeClr val="bg1"/>
                </a:solidFill>
              </a:rPr>
              <a:t>3</a:t>
            </a:r>
            <a:r>
              <a:rPr lang="zh-CN" altLang="en-US" sz="1600">
                <a:solidFill>
                  <a:schemeClr val="bg1"/>
                </a:solidFill>
              </a:rPr>
              <a:t>个全连接层，总共有约</a:t>
            </a:r>
            <a:r>
              <a:rPr lang="en-US" altLang="zh-CN" sz="1600">
                <a:solidFill>
                  <a:schemeClr val="bg1"/>
                </a:solidFill>
              </a:rPr>
              <a:t>138</a:t>
            </a:r>
            <a:r>
              <a:rPr lang="zh-CN" altLang="en-US" sz="1600">
                <a:solidFill>
                  <a:schemeClr val="bg1"/>
                </a:solidFill>
              </a:rPr>
              <a:t>百万个可训练参数。该模型的核心思想是通过堆叠多个小尺寸的卷积核和池化层来增加网络的深度，从而提高图像特征的表示能力。它采用了相对较小的</a:t>
            </a:r>
            <a:r>
              <a:rPr lang="en-US" altLang="zh-CN" sz="1600">
                <a:solidFill>
                  <a:schemeClr val="bg1"/>
                </a:solidFill>
              </a:rPr>
              <a:t>3x3</a:t>
            </a:r>
            <a:r>
              <a:rPr lang="zh-CN" altLang="en-US" sz="1600">
                <a:solidFill>
                  <a:schemeClr val="bg1"/>
                </a:solidFill>
              </a:rPr>
              <a:t>卷积核和</a:t>
            </a:r>
            <a:r>
              <a:rPr lang="en-US" altLang="zh-CN" sz="1600">
                <a:solidFill>
                  <a:schemeClr val="bg1"/>
                </a:solidFill>
              </a:rPr>
              <a:t>2x2</a:t>
            </a:r>
            <a:r>
              <a:rPr lang="zh-CN" altLang="en-US" sz="1600">
                <a:solidFill>
                  <a:schemeClr val="bg1"/>
                </a:solidFill>
              </a:rPr>
              <a:t>最大池化核，每个卷积层后都使用了</a:t>
            </a:r>
            <a:r>
              <a:rPr lang="en-US" altLang="zh-CN" sz="1600">
                <a:solidFill>
                  <a:schemeClr val="bg1"/>
                </a:solidFill>
              </a:rPr>
              <a:t>ReLU</a:t>
            </a:r>
            <a:r>
              <a:rPr lang="zh-CN" altLang="en-US" sz="1600">
                <a:solidFill>
                  <a:schemeClr val="bg1"/>
                </a:solidFill>
              </a:rPr>
              <a:t>激活函数。</a:t>
            </a:r>
            <a:endParaRPr lang="zh-CN" altLang="en-US" sz="1600">
              <a:solidFill>
                <a:schemeClr val="bg1"/>
              </a:solidFill>
            </a:endParaRPr>
          </a:p>
          <a:p>
            <a:r>
              <a:rPr lang="en-US" altLang="zh-CN" sz="1600">
                <a:solidFill>
                  <a:schemeClr val="bg1"/>
                </a:solidFill>
              </a:rPr>
              <a:t>VGG16</a:t>
            </a:r>
            <a:r>
              <a:rPr lang="zh-CN" altLang="en-US" sz="1600">
                <a:solidFill>
                  <a:schemeClr val="bg1"/>
                </a:solidFill>
              </a:rPr>
              <a:t>的结构相对简单而经典，是深度学习中常用的基准模型之一。它在图像分类任务中表现出色，能够有效地识别和区分不同的物体类别。由于其简单的结构和可扩展性，</a:t>
            </a:r>
            <a:r>
              <a:rPr lang="en-US" altLang="zh-CN" sz="1600">
                <a:solidFill>
                  <a:schemeClr val="bg1"/>
                </a:solidFill>
              </a:rPr>
              <a:t>VGG16</a:t>
            </a:r>
            <a:r>
              <a:rPr lang="zh-CN" altLang="en-US" sz="1600">
                <a:solidFill>
                  <a:schemeClr val="bg1"/>
                </a:solidFill>
              </a:rPr>
              <a:t>也常被用作迁移学习的基础模型，在各种计算机视觉任务中发挥重要作用，如目标检测、图像分割等。</a:t>
            </a:r>
            <a:endParaRPr lang="zh-CN" altLang="en-US" sz="1600">
              <a:solidFill>
                <a:schemeClr val="bg1"/>
              </a:solidFill>
            </a:endParaRPr>
          </a:p>
        </p:txBody>
      </p:sp>
      <p:sp>
        <p:nvSpPr>
          <p:cNvPr id="6" name="文本框 5"/>
          <p:cNvSpPr txBox="1"/>
          <p:nvPr/>
        </p:nvSpPr>
        <p:spPr>
          <a:xfrm>
            <a:off x="6408420" y="1090930"/>
            <a:ext cx="4064000" cy="368300"/>
          </a:xfrm>
          <a:prstGeom prst="rect">
            <a:avLst/>
          </a:prstGeom>
          <a:noFill/>
        </p:spPr>
        <p:txBody>
          <a:bodyPr wrap="square" rtlCol="0">
            <a:spAutoFit/>
          </a:bodyPr>
          <a:p>
            <a:r>
              <a:rPr lang="zh-CN" altLang="en-US">
                <a:solidFill>
                  <a:schemeClr val="bg1"/>
                </a:solidFill>
              </a:rPr>
              <a:t>模型</a:t>
            </a:r>
            <a:r>
              <a:rPr lang="zh-CN" altLang="en-US">
                <a:solidFill>
                  <a:schemeClr val="bg1"/>
                </a:solidFill>
              </a:rPr>
              <a:t>结构：</a:t>
            </a:r>
            <a:endParaRPr lang="zh-CN" altLang="en-US">
              <a:solidFill>
                <a:schemeClr val="bg1"/>
              </a:solidFill>
            </a:endParaRPr>
          </a:p>
        </p:txBody>
      </p:sp>
      <p:pic>
        <p:nvPicPr>
          <p:cNvPr id="28" name="图片 20"/>
          <p:cNvPicPr>
            <a:picLocks noChangeAspect="1"/>
          </p:cNvPicPr>
          <p:nvPr/>
        </p:nvPicPr>
        <p:blipFill>
          <a:blip r:embed="rId2"/>
          <a:stretch>
            <a:fillRect/>
          </a:stretch>
        </p:blipFill>
        <p:spPr>
          <a:xfrm>
            <a:off x="6474460" y="1480820"/>
            <a:ext cx="5547360" cy="414464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591820" y="432435"/>
            <a:ext cx="4064000" cy="460375"/>
          </a:xfrm>
          <a:prstGeom prst="rect">
            <a:avLst/>
          </a:prstGeom>
          <a:noFill/>
        </p:spPr>
        <p:txBody>
          <a:bodyPr wrap="square" rtlCol="0">
            <a:spAutoFit/>
          </a:bodyPr>
          <a:p>
            <a:r>
              <a:rPr lang="zh-CN" altLang="en-US" sz="2400">
                <a:solidFill>
                  <a:schemeClr val="accent6"/>
                </a:solidFill>
              </a:rPr>
              <a:t>训练步骤</a:t>
            </a:r>
            <a:endParaRPr lang="zh-CN" altLang="en-US" sz="2400">
              <a:solidFill>
                <a:schemeClr val="accent6"/>
              </a:solidFill>
            </a:endParaRPr>
          </a:p>
        </p:txBody>
      </p:sp>
      <p:sp>
        <p:nvSpPr>
          <p:cNvPr id="3" name="文本框 2"/>
          <p:cNvSpPr txBox="1"/>
          <p:nvPr/>
        </p:nvSpPr>
        <p:spPr>
          <a:xfrm>
            <a:off x="636270" y="1266825"/>
            <a:ext cx="4064000" cy="368300"/>
          </a:xfrm>
          <a:prstGeom prst="rect">
            <a:avLst/>
          </a:prstGeom>
          <a:noFill/>
        </p:spPr>
        <p:txBody>
          <a:bodyPr wrap="square" rtlCol="0">
            <a:spAutoFit/>
          </a:bodyPr>
          <a:p>
            <a:r>
              <a:rPr lang="zh-CN" altLang="en-US">
                <a:solidFill>
                  <a:schemeClr val="bg1"/>
                </a:solidFill>
              </a:rPr>
              <a:t>一、模型</a:t>
            </a:r>
            <a:r>
              <a:rPr lang="zh-CN" altLang="en-US">
                <a:solidFill>
                  <a:schemeClr val="bg1"/>
                </a:solidFill>
              </a:rPr>
              <a:t>初始化</a:t>
            </a:r>
            <a:endParaRPr lang="zh-CN" altLang="en-US">
              <a:solidFill>
                <a:schemeClr val="bg1"/>
              </a:solidFill>
            </a:endParaRPr>
          </a:p>
        </p:txBody>
      </p:sp>
      <p:pic>
        <p:nvPicPr>
          <p:cNvPr id="29" name="图片 21"/>
          <p:cNvPicPr>
            <a:picLocks noChangeAspect="1"/>
          </p:cNvPicPr>
          <p:nvPr/>
        </p:nvPicPr>
        <p:blipFill>
          <a:blip r:embed="rId2"/>
          <a:stretch>
            <a:fillRect/>
          </a:stretch>
        </p:blipFill>
        <p:spPr>
          <a:xfrm>
            <a:off x="636270" y="1635125"/>
            <a:ext cx="3490595" cy="3778250"/>
          </a:xfrm>
          <a:prstGeom prst="rect">
            <a:avLst/>
          </a:prstGeom>
          <a:noFill/>
          <a:ln>
            <a:noFill/>
          </a:ln>
        </p:spPr>
      </p:pic>
      <p:sp>
        <p:nvSpPr>
          <p:cNvPr id="5" name="文本框 4"/>
          <p:cNvSpPr txBox="1"/>
          <p:nvPr/>
        </p:nvSpPr>
        <p:spPr>
          <a:xfrm>
            <a:off x="4410710" y="1266825"/>
            <a:ext cx="4064000" cy="368300"/>
          </a:xfrm>
          <a:prstGeom prst="rect">
            <a:avLst/>
          </a:prstGeom>
          <a:noFill/>
        </p:spPr>
        <p:txBody>
          <a:bodyPr wrap="square" rtlCol="0">
            <a:spAutoFit/>
          </a:bodyPr>
          <a:p>
            <a:r>
              <a:rPr lang="zh-CN" altLang="en-US">
                <a:solidFill>
                  <a:schemeClr val="bg1"/>
                </a:solidFill>
              </a:rPr>
              <a:t>二、训练流程</a:t>
            </a:r>
            <a:r>
              <a:rPr lang="zh-CN" altLang="en-US">
                <a:solidFill>
                  <a:schemeClr val="bg1"/>
                </a:solidFill>
              </a:rPr>
              <a:t>实现</a:t>
            </a:r>
            <a:endParaRPr lang="zh-CN" altLang="en-US">
              <a:solidFill>
                <a:schemeClr val="bg1"/>
              </a:solidFill>
            </a:endParaRPr>
          </a:p>
        </p:txBody>
      </p:sp>
      <p:pic>
        <p:nvPicPr>
          <p:cNvPr id="32" name="图片 24"/>
          <p:cNvPicPr>
            <a:picLocks noChangeAspect="1"/>
          </p:cNvPicPr>
          <p:nvPr/>
        </p:nvPicPr>
        <p:blipFill>
          <a:blip r:embed="rId3"/>
          <a:stretch>
            <a:fillRect/>
          </a:stretch>
        </p:blipFill>
        <p:spPr>
          <a:xfrm>
            <a:off x="4157980" y="1635125"/>
            <a:ext cx="4570095" cy="3778250"/>
          </a:xfrm>
          <a:prstGeom prst="rect">
            <a:avLst/>
          </a:prstGeom>
          <a:noFill/>
          <a:ln>
            <a:noFill/>
          </a:ln>
        </p:spPr>
      </p:pic>
      <p:sp>
        <p:nvSpPr>
          <p:cNvPr id="7" name="文本框 6"/>
          <p:cNvSpPr txBox="1"/>
          <p:nvPr/>
        </p:nvSpPr>
        <p:spPr>
          <a:xfrm>
            <a:off x="8758555" y="1266825"/>
            <a:ext cx="4064000" cy="368300"/>
          </a:xfrm>
          <a:prstGeom prst="rect">
            <a:avLst/>
          </a:prstGeom>
          <a:noFill/>
        </p:spPr>
        <p:txBody>
          <a:bodyPr wrap="square" rtlCol="0">
            <a:spAutoFit/>
          </a:bodyPr>
          <a:p>
            <a:r>
              <a:rPr lang="zh-CN" altLang="en-US">
                <a:solidFill>
                  <a:schemeClr val="bg1"/>
                </a:solidFill>
              </a:rPr>
              <a:t>三、数据打乱与</a:t>
            </a:r>
            <a:r>
              <a:rPr lang="zh-CN" altLang="en-US">
                <a:solidFill>
                  <a:schemeClr val="bg1"/>
                </a:solidFill>
              </a:rPr>
              <a:t>批处理</a:t>
            </a:r>
            <a:endParaRPr lang="zh-CN" altLang="en-US">
              <a:solidFill>
                <a:schemeClr val="bg1"/>
              </a:solidFill>
            </a:endParaRPr>
          </a:p>
        </p:txBody>
      </p:sp>
      <p:pic>
        <p:nvPicPr>
          <p:cNvPr id="33" name="图片 25"/>
          <p:cNvPicPr>
            <a:picLocks noChangeAspect="1"/>
          </p:cNvPicPr>
          <p:nvPr/>
        </p:nvPicPr>
        <p:blipFill>
          <a:blip r:embed="rId4"/>
          <a:stretch>
            <a:fillRect/>
          </a:stretch>
        </p:blipFill>
        <p:spPr>
          <a:xfrm>
            <a:off x="8703945" y="1635125"/>
            <a:ext cx="3488055" cy="37776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a:off x="4106545" y="1449705"/>
            <a:ext cx="7505700" cy="1700530"/>
          </a:xfrm>
          <a:prstGeom prst="roundRect">
            <a:avLst>
              <a:gd name="adj" fmla="val 4248"/>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3" name="Text 1"/>
          <p:cNvSpPr/>
          <p:nvPr/>
        </p:nvSpPr>
        <p:spPr>
          <a:xfrm>
            <a:off x="4106545" y="1449705"/>
            <a:ext cx="7505700" cy="1700530"/>
          </a:xfrm>
          <a:prstGeom prst="rect">
            <a:avLst/>
          </a:prstGeom>
          <a:noFill/>
        </p:spPr>
        <p:txBody>
          <a:bodyPr wrap="square" lIns="0" tIns="0" rIns="0" bIns="0" rtlCol="0" anchor="t"/>
          <a:lstStyle/>
          <a:p>
            <a:pPr marL="0" indent="0">
              <a:lnSpc>
                <a:spcPct val="100000"/>
              </a:lnSpc>
              <a:buNone/>
            </a:pPr>
            <a:endParaRPr lang="en-US" sz="1600" dirty="0"/>
          </a:p>
        </p:txBody>
      </p:sp>
      <p:sp>
        <p:nvSpPr>
          <p:cNvPr id="4" name="Text 2"/>
          <p:cNvSpPr/>
          <p:nvPr/>
        </p:nvSpPr>
        <p:spPr>
          <a:xfrm>
            <a:off x="4277995" y="1582420"/>
            <a:ext cx="6160135" cy="401955"/>
          </a:xfrm>
          <a:prstGeom prst="rect">
            <a:avLst/>
          </a:prstGeom>
          <a:noFill/>
        </p:spPr>
        <p:txBody>
          <a:bodyPr wrap="square" lIns="45720" tIns="45720" rIns="45720" bIns="45720" rtlCol="0" anchor="t"/>
          <a:lstStyle/>
          <a:p>
            <a:pPr marL="0" indent="0" algn="l">
              <a:lnSpc>
                <a:spcPct val="100000"/>
              </a:lnSpc>
              <a:buNone/>
            </a:pPr>
            <a:r>
              <a:rPr lang="en-US" sz="2000" dirty="0">
                <a:solidFill>
                  <a:srgbClr val="7EC9EB"/>
                </a:solidFill>
                <a:latin typeface="MiSans" pitchFamily="34" charset="-122"/>
                <a:ea typeface="MiSans" pitchFamily="34" charset="-122"/>
                <a:cs typeface="MiSans" pitchFamily="34" charset="-120"/>
              </a:rPr>
              <a:t>AlexNet模型介绍</a:t>
            </a:r>
            <a:endParaRPr lang="en-US" sz="1600" dirty="0"/>
          </a:p>
        </p:txBody>
      </p:sp>
      <p:pic>
        <p:nvPicPr>
          <p:cNvPr id="5" name="Image 0" descr="https://kimi-img.moonshot.cn/pub/slides/slides_tmpl/image/25-05-30-16:22:10-d0smlck75iks2gau41gg.png"/>
          <p:cNvPicPr>
            <a:picLocks noChangeAspect="1"/>
          </p:cNvPicPr>
          <p:nvPr/>
        </p:nvPicPr>
        <p:blipFill>
          <a:blip r:embed="rId1"/>
          <a:srcRect l="30741" t="4671" r="31441"/>
          <a:stretch>
            <a:fillRect/>
          </a:stretch>
        </p:blipFill>
        <p:spPr>
          <a:xfrm>
            <a:off x="537845" y="1432560"/>
            <a:ext cx="3388360" cy="4804410"/>
          </a:xfrm>
          <a:prstGeom prst="rect">
            <a:avLst/>
          </a:prstGeom>
        </p:spPr>
      </p:pic>
      <p:sp>
        <p:nvSpPr>
          <p:cNvPr id="6" name="Text 3"/>
          <p:cNvSpPr/>
          <p:nvPr/>
        </p:nvSpPr>
        <p:spPr>
          <a:xfrm>
            <a:off x="4106545" y="2005965"/>
            <a:ext cx="7278370" cy="125984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介绍AlexNet模型的创新点和结构特点，强调其在轻量化设计方面的优势。</a:t>
            </a:r>
            <a:endParaRPr lang="en-US" sz="1600" dirty="0"/>
          </a:p>
        </p:txBody>
      </p:sp>
      <p:sp>
        <p:nvSpPr>
          <p:cNvPr id="7" name="Shape 4"/>
          <p:cNvSpPr/>
          <p:nvPr/>
        </p:nvSpPr>
        <p:spPr>
          <a:xfrm>
            <a:off x="4189095" y="3265805"/>
            <a:ext cx="3619500" cy="2957195"/>
          </a:xfrm>
          <a:prstGeom prst="roundRect">
            <a:avLst>
              <a:gd name="adj" fmla="val 4248"/>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8" name="Text 5"/>
          <p:cNvSpPr/>
          <p:nvPr/>
        </p:nvSpPr>
        <p:spPr>
          <a:xfrm>
            <a:off x="4189095" y="3265805"/>
            <a:ext cx="3619500" cy="2957195"/>
          </a:xfrm>
          <a:prstGeom prst="rect">
            <a:avLst/>
          </a:prstGeom>
          <a:noFill/>
        </p:spPr>
        <p:txBody>
          <a:bodyPr wrap="square" lIns="0" tIns="0" rIns="0" bIns="0" rtlCol="0" anchor="t"/>
          <a:lstStyle/>
          <a:p>
            <a:pPr marL="0" indent="0">
              <a:lnSpc>
                <a:spcPct val="100000"/>
              </a:lnSpc>
              <a:buNone/>
            </a:pPr>
            <a:endParaRPr lang="en-US" sz="1600" dirty="0"/>
          </a:p>
        </p:txBody>
      </p:sp>
      <p:sp>
        <p:nvSpPr>
          <p:cNvPr id="9" name="Text 6"/>
          <p:cNvSpPr/>
          <p:nvPr/>
        </p:nvSpPr>
        <p:spPr>
          <a:xfrm>
            <a:off x="4390390" y="3369310"/>
            <a:ext cx="3218180" cy="767715"/>
          </a:xfrm>
          <a:prstGeom prst="rect">
            <a:avLst/>
          </a:prstGeom>
          <a:noFill/>
        </p:spPr>
        <p:txBody>
          <a:bodyPr wrap="square" lIns="45720" tIns="45720" rIns="45720" bIns="45720" rtlCol="0" anchor="ctr"/>
          <a:lstStyle/>
          <a:p>
            <a:pPr marL="0" indent="0" algn="l">
              <a:lnSpc>
                <a:spcPct val="100000"/>
              </a:lnSpc>
              <a:buNone/>
            </a:pPr>
            <a:r>
              <a:rPr lang="en-US" sz="1800" b="1" dirty="0">
                <a:solidFill>
                  <a:srgbClr val="7EC9EB"/>
                </a:solidFill>
                <a:latin typeface="MiSans" pitchFamily="34" charset="-122"/>
                <a:ea typeface="MiSans" pitchFamily="34" charset="-122"/>
                <a:cs typeface="MiSans" pitchFamily="34" charset="-120"/>
              </a:rPr>
              <a:t>训练步骤</a:t>
            </a:r>
            <a:endParaRPr lang="en-US" sz="1600" dirty="0"/>
          </a:p>
        </p:txBody>
      </p:sp>
      <p:sp>
        <p:nvSpPr>
          <p:cNvPr id="10" name="Text 7"/>
          <p:cNvSpPr/>
          <p:nvPr/>
        </p:nvSpPr>
        <p:spPr>
          <a:xfrm>
            <a:off x="4390390" y="3975100"/>
            <a:ext cx="3218180" cy="2540635"/>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说明AlexNet模型的训练过程，包括数据增强、模型训练、验证与保存等环节。</a:t>
            </a:r>
            <a:endParaRPr lang="en-US" sz="1600" dirty="0"/>
          </a:p>
        </p:txBody>
      </p:sp>
      <p:sp>
        <p:nvSpPr>
          <p:cNvPr id="11" name="Shape 8"/>
          <p:cNvSpPr/>
          <p:nvPr/>
        </p:nvSpPr>
        <p:spPr>
          <a:xfrm>
            <a:off x="7992745" y="3265805"/>
            <a:ext cx="3619500" cy="2957195"/>
          </a:xfrm>
          <a:prstGeom prst="roundRect">
            <a:avLst>
              <a:gd name="adj" fmla="val 4248"/>
            </a:avLst>
          </a:prstGeom>
          <a:gradFill flip="none" rotWithShape="1">
            <a:gsLst>
              <a:gs pos="0">
                <a:srgbClr val="788FA3">
                  <a:alpha val="38000"/>
                </a:srgbClr>
              </a:gs>
              <a:gs pos="22000">
                <a:srgbClr val="788FA3">
                  <a:alpha val="36000"/>
                </a:srgbClr>
              </a:gs>
              <a:gs pos="54000">
                <a:srgbClr val="788FA3">
                  <a:alpha val="7000"/>
                </a:srgbClr>
              </a:gs>
              <a:gs pos="100000">
                <a:srgbClr val="232322">
                  <a:alpha val="14000"/>
                </a:srgbClr>
              </a:gs>
            </a:gsLst>
            <a:lin ang="13500000" scaled="1"/>
          </a:gradFill>
          <a:ln w="6350">
            <a:solidFill>
              <a:srgbClr val="788FA3"/>
            </a:solidFill>
            <a:prstDash val="solid"/>
          </a:ln>
        </p:spPr>
      </p:sp>
      <p:sp>
        <p:nvSpPr>
          <p:cNvPr id="12" name="Text 9"/>
          <p:cNvSpPr/>
          <p:nvPr/>
        </p:nvSpPr>
        <p:spPr>
          <a:xfrm>
            <a:off x="7992745" y="3265805"/>
            <a:ext cx="3619500" cy="2957195"/>
          </a:xfrm>
          <a:prstGeom prst="rect">
            <a:avLst/>
          </a:prstGeom>
          <a:noFill/>
        </p:spPr>
        <p:txBody>
          <a:bodyPr wrap="square" lIns="0" tIns="0" rIns="0" bIns="0" rtlCol="0" anchor="t"/>
          <a:lstStyle/>
          <a:p>
            <a:pPr marL="0" indent="0">
              <a:lnSpc>
                <a:spcPct val="100000"/>
              </a:lnSpc>
              <a:buNone/>
            </a:pPr>
            <a:endParaRPr lang="en-US" sz="1600" dirty="0"/>
          </a:p>
        </p:txBody>
      </p:sp>
      <p:sp>
        <p:nvSpPr>
          <p:cNvPr id="13" name="Text 10"/>
          <p:cNvSpPr/>
          <p:nvPr/>
        </p:nvSpPr>
        <p:spPr>
          <a:xfrm>
            <a:off x="8194040" y="3369310"/>
            <a:ext cx="3218180" cy="767715"/>
          </a:xfrm>
          <a:prstGeom prst="rect">
            <a:avLst/>
          </a:prstGeom>
          <a:noFill/>
        </p:spPr>
        <p:txBody>
          <a:bodyPr wrap="square" lIns="45720" tIns="45720" rIns="45720" bIns="45720" rtlCol="0" anchor="ctr"/>
          <a:lstStyle/>
          <a:p>
            <a:pPr marL="0" indent="0" algn="l">
              <a:lnSpc>
                <a:spcPct val="100000"/>
              </a:lnSpc>
              <a:buNone/>
            </a:pPr>
            <a:r>
              <a:rPr lang="en-US" sz="1800" b="1" dirty="0">
                <a:solidFill>
                  <a:srgbClr val="7EC9EB"/>
                </a:solidFill>
                <a:latin typeface="MiSans" pitchFamily="34" charset="-122"/>
                <a:ea typeface="MiSans" pitchFamily="34" charset="-122"/>
                <a:cs typeface="MiSans" pitchFamily="34" charset="-120"/>
              </a:rPr>
              <a:t>测试与可视化</a:t>
            </a:r>
            <a:endParaRPr lang="en-US" sz="1600" dirty="0"/>
          </a:p>
        </p:txBody>
      </p:sp>
      <p:sp>
        <p:nvSpPr>
          <p:cNvPr id="14" name="Text 11"/>
          <p:cNvSpPr/>
          <p:nvPr/>
        </p:nvSpPr>
        <p:spPr>
          <a:xfrm>
            <a:off x="8194040" y="3975100"/>
            <a:ext cx="3218180" cy="2540635"/>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展示AlexNet模型的测试结果，通过ROC曲线等可视化手段分析模型性能。</a:t>
            </a:r>
            <a:endParaRPr lang="en-US" sz="1600" dirty="0"/>
          </a:p>
        </p:txBody>
      </p:sp>
      <p:sp>
        <p:nvSpPr>
          <p:cNvPr id="15" name="Shape 12"/>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6" name="Text 13"/>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17" name="Text 14"/>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AlexNet轻量化模型</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 name="文本框 2"/>
          <p:cNvSpPr txBox="1"/>
          <p:nvPr/>
        </p:nvSpPr>
        <p:spPr>
          <a:xfrm>
            <a:off x="647065" y="1266825"/>
            <a:ext cx="4064000" cy="645160"/>
          </a:xfrm>
          <a:prstGeom prst="rect">
            <a:avLst/>
          </a:prstGeom>
          <a:noFill/>
        </p:spPr>
        <p:txBody>
          <a:bodyPr wrap="square" rtlCol="0">
            <a:spAutoFit/>
          </a:bodyPr>
          <a:p>
            <a:r>
              <a:rPr lang="zh-CN" altLang="en-US">
                <a:solidFill>
                  <a:schemeClr val="bg1"/>
                </a:solidFill>
              </a:rPr>
              <a:t>四、向前传播与</a:t>
            </a:r>
            <a:r>
              <a:rPr lang="zh-CN" altLang="en-US">
                <a:solidFill>
                  <a:schemeClr val="bg1"/>
                </a:solidFill>
              </a:rPr>
              <a:t>误差计算</a:t>
            </a:r>
            <a:endParaRPr lang="zh-CN" altLang="en-US">
              <a:solidFill>
                <a:schemeClr val="bg1"/>
              </a:solidFill>
            </a:endParaRPr>
          </a:p>
          <a:p>
            <a:endParaRPr lang="zh-CN" altLang="en-US">
              <a:solidFill>
                <a:schemeClr val="bg1"/>
              </a:solidFill>
            </a:endParaRPr>
          </a:p>
        </p:txBody>
      </p:sp>
      <p:pic>
        <p:nvPicPr>
          <p:cNvPr id="34" name="图片 26"/>
          <p:cNvPicPr>
            <a:picLocks noChangeAspect="1"/>
          </p:cNvPicPr>
          <p:nvPr/>
        </p:nvPicPr>
        <p:blipFill>
          <a:blip r:embed="rId2"/>
          <a:stretch>
            <a:fillRect/>
          </a:stretch>
        </p:blipFill>
        <p:spPr>
          <a:xfrm>
            <a:off x="647065" y="1649095"/>
            <a:ext cx="4691380" cy="4927600"/>
          </a:xfrm>
          <a:prstGeom prst="rect">
            <a:avLst/>
          </a:prstGeom>
          <a:noFill/>
          <a:ln>
            <a:noFill/>
          </a:ln>
        </p:spPr>
      </p:pic>
      <p:sp>
        <p:nvSpPr>
          <p:cNvPr id="4" name="文本框 3"/>
          <p:cNvSpPr txBox="1"/>
          <p:nvPr/>
        </p:nvSpPr>
        <p:spPr>
          <a:xfrm>
            <a:off x="6210935" y="1280795"/>
            <a:ext cx="4064000" cy="368300"/>
          </a:xfrm>
          <a:prstGeom prst="rect">
            <a:avLst/>
          </a:prstGeom>
          <a:noFill/>
        </p:spPr>
        <p:txBody>
          <a:bodyPr wrap="square" rtlCol="0">
            <a:spAutoFit/>
          </a:bodyPr>
          <a:p>
            <a:r>
              <a:rPr lang="zh-CN" altLang="en-US">
                <a:solidFill>
                  <a:schemeClr val="bg1"/>
                </a:solidFill>
              </a:rPr>
              <a:t>五、预测</a:t>
            </a:r>
            <a:r>
              <a:rPr lang="zh-CN" altLang="en-US">
                <a:solidFill>
                  <a:schemeClr val="bg1"/>
                </a:solidFill>
              </a:rPr>
              <a:t>函数</a:t>
            </a:r>
            <a:endParaRPr lang="zh-CN" altLang="en-US">
              <a:solidFill>
                <a:schemeClr val="bg1"/>
              </a:solidFill>
            </a:endParaRPr>
          </a:p>
        </p:txBody>
      </p:sp>
      <p:pic>
        <p:nvPicPr>
          <p:cNvPr id="17" name="图片 3"/>
          <p:cNvPicPr>
            <a:picLocks noChangeAspect="1"/>
          </p:cNvPicPr>
          <p:nvPr/>
        </p:nvPicPr>
        <p:blipFill>
          <a:blip r:embed="rId3"/>
          <a:stretch>
            <a:fillRect/>
          </a:stretch>
        </p:blipFill>
        <p:spPr>
          <a:xfrm>
            <a:off x="6252845" y="1807845"/>
            <a:ext cx="5710555" cy="46888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559435" y="498475"/>
            <a:ext cx="4064000" cy="460375"/>
          </a:xfrm>
          <a:prstGeom prst="rect">
            <a:avLst/>
          </a:prstGeom>
          <a:noFill/>
        </p:spPr>
        <p:txBody>
          <a:bodyPr wrap="square" rtlCol="0">
            <a:spAutoFit/>
          </a:bodyPr>
          <a:p>
            <a:r>
              <a:rPr lang="en-US" altLang="zh-CN" sz="2400">
                <a:solidFill>
                  <a:schemeClr val="accent6"/>
                </a:solidFill>
              </a:rPr>
              <a:t>Alexnet </a:t>
            </a:r>
            <a:r>
              <a:rPr lang="zh-CN" altLang="en-US" sz="2400">
                <a:solidFill>
                  <a:schemeClr val="accent6"/>
                </a:solidFill>
              </a:rPr>
              <a:t>介绍</a:t>
            </a:r>
            <a:endParaRPr lang="zh-CN" altLang="en-US" sz="2400">
              <a:solidFill>
                <a:schemeClr val="accent6"/>
              </a:solidFill>
            </a:endParaRPr>
          </a:p>
        </p:txBody>
      </p:sp>
      <p:sp>
        <p:nvSpPr>
          <p:cNvPr id="3" name="文本框 2"/>
          <p:cNvSpPr txBox="1"/>
          <p:nvPr/>
        </p:nvSpPr>
        <p:spPr>
          <a:xfrm>
            <a:off x="690880" y="1551940"/>
            <a:ext cx="4064000" cy="4246245"/>
          </a:xfrm>
          <a:prstGeom prst="rect">
            <a:avLst/>
          </a:prstGeom>
          <a:noFill/>
        </p:spPr>
        <p:txBody>
          <a:bodyPr wrap="square" rtlCol="0">
            <a:spAutoFit/>
          </a:bodyPr>
          <a:p>
            <a:r>
              <a:rPr lang="en-US" altLang="zh-CN">
                <a:solidFill>
                  <a:schemeClr val="bg1"/>
                </a:solidFill>
              </a:rPr>
              <a:t>Alex</a:t>
            </a:r>
            <a:r>
              <a:rPr lang="zh-CN" altLang="en-US">
                <a:solidFill>
                  <a:schemeClr val="bg1"/>
                </a:solidFill>
              </a:rPr>
              <a:t>在</a:t>
            </a:r>
            <a:r>
              <a:rPr lang="en-US" altLang="zh-CN">
                <a:solidFill>
                  <a:schemeClr val="bg1"/>
                </a:solidFill>
              </a:rPr>
              <a:t>2012</a:t>
            </a:r>
            <a:r>
              <a:rPr lang="zh-CN" altLang="en-US">
                <a:solidFill>
                  <a:schemeClr val="bg1"/>
                </a:solidFill>
              </a:rPr>
              <a:t>年提出的</a:t>
            </a:r>
            <a:r>
              <a:rPr lang="en-US" altLang="zh-CN">
                <a:solidFill>
                  <a:schemeClr val="bg1"/>
                </a:solidFill>
              </a:rPr>
              <a:t>alexnet</a:t>
            </a:r>
            <a:r>
              <a:rPr lang="zh-CN" altLang="en-US">
                <a:solidFill>
                  <a:schemeClr val="bg1"/>
                </a:solidFill>
              </a:rPr>
              <a:t>网络结构模型引爆了神经网络的应用热潮，并赢得了</a:t>
            </a:r>
            <a:r>
              <a:rPr lang="en-US" altLang="zh-CN">
                <a:solidFill>
                  <a:schemeClr val="bg1"/>
                </a:solidFill>
              </a:rPr>
              <a:t>2012</a:t>
            </a:r>
            <a:r>
              <a:rPr lang="zh-CN" altLang="en-US">
                <a:solidFill>
                  <a:schemeClr val="bg1"/>
                </a:solidFill>
              </a:rPr>
              <a:t>届图像识别大赛的冠军，使得</a:t>
            </a:r>
            <a:r>
              <a:rPr lang="en-US" altLang="zh-CN">
                <a:solidFill>
                  <a:schemeClr val="bg1"/>
                </a:solidFill>
              </a:rPr>
              <a:t>CNN</a:t>
            </a:r>
            <a:r>
              <a:rPr lang="zh-CN" altLang="en-US">
                <a:solidFill>
                  <a:schemeClr val="bg1"/>
                </a:solidFill>
              </a:rPr>
              <a:t>成为在图像分类上的核心算法模型。</a:t>
            </a:r>
            <a:r>
              <a:rPr lang="en-US" altLang="en-US">
                <a:solidFill>
                  <a:schemeClr val="bg1"/>
                </a:solidFill>
              </a:rPr>
              <a:t> </a:t>
            </a:r>
            <a:endParaRPr lang="en-US" altLang="en-US">
              <a:solidFill>
                <a:schemeClr val="bg1"/>
              </a:solidFill>
            </a:endParaRPr>
          </a:p>
          <a:p>
            <a:r>
              <a:rPr lang="en-US" altLang="en-US">
                <a:solidFill>
                  <a:schemeClr val="bg1"/>
                </a:solidFill>
              </a:rPr>
              <a:t> </a:t>
            </a:r>
            <a:r>
              <a:rPr lang="zh-CN" altLang="en-US">
                <a:solidFill>
                  <a:schemeClr val="bg1"/>
                </a:solidFill>
              </a:rPr>
              <a:t>该网络的亮点在于：</a:t>
            </a:r>
            <a:endParaRPr lang="zh-CN" altLang="en-US">
              <a:solidFill>
                <a:schemeClr val="bg1"/>
              </a:solidFill>
            </a:endParaRPr>
          </a:p>
          <a:p>
            <a:r>
              <a:rPr lang="zh-CN" altLang="en-US">
                <a:solidFill>
                  <a:schemeClr val="bg1"/>
                </a:solidFill>
              </a:rPr>
              <a:t>（</a:t>
            </a:r>
            <a:r>
              <a:rPr lang="en-US" altLang="zh-CN">
                <a:solidFill>
                  <a:schemeClr val="bg1"/>
                </a:solidFill>
              </a:rPr>
              <a:t>1</a:t>
            </a:r>
            <a:r>
              <a:rPr lang="zh-CN" altLang="en-US">
                <a:solidFill>
                  <a:schemeClr val="bg1"/>
                </a:solidFill>
              </a:rPr>
              <a:t>）首次使用了</a:t>
            </a:r>
            <a:r>
              <a:rPr lang="en-US" altLang="zh-CN">
                <a:solidFill>
                  <a:schemeClr val="bg1"/>
                </a:solidFill>
              </a:rPr>
              <a:t>GPU</a:t>
            </a:r>
            <a:r>
              <a:rPr lang="zh-CN" altLang="en-US">
                <a:solidFill>
                  <a:schemeClr val="bg1"/>
                </a:solidFill>
              </a:rPr>
              <a:t>进行网络加速训练。</a:t>
            </a:r>
            <a:endParaRPr lang="zh-CN" altLang="en-US">
              <a:solidFill>
                <a:schemeClr val="bg1"/>
              </a:solidFill>
            </a:endParaRPr>
          </a:p>
          <a:p>
            <a:r>
              <a:rPr lang="zh-CN" altLang="en-US">
                <a:solidFill>
                  <a:schemeClr val="bg1"/>
                </a:solidFill>
              </a:rPr>
              <a:t>（</a:t>
            </a:r>
            <a:r>
              <a:rPr lang="en-US" altLang="zh-CN">
                <a:solidFill>
                  <a:schemeClr val="bg1"/>
                </a:solidFill>
              </a:rPr>
              <a:t>2</a:t>
            </a:r>
            <a:r>
              <a:rPr lang="zh-CN" altLang="en-US">
                <a:solidFill>
                  <a:schemeClr val="bg1"/>
                </a:solidFill>
              </a:rPr>
              <a:t>）使用了</a:t>
            </a:r>
            <a:r>
              <a:rPr lang="en-US" altLang="zh-CN">
                <a:solidFill>
                  <a:schemeClr val="bg1"/>
                </a:solidFill>
              </a:rPr>
              <a:t>ReLU</a:t>
            </a:r>
            <a:r>
              <a:rPr lang="zh-CN" altLang="en-US">
                <a:solidFill>
                  <a:schemeClr val="bg1"/>
                </a:solidFill>
              </a:rPr>
              <a:t>激活函数，而不是传统的</a:t>
            </a:r>
            <a:r>
              <a:rPr lang="en-US" altLang="zh-CN">
                <a:solidFill>
                  <a:schemeClr val="bg1"/>
                </a:solidFill>
              </a:rPr>
              <a:t>Sigmoid</a:t>
            </a:r>
            <a:r>
              <a:rPr lang="zh-CN" altLang="en-US">
                <a:solidFill>
                  <a:schemeClr val="bg1"/>
                </a:solidFill>
              </a:rPr>
              <a:t>激活函数以及</a:t>
            </a:r>
            <a:r>
              <a:rPr lang="en-US" altLang="zh-CN">
                <a:solidFill>
                  <a:schemeClr val="bg1"/>
                </a:solidFill>
              </a:rPr>
              <a:t>Tanh</a:t>
            </a:r>
            <a:r>
              <a:rPr lang="zh-CN" altLang="en-US">
                <a:solidFill>
                  <a:schemeClr val="bg1"/>
                </a:solidFill>
              </a:rPr>
              <a:t>激活函数。</a:t>
            </a:r>
            <a:endParaRPr lang="zh-CN" altLang="en-US">
              <a:solidFill>
                <a:schemeClr val="bg1"/>
              </a:solidFill>
            </a:endParaRPr>
          </a:p>
          <a:p>
            <a:r>
              <a:rPr lang="zh-CN" altLang="en-US">
                <a:solidFill>
                  <a:schemeClr val="bg1"/>
                </a:solidFill>
              </a:rPr>
              <a:t>（</a:t>
            </a:r>
            <a:r>
              <a:rPr lang="en-US" altLang="zh-CN">
                <a:solidFill>
                  <a:schemeClr val="bg1"/>
                </a:solidFill>
              </a:rPr>
              <a:t>3</a:t>
            </a:r>
            <a:r>
              <a:rPr lang="zh-CN" altLang="en-US">
                <a:solidFill>
                  <a:schemeClr val="bg1"/>
                </a:solidFill>
              </a:rPr>
              <a:t>）使用了</a:t>
            </a:r>
            <a:r>
              <a:rPr lang="en-US" altLang="zh-CN">
                <a:solidFill>
                  <a:schemeClr val="bg1"/>
                </a:solidFill>
              </a:rPr>
              <a:t>LRN</a:t>
            </a:r>
            <a:r>
              <a:rPr lang="zh-CN" altLang="en-US">
                <a:solidFill>
                  <a:schemeClr val="bg1"/>
                </a:solidFill>
              </a:rPr>
              <a:t>局部响应归一化。</a:t>
            </a:r>
            <a:endParaRPr lang="zh-CN" altLang="en-US">
              <a:solidFill>
                <a:schemeClr val="bg1"/>
              </a:solidFill>
            </a:endParaRPr>
          </a:p>
          <a:p>
            <a:r>
              <a:rPr lang="zh-CN" altLang="en-US">
                <a:solidFill>
                  <a:schemeClr val="bg1"/>
                </a:solidFill>
              </a:rPr>
              <a:t>（</a:t>
            </a:r>
            <a:r>
              <a:rPr lang="en-US" altLang="zh-CN">
                <a:solidFill>
                  <a:schemeClr val="bg1"/>
                </a:solidFill>
              </a:rPr>
              <a:t>4</a:t>
            </a:r>
            <a:r>
              <a:rPr lang="zh-CN" altLang="en-US">
                <a:solidFill>
                  <a:schemeClr val="bg1"/>
                </a:solidFill>
              </a:rPr>
              <a:t>）在全连接层的前两层中使用了</a:t>
            </a:r>
            <a:r>
              <a:rPr lang="en-US" altLang="zh-CN">
                <a:solidFill>
                  <a:schemeClr val="bg1"/>
                </a:solidFill>
              </a:rPr>
              <a:t>Droupout</a:t>
            </a:r>
            <a:r>
              <a:rPr lang="zh-CN" altLang="en-US">
                <a:solidFill>
                  <a:schemeClr val="bg1"/>
                </a:solidFill>
              </a:rPr>
              <a:t>随机失活神经元操作，以减少过拟合。</a:t>
            </a:r>
            <a:endParaRPr lang="zh-CN" altLang="en-US">
              <a:solidFill>
                <a:schemeClr val="bg1"/>
              </a:solidFill>
            </a:endParaRPr>
          </a:p>
        </p:txBody>
      </p:sp>
      <p:sp>
        <p:nvSpPr>
          <p:cNvPr id="5" name="文本框 4"/>
          <p:cNvSpPr txBox="1"/>
          <p:nvPr/>
        </p:nvSpPr>
        <p:spPr>
          <a:xfrm>
            <a:off x="6473825" y="1475105"/>
            <a:ext cx="4064000" cy="368300"/>
          </a:xfrm>
          <a:prstGeom prst="rect">
            <a:avLst/>
          </a:prstGeom>
          <a:noFill/>
        </p:spPr>
        <p:txBody>
          <a:bodyPr wrap="square" rtlCol="0">
            <a:spAutoFit/>
          </a:bodyPr>
          <a:p>
            <a:r>
              <a:rPr lang="en-US" altLang="zh-CN"/>
              <a:t>d</a:t>
            </a:r>
            <a:r>
              <a:rPr lang="zh-CN" altLang="en-US">
                <a:solidFill>
                  <a:schemeClr val="bg1"/>
                </a:solidFill>
              </a:rPr>
              <a:t>代码</a:t>
            </a:r>
            <a:r>
              <a:rPr lang="zh-CN" altLang="en-US">
                <a:solidFill>
                  <a:schemeClr val="bg1"/>
                </a:solidFill>
              </a:rPr>
              <a:t>实现：</a:t>
            </a:r>
            <a:endParaRPr lang="zh-CN" altLang="en-US">
              <a:solidFill>
                <a:schemeClr val="bg1"/>
              </a:solidFill>
            </a:endParaRPr>
          </a:p>
        </p:txBody>
      </p:sp>
      <p:pic>
        <p:nvPicPr>
          <p:cNvPr id="27" name="图片 6"/>
          <p:cNvPicPr>
            <a:picLocks noChangeAspect="1"/>
          </p:cNvPicPr>
          <p:nvPr/>
        </p:nvPicPr>
        <p:blipFill>
          <a:blip r:embed="rId2"/>
          <a:stretch>
            <a:fillRect/>
          </a:stretch>
        </p:blipFill>
        <p:spPr>
          <a:xfrm>
            <a:off x="6696710" y="1843405"/>
            <a:ext cx="5033010" cy="3889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文本框 3"/>
          <p:cNvSpPr txBox="1"/>
          <p:nvPr/>
        </p:nvSpPr>
        <p:spPr>
          <a:xfrm>
            <a:off x="614045" y="750570"/>
            <a:ext cx="4064000" cy="460375"/>
          </a:xfrm>
          <a:prstGeom prst="rect">
            <a:avLst/>
          </a:prstGeom>
          <a:noFill/>
        </p:spPr>
        <p:txBody>
          <a:bodyPr wrap="square" rtlCol="0">
            <a:spAutoFit/>
          </a:bodyPr>
          <a:p>
            <a:r>
              <a:rPr lang="zh-CN" altLang="en-US" sz="2400">
                <a:solidFill>
                  <a:schemeClr val="accent6"/>
                </a:solidFill>
              </a:rPr>
              <a:t>训练步骤</a:t>
            </a:r>
            <a:endParaRPr lang="zh-CN" altLang="en-US" sz="2400">
              <a:solidFill>
                <a:schemeClr val="accent6"/>
              </a:solidFill>
            </a:endParaRPr>
          </a:p>
        </p:txBody>
      </p:sp>
      <p:sp>
        <p:nvSpPr>
          <p:cNvPr id="7" name="文本框 6"/>
          <p:cNvSpPr txBox="1"/>
          <p:nvPr/>
        </p:nvSpPr>
        <p:spPr>
          <a:xfrm>
            <a:off x="745490" y="1497330"/>
            <a:ext cx="4064000" cy="4799965"/>
          </a:xfrm>
          <a:prstGeom prst="rect">
            <a:avLst/>
          </a:prstGeom>
          <a:noFill/>
        </p:spPr>
        <p:txBody>
          <a:bodyPr wrap="square" rtlCol="0">
            <a:spAutoFit/>
          </a:bodyPr>
          <a:p>
            <a:r>
              <a:rPr lang="en-US" altLang="zh-CN">
                <a:solidFill>
                  <a:schemeClr val="bg1"/>
                </a:solidFill>
              </a:rPr>
              <a:t>1.</a:t>
            </a:r>
            <a:r>
              <a:rPr lang="zh-CN" altLang="en-US">
                <a:solidFill>
                  <a:schemeClr val="bg1"/>
                </a:solidFill>
              </a:rPr>
              <a:t>数据准备</a:t>
            </a:r>
            <a:endParaRPr lang="zh-CN" altLang="en-US">
              <a:solidFill>
                <a:schemeClr val="bg1"/>
              </a:solidFill>
            </a:endParaRPr>
          </a:p>
          <a:p>
            <a:endParaRPr lang="zh-CN" altLang="en-US">
              <a:solidFill>
                <a:schemeClr val="bg1"/>
              </a:solidFill>
            </a:endParaRPr>
          </a:p>
          <a:p>
            <a:endParaRPr lang="zh-CN" altLang="en-US">
              <a:solidFill>
                <a:schemeClr val="bg1"/>
              </a:solidFill>
            </a:endParaRPr>
          </a:p>
          <a:p>
            <a:endParaRPr lang="zh-CN" altLang="en-US">
              <a:solidFill>
                <a:schemeClr val="bg1"/>
              </a:solidFill>
            </a:endParaRPr>
          </a:p>
          <a:p>
            <a:r>
              <a:rPr lang="en-US" altLang="zh-CN">
                <a:solidFill>
                  <a:schemeClr val="bg1"/>
                </a:solidFill>
              </a:rPr>
              <a:t>2.YOLO</a:t>
            </a:r>
            <a:r>
              <a:rPr lang="zh-CN" altLang="en-US">
                <a:solidFill>
                  <a:schemeClr val="bg1"/>
                </a:solidFill>
              </a:rPr>
              <a:t>数据标签</a:t>
            </a:r>
            <a:r>
              <a:rPr lang="zh-CN" altLang="en-US">
                <a:solidFill>
                  <a:schemeClr val="bg1"/>
                </a:solidFill>
              </a:rPr>
              <a:t>转换</a:t>
            </a:r>
            <a:endParaRPr lang="zh-CN" altLang="en-US">
              <a:solidFill>
                <a:schemeClr val="bg1"/>
              </a:solidFill>
            </a:endParaRPr>
          </a:p>
          <a:p>
            <a:endParaRPr lang="zh-CN" altLang="en-US">
              <a:solidFill>
                <a:schemeClr val="bg1"/>
              </a:solidFill>
            </a:endParaRPr>
          </a:p>
          <a:p>
            <a:endParaRPr lang="zh-CN" altLang="en-US">
              <a:solidFill>
                <a:schemeClr val="bg1"/>
              </a:solidFill>
            </a:endParaRPr>
          </a:p>
          <a:p>
            <a:endParaRPr lang="en-US" altLang="zh-CN">
              <a:solidFill>
                <a:schemeClr val="bg1"/>
              </a:solidFill>
            </a:endParaRPr>
          </a:p>
          <a:p>
            <a:r>
              <a:rPr lang="en-US" altLang="zh-CN">
                <a:solidFill>
                  <a:schemeClr val="bg1"/>
                </a:solidFill>
              </a:rPr>
              <a:t>3.</a:t>
            </a:r>
            <a:r>
              <a:rPr lang="zh-CN" altLang="en-US">
                <a:solidFill>
                  <a:schemeClr val="bg1"/>
                </a:solidFill>
              </a:rPr>
              <a:t>模型</a:t>
            </a:r>
            <a:r>
              <a:rPr lang="zh-CN" altLang="en-US">
                <a:solidFill>
                  <a:schemeClr val="bg1"/>
                </a:solidFill>
              </a:rPr>
              <a:t>训练</a:t>
            </a:r>
            <a:endParaRPr lang="zh-CN" altLang="en-US">
              <a:solidFill>
                <a:schemeClr val="bg1"/>
              </a:solidFill>
            </a:endParaRPr>
          </a:p>
          <a:p>
            <a:endParaRPr lang="zh-CN" altLang="en-US">
              <a:solidFill>
                <a:schemeClr val="bg1"/>
              </a:solidFill>
            </a:endParaRPr>
          </a:p>
          <a:p>
            <a:endParaRPr lang="zh-CN" altLang="en-US">
              <a:solidFill>
                <a:schemeClr val="bg1"/>
              </a:solidFill>
            </a:endParaRPr>
          </a:p>
          <a:p>
            <a:endParaRPr lang="zh-CN" altLang="en-US">
              <a:solidFill>
                <a:schemeClr val="bg1"/>
              </a:solidFill>
            </a:endParaRPr>
          </a:p>
          <a:p>
            <a:r>
              <a:rPr lang="en-US" altLang="zh-CN">
                <a:solidFill>
                  <a:schemeClr val="bg1"/>
                </a:solidFill>
              </a:rPr>
              <a:t>4.</a:t>
            </a:r>
            <a:r>
              <a:rPr lang="zh-CN" altLang="en-US">
                <a:solidFill>
                  <a:schemeClr val="bg1"/>
                </a:solidFill>
              </a:rPr>
              <a:t>验证与</a:t>
            </a:r>
            <a:r>
              <a:rPr lang="zh-CN" altLang="en-US">
                <a:solidFill>
                  <a:schemeClr val="bg1"/>
                </a:solidFill>
              </a:rPr>
              <a:t>保存</a:t>
            </a:r>
            <a:endParaRPr lang="zh-CN" altLang="en-US">
              <a:solidFill>
                <a:schemeClr val="bg1"/>
              </a:solidFill>
            </a:endParaRPr>
          </a:p>
          <a:p>
            <a:endParaRPr lang="zh-CN" altLang="en-US">
              <a:solidFill>
                <a:schemeClr val="bg1"/>
              </a:solidFill>
            </a:endParaRPr>
          </a:p>
          <a:p>
            <a:endParaRPr lang="zh-CN" altLang="en-US">
              <a:solidFill>
                <a:schemeClr val="bg1"/>
              </a:solidFill>
            </a:endParaRPr>
          </a:p>
          <a:p>
            <a:endParaRPr lang="zh-CN" altLang="en-US">
              <a:solidFill>
                <a:schemeClr val="bg1"/>
              </a:solidFill>
            </a:endParaRPr>
          </a:p>
          <a:p>
            <a:r>
              <a:rPr lang="en-US" altLang="zh-CN">
                <a:solidFill>
                  <a:schemeClr val="bg1"/>
                </a:solidFill>
              </a:rPr>
              <a:t>5.</a:t>
            </a:r>
            <a:r>
              <a:rPr lang="zh-CN" altLang="en-US">
                <a:solidFill>
                  <a:schemeClr val="bg1"/>
                </a:solidFill>
              </a:rPr>
              <a:t>预测并可视化</a:t>
            </a:r>
            <a:r>
              <a:rPr lang="zh-CN" altLang="en-US">
                <a:solidFill>
                  <a:schemeClr val="bg1"/>
                </a:solidFill>
              </a:rPr>
              <a:t>结果</a:t>
            </a:r>
            <a:endParaRPr lang="zh-CN" altLang="en-US">
              <a:solidFill>
                <a:schemeClr val="bg1"/>
              </a:solidFill>
            </a:endParaRPr>
          </a:p>
        </p:txBody>
      </p:sp>
      <p:pic>
        <p:nvPicPr>
          <p:cNvPr id="30" name="图片 7"/>
          <p:cNvPicPr>
            <a:picLocks noChangeAspect="1"/>
          </p:cNvPicPr>
          <p:nvPr/>
        </p:nvPicPr>
        <p:blipFill>
          <a:blip r:embed="rId2"/>
          <a:stretch>
            <a:fillRect/>
          </a:stretch>
        </p:blipFill>
        <p:spPr>
          <a:xfrm>
            <a:off x="4809490" y="100965"/>
            <a:ext cx="4311650" cy="3088640"/>
          </a:xfrm>
          <a:prstGeom prst="rect">
            <a:avLst/>
          </a:prstGeom>
          <a:noFill/>
          <a:ln>
            <a:noFill/>
          </a:ln>
        </p:spPr>
      </p:pic>
      <p:pic>
        <p:nvPicPr>
          <p:cNvPr id="31" name="图片 8"/>
          <p:cNvPicPr>
            <a:picLocks noChangeAspect="1"/>
          </p:cNvPicPr>
          <p:nvPr/>
        </p:nvPicPr>
        <p:blipFill>
          <a:blip r:embed="rId3"/>
          <a:stretch>
            <a:fillRect/>
          </a:stretch>
        </p:blipFill>
        <p:spPr>
          <a:xfrm>
            <a:off x="4809173" y="3289935"/>
            <a:ext cx="2991485" cy="3088640"/>
          </a:xfrm>
          <a:prstGeom prst="rect">
            <a:avLst/>
          </a:prstGeom>
          <a:noFill/>
          <a:ln>
            <a:noFill/>
          </a:ln>
        </p:spPr>
      </p:pic>
      <p:pic>
        <p:nvPicPr>
          <p:cNvPr id="35" name="图片 9"/>
          <p:cNvPicPr>
            <a:picLocks noChangeAspect="1"/>
          </p:cNvPicPr>
          <p:nvPr/>
        </p:nvPicPr>
        <p:blipFill>
          <a:blip r:embed="rId4"/>
          <a:stretch>
            <a:fillRect/>
          </a:stretch>
        </p:blipFill>
        <p:spPr>
          <a:xfrm>
            <a:off x="7800658" y="3289935"/>
            <a:ext cx="3736975" cy="308864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 name="文本框 2"/>
          <p:cNvSpPr txBox="1"/>
          <p:nvPr/>
        </p:nvSpPr>
        <p:spPr>
          <a:xfrm>
            <a:off x="723900" y="498475"/>
            <a:ext cx="4064000" cy="460375"/>
          </a:xfrm>
          <a:prstGeom prst="rect">
            <a:avLst/>
          </a:prstGeom>
          <a:noFill/>
        </p:spPr>
        <p:txBody>
          <a:bodyPr wrap="square" rtlCol="0">
            <a:spAutoFit/>
          </a:bodyPr>
          <a:p>
            <a:r>
              <a:rPr lang="zh-CN" altLang="en-US" sz="2400">
                <a:solidFill>
                  <a:schemeClr val="accent6"/>
                </a:solidFill>
              </a:rPr>
              <a:t>测试并输出可视化</a:t>
            </a:r>
            <a:endParaRPr lang="zh-CN" altLang="en-US" sz="2400">
              <a:solidFill>
                <a:schemeClr val="accent6"/>
              </a:solidFill>
            </a:endParaRPr>
          </a:p>
        </p:txBody>
      </p:sp>
      <p:pic>
        <p:nvPicPr>
          <p:cNvPr id="38" name="图片 12" descr="IMG_256"/>
          <p:cNvPicPr>
            <a:picLocks noChangeAspect="1"/>
          </p:cNvPicPr>
          <p:nvPr/>
        </p:nvPicPr>
        <p:blipFill>
          <a:blip r:embed="rId2"/>
          <a:stretch>
            <a:fillRect/>
          </a:stretch>
        </p:blipFill>
        <p:spPr>
          <a:xfrm>
            <a:off x="1380173" y="1036320"/>
            <a:ext cx="9431655" cy="561975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a:off x="1919605" y="-5283835"/>
            <a:ext cx="8323580" cy="8323580"/>
          </a:xfrm>
          <a:prstGeom prst="ellipse">
            <a:avLst/>
          </a:prstGeom>
          <a:solidFill>
            <a:srgbClr val="FFFFFF">
              <a:alpha val="5098"/>
            </a:srgbClr>
          </a:solidFill>
        </p:spPr>
      </p:sp>
      <p:sp>
        <p:nvSpPr>
          <p:cNvPr id="3" name="Text 1"/>
          <p:cNvSpPr/>
          <p:nvPr/>
        </p:nvSpPr>
        <p:spPr>
          <a:xfrm>
            <a:off x="1919605" y="-5283835"/>
            <a:ext cx="8323580" cy="8323580"/>
          </a:xfrm>
          <a:prstGeom prst="rect">
            <a:avLst/>
          </a:prstGeom>
          <a:noFill/>
        </p:spPr>
        <p:txBody>
          <a:bodyPr wrap="square" lIns="0" tIns="0" rIns="0" bIns="0" rtlCol="0" anchor="t"/>
          <a:lstStyle/>
          <a:p>
            <a:pPr marL="0" indent="0">
              <a:lnSpc>
                <a:spcPct val="100000"/>
              </a:lnSpc>
              <a:buNone/>
            </a:pPr>
            <a:endParaRPr lang="en-US" sz="1600" dirty="0"/>
          </a:p>
        </p:txBody>
      </p:sp>
      <p:sp>
        <p:nvSpPr>
          <p:cNvPr id="4" name="Shape 2"/>
          <p:cNvSpPr/>
          <p:nvPr/>
        </p:nvSpPr>
        <p:spPr>
          <a:xfrm>
            <a:off x="-3264535" y="3461385"/>
            <a:ext cx="5857240" cy="5857240"/>
          </a:xfrm>
          <a:prstGeom prst="ellipse">
            <a:avLst/>
          </a:prstGeom>
          <a:solidFill>
            <a:srgbClr val="FFFFFF">
              <a:alpha val="10196"/>
            </a:srgbClr>
          </a:solidFill>
        </p:spPr>
      </p:sp>
      <p:sp>
        <p:nvSpPr>
          <p:cNvPr id="5" name="Text 3"/>
          <p:cNvSpPr/>
          <p:nvPr/>
        </p:nvSpPr>
        <p:spPr>
          <a:xfrm>
            <a:off x="-3264535" y="3461385"/>
            <a:ext cx="5857240" cy="5857240"/>
          </a:xfrm>
          <a:prstGeom prst="rect">
            <a:avLst/>
          </a:prstGeom>
          <a:noFill/>
        </p:spPr>
        <p:txBody>
          <a:bodyPr wrap="square" lIns="0" tIns="0" rIns="0" bIns="0" rtlCol="0" anchor="t"/>
          <a:lstStyle/>
          <a:p>
            <a:pPr marL="0" indent="0">
              <a:lnSpc>
                <a:spcPct val="100000"/>
              </a:lnSpc>
              <a:buNone/>
            </a:pPr>
            <a:endParaRPr lang="en-US" sz="1600" dirty="0"/>
          </a:p>
        </p:txBody>
      </p:sp>
      <p:sp>
        <p:nvSpPr>
          <p:cNvPr id="6" name="Shape 4"/>
          <p:cNvSpPr/>
          <p:nvPr/>
        </p:nvSpPr>
        <p:spPr>
          <a:xfrm>
            <a:off x="9224645" y="3373120"/>
            <a:ext cx="4029075" cy="4029075"/>
          </a:xfrm>
          <a:prstGeom prst="ellipse">
            <a:avLst/>
          </a:prstGeom>
          <a:solidFill>
            <a:srgbClr val="FFFFFF">
              <a:alpha val="10196"/>
            </a:srgbClr>
          </a:solidFill>
        </p:spPr>
      </p:sp>
      <p:sp>
        <p:nvSpPr>
          <p:cNvPr id="7" name="Text 5"/>
          <p:cNvSpPr/>
          <p:nvPr/>
        </p:nvSpPr>
        <p:spPr>
          <a:xfrm>
            <a:off x="9224645" y="3373120"/>
            <a:ext cx="4029075" cy="4029075"/>
          </a:xfrm>
          <a:prstGeom prst="rect">
            <a:avLst/>
          </a:prstGeom>
          <a:noFill/>
        </p:spPr>
        <p:txBody>
          <a:bodyPr wrap="square" lIns="0" tIns="0" rIns="0" bIns="0" rtlCol="0" anchor="t"/>
          <a:lstStyle/>
          <a:p>
            <a:pPr marL="0" indent="0">
              <a:lnSpc>
                <a:spcPct val="100000"/>
              </a:lnSpc>
              <a:buNone/>
            </a:pPr>
            <a:endParaRPr lang="en-US" sz="1600" dirty="0"/>
          </a:p>
        </p:txBody>
      </p:sp>
      <p:sp>
        <p:nvSpPr>
          <p:cNvPr id="8" name="Shape 6"/>
          <p:cNvSpPr/>
          <p:nvPr/>
        </p:nvSpPr>
        <p:spPr>
          <a:xfrm rot="16200000">
            <a:off x="7044690" y="425450"/>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9" name="Text 7"/>
          <p:cNvSpPr/>
          <p:nvPr/>
        </p:nvSpPr>
        <p:spPr>
          <a:xfrm rot="16200000">
            <a:off x="7044690" y="425450"/>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16200000">
            <a:off x="4777105" y="-3001645"/>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11" name="Text 9"/>
          <p:cNvSpPr/>
          <p:nvPr/>
        </p:nvSpPr>
        <p:spPr>
          <a:xfrm rot="16200000">
            <a:off x="4777105" y="-3001645"/>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rot="16200000">
            <a:off x="5709920" y="-1296035"/>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13" name="Text 11"/>
          <p:cNvSpPr/>
          <p:nvPr/>
        </p:nvSpPr>
        <p:spPr>
          <a:xfrm rot="16200000">
            <a:off x="5709920" y="-1296035"/>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751938" y="3559536"/>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5" name="Text 13"/>
          <p:cNvSpPr/>
          <p:nvPr/>
        </p:nvSpPr>
        <p:spPr>
          <a:xfrm>
            <a:off x="1751938" y="3559536"/>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784198" y="1904091"/>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7" name="Text 15"/>
          <p:cNvSpPr/>
          <p:nvPr/>
        </p:nvSpPr>
        <p:spPr>
          <a:xfrm>
            <a:off x="784198" y="1904091"/>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3071468" y="5338806"/>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9" name="Text 17"/>
          <p:cNvSpPr/>
          <p:nvPr/>
        </p:nvSpPr>
        <p:spPr>
          <a:xfrm>
            <a:off x="3071468" y="5338806"/>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784199" y="2075110"/>
            <a:ext cx="665094" cy="295787"/>
          </a:xfrm>
          <a:prstGeom prst="rect">
            <a:avLst/>
          </a:prstGeom>
          <a:solidFill>
            <a:srgbClr val="000000">
              <a:alpha val="0"/>
            </a:srgbClr>
          </a:solidFill>
        </p:spPr>
      </p:sp>
      <p:sp>
        <p:nvSpPr>
          <p:cNvPr id="21" name="Text 19"/>
          <p:cNvSpPr/>
          <p:nvPr/>
        </p:nvSpPr>
        <p:spPr>
          <a:xfrm>
            <a:off x="784199" y="2075110"/>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22" name="Shape 20"/>
          <p:cNvSpPr/>
          <p:nvPr/>
        </p:nvSpPr>
        <p:spPr>
          <a:xfrm>
            <a:off x="1725064" y="3730950"/>
            <a:ext cx="665094" cy="295787"/>
          </a:xfrm>
          <a:prstGeom prst="rect">
            <a:avLst/>
          </a:prstGeom>
          <a:solidFill>
            <a:srgbClr val="000000">
              <a:alpha val="0"/>
            </a:srgbClr>
          </a:solidFill>
        </p:spPr>
      </p:sp>
      <p:sp>
        <p:nvSpPr>
          <p:cNvPr id="23" name="Text 21"/>
          <p:cNvSpPr/>
          <p:nvPr/>
        </p:nvSpPr>
        <p:spPr>
          <a:xfrm>
            <a:off x="1725064" y="3730950"/>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4" name="Shape 22"/>
          <p:cNvSpPr/>
          <p:nvPr/>
        </p:nvSpPr>
        <p:spPr>
          <a:xfrm>
            <a:off x="3057900" y="5527017"/>
            <a:ext cx="665094" cy="295787"/>
          </a:xfrm>
          <a:prstGeom prst="rect">
            <a:avLst/>
          </a:prstGeom>
          <a:solidFill>
            <a:srgbClr val="000000">
              <a:alpha val="0"/>
            </a:srgbClr>
          </a:solidFill>
        </p:spPr>
      </p:sp>
      <p:sp>
        <p:nvSpPr>
          <p:cNvPr id="25" name="Text 23"/>
          <p:cNvSpPr/>
          <p:nvPr/>
        </p:nvSpPr>
        <p:spPr>
          <a:xfrm>
            <a:off x="3057900" y="5527017"/>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6" name="Text 24"/>
          <p:cNvSpPr/>
          <p:nvPr/>
        </p:nvSpPr>
        <p:spPr>
          <a:xfrm>
            <a:off x="1644650" y="148590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ResNet模型介绍</a:t>
            </a:r>
            <a:endParaRPr lang="en-US" sz="1600" dirty="0"/>
          </a:p>
        </p:txBody>
      </p:sp>
      <p:sp>
        <p:nvSpPr>
          <p:cNvPr id="27" name="Text 25"/>
          <p:cNvSpPr/>
          <p:nvPr/>
        </p:nvSpPr>
        <p:spPr>
          <a:xfrm>
            <a:off x="1644649" y="1840229"/>
            <a:ext cx="7555229"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介绍ResNet模型的核心思想、残差连接的作用及其在深层网络训练中的优势。</a:t>
            </a:r>
            <a:endParaRPr lang="en-US" sz="1600" dirty="0"/>
          </a:p>
        </p:txBody>
      </p:sp>
      <p:sp>
        <p:nvSpPr>
          <p:cNvPr id="28" name="Text 26"/>
          <p:cNvSpPr/>
          <p:nvPr/>
        </p:nvSpPr>
        <p:spPr>
          <a:xfrm>
            <a:off x="2529840" y="324993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架构设计</a:t>
            </a:r>
            <a:endParaRPr lang="en-US" sz="1600" dirty="0"/>
          </a:p>
        </p:txBody>
      </p:sp>
      <p:sp>
        <p:nvSpPr>
          <p:cNvPr id="29" name="Text 27"/>
          <p:cNvSpPr/>
          <p:nvPr/>
        </p:nvSpPr>
        <p:spPr>
          <a:xfrm>
            <a:off x="2529839" y="3604260"/>
            <a:ext cx="7555232"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详细说明ResNet模型的网络结构组成、残差块设计及其在表情识别任务中的应用。</a:t>
            </a:r>
            <a:endParaRPr lang="en-US" sz="1600" dirty="0"/>
          </a:p>
        </p:txBody>
      </p:sp>
      <p:sp>
        <p:nvSpPr>
          <p:cNvPr id="30" name="Text 28"/>
          <p:cNvSpPr/>
          <p:nvPr/>
        </p:nvSpPr>
        <p:spPr>
          <a:xfrm>
            <a:off x="4034790" y="495300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训练流程</a:t>
            </a:r>
            <a:endParaRPr lang="en-US" sz="1600" dirty="0"/>
          </a:p>
        </p:txBody>
      </p:sp>
      <p:sp>
        <p:nvSpPr>
          <p:cNvPr id="31" name="Text 29"/>
          <p:cNvSpPr/>
          <p:nvPr/>
        </p:nvSpPr>
        <p:spPr>
          <a:xfrm>
            <a:off x="4034789" y="5307330"/>
            <a:ext cx="7555231"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展示ResNet模型的训练配置、数据准备、训练过程等，突出其在表情识别中的性能表现。</a:t>
            </a:r>
            <a:endParaRPr lang="en-US" sz="1600" dirty="0"/>
          </a:p>
        </p:txBody>
      </p:sp>
      <p:sp>
        <p:nvSpPr>
          <p:cNvPr id="32" name="Shape 30"/>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33" name="Text 31"/>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34" name="Text 32"/>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ResNet模型训练</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701675" y="410845"/>
            <a:ext cx="4064000" cy="460375"/>
          </a:xfrm>
          <a:prstGeom prst="rect">
            <a:avLst/>
          </a:prstGeom>
          <a:noFill/>
        </p:spPr>
        <p:txBody>
          <a:bodyPr wrap="square" rtlCol="0">
            <a:spAutoFit/>
          </a:bodyPr>
          <a:p>
            <a:r>
              <a:rPr lang="en-US" altLang="zh-CN" sz="2400">
                <a:solidFill>
                  <a:schemeClr val="accent6"/>
                </a:solidFill>
              </a:rPr>
              <a:t>Resnet</a:t>
            </a:r>
            <a:r>
              <a:rPr lang="zh-CN" altLang="en-US" sz="2400">
                <a:solidFill>
                  <a:schemeClr val="accent6"/>
                </a:solidFill>
              </a:rPr>
              <a:t>模型</a:t>
            </a:r>
            <a:r>
              <a:rPr lang="zh-CN" altLang="en-US" sz="2400">
                <a:solidFill>
                  <a:schemeClr val="accent6"/>
                </a:solidFill>
              </a:rPr>
              <a:t>介绍</a:t>
            </a:r>
            <a:endParaRPr lang="zh-CN" altLang="en-US" sz="2400">
              <a:solidFill>
                <a:schemeClr val="accent6"/>
              </a:solidFill>
            </a:endParaRPr>
          </a:p>
        </p:txBody>
      </p:sp>
      <p:sp>
        <p:nvSpPr>
          <p:cNvPr id="3" name="文本框 2"/>
          <p:cNvSpPr txBox="1"/>
          <p:nvPr/>
        </p:nvSpPr>
        <p:spPr>
          <a:xfrm>
            <a:off x="745490" y="1167765"/>
            <a:ext cx="10351135" cy="2306955"/>
          </a:xfrm>
          <a:prstGeom prst="rect">
            <a:avLst/>
          </a:prstGeom>
          <a:noFill/>
        </p:spPr>
        <p:txBody>
          <a:bodyPr wrap="square" rtlCol="0">
            <a:spAutoFit/>
          </a:bodyPr>
          <a:p>
            <a:r>
              <a:rPr lang="en-US" altLang="zh-CN" sz="2400">
                <a:solidFill>
                  <a:schemeClr val="bg1"/>
                </a:solidFill>
              </a:rPr>
              <a:t>ResNet</a:t>
            </a:r>
            <a:r>
              <a:rPr lang="zh-CN" altLang="en-US" sz="2400">
                <a:solidFill>
                  <a:schemeClr val="bg1"/>
                </a:solidFill>
              </a:rPr>
              <a:t>（残差网络）是一种深度卷积神经网络，其核心创新在于引入残差连接，有效解决了深层网络训练中的梯度消失和退化问题。通过</a:t>
            </a:r>
            <a:r>
              <a:rPr lang="en-US" altLang="zh-CN" sz="2400">
                <a:solidFill>
                  <a:schemeClr val="bg1"/>
                </a:solidFill>
              </a:rPr>
              <a:t> "</a:t>
            </a:r>
            <a:r>
              <a:rPr lang="zh-CN" altLang="en-US" sz="2400">
                <a:solidFill>
                  <a:schemeClr val="bg1"/>
                </a:solidFill>
              </a:rPr>
              <a:t>跳层连接</a:t>
            </a:r>
            <a:r>
              <a:rPr lang="en-US" altLang="zh-CN" sz="2400">
                <a:solidFill>
                  <a:schemeClr val="bg1"/>
                </a:solidFill>
              </a:rPr>
              <a:t>" </a:t>
            </a:r>
            <a:r>
              <a:rPr lang="zh-CN" altLang="en-US" sz="2400">
                <a:solidFill>
                  <a:schemeClr val="bg1"/>
                </a:solidFill>
              </a:rPr>
              <a:t>让网络学习输入与输出的残差映射，使得网络可以构建更深的结构而不会降低性能。本方案采用</a:t>
            </a:r>
            <a:r>
              <a:rPr lang="en-US" altLang="zh-CN" sz="2400">
                <a:solidFill>
                  <a:schemeClr val="bg1"/>
                </a:solidFill>
              </a:rPr>
              <a:t> ResNet-34 </a:t>
            </a:r>
            <a:r>
              <a:rPr lang="zh-CN" altLang="en-US" sz="2400">
                <a:solidFill>
                  <a:schemeClr val="bg1"/>
                </a:solidFill>
              </a:rPr>
              <a:t>架构，由基础残差块（</a:t>
            </a:r>
            <a:r>
              <a:rPr lang="en-US" altLang="zh-CN" sz="2400">
                <a:solidFill>
                  <a:schemeClr val="bg1"/>
                </a:solidFill>
              </a:rPr>
              <a:t>BasicBlock</a:t>
            </a:r>
            <a:r>
              <a:rPr lang="zh-CN" altLang="en-US" sz="2400">
                <a:solidFill>
                  <a:schemeClr val="bg1"/>
                </a:solidFill>
              </a:rPr>
              <a:t>）组成，具有</a:t>
            </a:r>
            <a:r>
              <a:rPr lang="en-US" altLang="zh-CN" sz="2400">
                <a:solidFill>
                  <a:schemeClr val="bg1"/>
                </a:solidFill>
              </a:rPr>
              <a:t> 34 </a:t>
            </a:r>
            <a:r>
              <a:rPr lang="zh-CN" altLang="en-US" sz="2400">
                <a:solidFill>
                  <a:schemeClr val="bg1"/>
                </a:solidFill>
              </a:rPr>
              <a:t>层网络结构，适合中等规模的图像分类任务，在表情识别场景中能够有效提取面部特征。</a:t>
            </a:r>
            <a:endParaRPr lang="zh-CN" altLang="en-US" sz="2400">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636270" y="520065"/>
            <a:ext cx="4064000" cy="460375"/>
          </a:xfrm>
          <a:prstGeom prst="rect">
            <a:avLst/>
          </a:prstGeom>
          <a:noFill/>
        </p:spPr>
        <p:txBody>
          <a:bodyPr wrap="square" rtlCol="0">
            <a:spAutoFit/>
          </a:bodyPr>
          <a:p>
            <a:r>
              <a:rPr lang="zh-CN" altLang="en-US" sz="2400">
                <a:solidFill>
                  <a:schemeClr val="accent6"/>
                </a:solidFill>
              </a:rPr>
              <a:t>架构</a:t>
            </a:r>
            <a:r>
              <a:rPr lang="zh-CN" altLang="en-US" sz="2400">
                <a:solidFill>
                  <a:schemeClr val="accent6"/>
                </a:solidFill>
              </a:rPr>
              <a:t>设计</a:t>
            </a:r>
            <a:endParaRPr lang="zh-CN" altLang="en-US" sz="2400">
              <a:solidFill>
                <a:schemeClr val="accent6"/>
              </a:solidFill>
            </a:endParaRPr>
          </a:p>
        </p:txBody>
      </p:sp>
      <p:sp>
        <p:nvSpPr>
          <p:cNvPr id="3" name="文本框 2"/>
          <p:cNvSpPr txBox="1"/>
          <p:nvPr/>
        </p:nvSpPr>
        <p:spPr>
          <a:xfrm>
            <a:off x="636270" y="1551940"/>
            <a:ext cx="4064000" cy="4523105"/>
          </a:xfrm>
          <a:prstGeom prst="rect">
            <a:avLst/>
          </a:prstGeom>
          <a:noFill/>
        </p:spPr>
        <p:txBody>
          <a:bodyPr wrap="square" rtlCol="0">
            <a:spAutoFit/>
          </a:bodyPr>
          <a:p>
            <a:r>
              <a:rPr lang="en-US" altLang="zh-CN">
                <a:solidFill>
                  <a:schemeClr val="bg1"/>
                </a:solidFill>
              </a:rPr>
              <a:t>1. </a:t>
            </a:r>
            <a:r>
              <a:rPr lang="zh-CN" altLang="en-US">
                <a:solidFill>
                  <a:schemeClr val="bg1"/>
                </a:solidFill>
              </a:rPr>
              <a:t>网络结构组成</a:t>
            </a:r>
            <a:endParaRPr lang="zh-CN" altLang="en-US">
              <a:solidFill>
                <a:schemeClr val="bg1"/>
              </a:solidFill>
            </a:endParaRPr>
          </a:p>
          <a:p>
            <a:r>
              <a:rPr lang="en-US" altLang="en-US">
                <a:solidFill>
                  <a:schemeClr val="bg1"/>
                </a:solidFill>
              </a:rPr>
              <a:t></a:t>
            </a:r>
            <a:r>
              <a:rPr lang="zh-CN" altLang="en-US">
                <a:solidFill>
                  <a:schemeClr val="bg1"/>
                </a:solidFill>
              </a:rPr>
              <a:t>输入层：</a:t>
            </a:r>
            <a:r>
              <a:rPr lang="en-US" altLang="zh-CN">
                <a:solidFill>
                  <a:schemeClr val="bg1"/>
                </a:solidFill>
              </a:rPr>
              <a:t>7</a:t>
            </a:r>
            <a:r>
              <a:rPr lang="en-US" altLang="en-US">
                <a:solidFill>
                  <a:schemeClr val="bg1"/>
                </a:solidFill>
              </a:rPr>
              <a:t>×</a:t>
            </a:r>
            <a:r>
              <a:rPr lang="en-US" altLang="zh-CN">
                <a:solidFill>
                  <a:schemeClr val="bg1"/>
                </a:solidFill>
              </a:rPr>
              <a:t>7 </a:t>
            </a:r>
            <a:r>
              <a:rPr lang="zh-CN" altLang="en-US">
                <a:solidFill>
                  <a:schemeClr val="bg1"/>
                </a:solidFill>
              </a:rPr>
              <a:t>卷积层，</a:t>
            </a:r>
            <a:r>
              <a:rPr lang="en-US" altLang="zh-CN">
                <a:solidFill>
                  <a:schemeClr val="bg1"/>
                </a:solidFill>
              </a:rPr>
              <a:t>64 </a:t>
            </a:r>
            <a:r>
              <a:rPr lang="zh-CN" altLang="en-US">
                <a:solidFill>
                  <a:schemeClr val="bg1"/>
                </a:solidFill>
              </a:rPr>
              <a:t>个输出通道，步长为</a:t>
            </a:r>
            <a:r>
              <a:rPr lang="en-US" altLang="zh-CN">
                <a:solidFill>
                  <a:schemeClr val="bg1"/>
                </a:solidFill>
              </a:rPr>
              <a:t> 2</a:t>
            </a:r>
            <a:r>
              <a:rPr lang="zh-CN" altLang="en-US">
                <a:solidFill>
                  <a:schemeClr val="bg1"/>
                </a:solidFill>
              </a:rPr>
              <a:t>，用于初步提取图像特征</a:t>
            </a:r>
            <a:endParaRPr lang="zh-CN" altLang="en-US">
              <a:solidFill>
                <a:schemeClr val="bg1"/>
              </a:solidFill>
            </a:endParaRPr>
          </a:p>
          <a:p>
            <a:r>
              <a:rPr lang="en-US" altLang="en-US">
                <a:solidFill>
                  <a:schemeClr val="bg1"/>
                </a:solidFill>
              </a:rPr>
              <a:t></a:t>
            </a:r>
            <a:r>
              <a:rPr lang="zh-CN" altLang="en-US">
                <a:solidFill>
                  <a:schemeClr val="bg1"/>
                </a:solidFill>
              </a:rPr>
              <a:t>下采样层：</a:t>
            </a:r>
            <a:r>
              <a:rPr lang="en-US" altLang="zh-CN">
                <a:solidFill>
                  <a:schemeClr val="bg1"/>
                </a:solidFill>
              </a:rPr>
              <a:t>3</a:t>
            </a:r>
            <a:r>
              <a:rPr lang="en-US" altLang="en-US">
                <a:solidFill>
                  <a:schemeClr val="bg1"/>
                </a:solidFill>
              </a:rPr>
              <a:t>×</a:t>
            </a:r>
            <a:r>
              <a:rPr lang="en-US" altLang="zh-CN">
                <a:solidFill>
                  <a:schemeClr val="bg1"/>
                </a:solidFill>
              </a:rPr>
              <a:t>3 </a:t>
            </a:r>
            <a:r>
              <a:rPr lang="zh-CN" altLang="en-US">
                <a:solidFill>
                  <a:schemeClr val="bg1"/>
                </a:solidFill>
              </a:rPr>
              <a:t>最大池化层，步长为</a:t>
            </a:r>
            <a:r>
              <a:rPr lang="en-US" altLang="zh-CN">
                <a:solidFill>
                  <a:schemeClr val="bg1"/>
                </a:solidFill>
              </a:rPr>
              <a:t> 2</a:t>
            </a:r>
            <a:r>
              <a:rPr lang="zh-CN" altLang="en-US">
                <a:solidFill>
                  <a:schemeClr val="bg1"/>
                </a:solidFill>
              </a:rPr>
              <a:t>，减小特征图尺寸</a:t>
            </a:r>
            <a:endParaRPr lang="zh-CN" altLang="en-US">
              <a:solidFill>
                <a:schemeClr val="bg1"/>
              </a:solidFill>
            </a:endParaRPr>
          </a:p>
          <a:p>
            <a:r>
              <a:rPr lang="en-US" altLang="en-US">
                <a:solidFill>
                  <a:schemeClr val="bg1"/>
                </a:solidFill>
              </a:rPr>
              <a:t></a:t>
            </a:r>
            <a:r>
              <a:rPr lang="zh-CN" altLang="en-US">
                <a:solidFill>
                  <a:schemeClr val="bg1"/>
                </a:solidFill>
              </a:rPr>
              <a:t>残差层：由</a:t>
            </a:r>
            <a:r>
              <a:rPr lang="en-US" altLang="zh-CN">
                <a:solidFill>
                  <a:schemeClr val="bg1"/>
                </a:solidFill>
              </a:rPr>
              <a:t> 4 </a:t>
            </a:r>
            <a:r>
              <a:rPr lang="zh-CN" altLang="en-US">
                <a:solidFill>
                  <a:schemeClr val="bg1"/>
                </a:solidFill>
              </a:rPr>
              <a:t>组残差块组成，具体配置为：</a:t>
            </a:r>
            <a:endParaRPr lang="zh-CN" altLang="en-US">
              <a:solidFill>
                <a:schemeClr val="bg1"/>
              </a:solidFill>
            </a:endParaRPr>
          </a:p>
          <a:p>
            <a:r>
              <a:rPr lang="en-US" altLang="en-US">
                <a:solidFill>
                  <a:schemeClr val="bg1"/>
                </a:solidFill>
              </a:rPr>
              <a:t></a:t>
            </a:r>
            <a:r>
              <a:rPr lang="en-US" altLang="zh-CN">
                <a:solidFill>
                  <a:schemeClr val="bg1"/>
                </a:solidFill>
              </a:rPr>
              <a:t>layer1</a:t>
            </a:r>
            <a:r>
              <a:rPr lang="zh-CN" altLang="en-US">
                <a:solidFill>
                  <a:schemeClr val="bg1"/>
                </a:solidFill>
              </a:rPr>
              <a:t>：</a:t>
            </a:r>
            <a:r>
              <a:rPr lang="en-US" altLang="zh-CN">
                <a:solidFill>
                  <a:schemeClr val="bg1"/>
                </a:solidFill>
              </a:rPr>
              <a:t>3 </a:t>
            </a:r>
            <a:r>
              <a:rPr lang="zh-CN" altLang="en-US">
                <a:solidFill>
                  <a:schemeClr val="bg1"/>
                </a:solidFill>
              </a:rPr>
              <a:t>个</a:t>
            </a:r>
            <a:r>
              <a:rPr lang="en-US" altLang="zh-CN">
                <a:solidFill>
                  <a:schemeClr val="bg1"/>
                </a:solidFill>
              </a:rPr>
              <a:t> BasicBlock</a:t>
            </a:r>
            <a:r>
              <a:rPr lang="zh-CN" altLang="en-US">
                <a:solidFill>
                  <a:schemeClr val="bg1"/>
                </a:solidFill>
              </a:rPr>
              <a:t>，</a:t>
            </a:r>
            <a:r>
              <a:rPr lang="en-US" altLang="zh-CN">
                <a:solidFill>
                  <a:schemeClr val="bg1"/>
                </a:solidFill>
              </a:rPr>
              <a:t>64 </a:t>
            </a:r>
            <a:r>
              <a:rPr lang="zh-CN" altLang="en-US">
                <a:solidFill>
                  <a:schemeClr val="bg1"/>
                </a:solidFill>
              </a:rPr>
              <a:t>个通道</a:t>
            </a:r>
            <a:endParaRPr lang="zh-CN" altLang="en-US">
              <a:solidFill>
                <a:schemeClr val="bg1"/>
              </a:solidFill>
            </a:endParaRPr>
          </a:p>
          <a:p>
            <a:r>
              <a:rPr lang="en-US" altLang="en-US">
                <a:solidFill>
                  <a:schemeClr val="bg1"/>
                </a:solidFill>
              </a:rPr>
              <a:t></a:t>
            </a:r>
            <a:r>
              <a:rPr lang="en-US" altLang="zh-CN">
                <a:solidFill>
                  <a:schemeClr val="bg1"/>
                </a:solidFill>
              </a:rPr>
              <a:t>layer2</a:t>
            </a:r>
            <a:r>
              <a:rPr lang="zh-CN" altLang="en-US">
                <a:solidFill>
                  <a:schemeClr val="bg1"/>
                </a:solidFill>
              </a:rPr>
              <a:t>：</a:t>
            </a:r>
            <a:r>
              <a:rPr lang="en-US" altLang="zh-CN">
                <a:solidFill>
                  <a:schemeClr val="bg1"/>
                </a:solidFill>
              </a:rPr>
              <a:t>4 </a:t>
            </a:r>
            <a:r>
              <a:rPr lang="zh-CN" altLang="en-US">
                <a:solidFill>
                  <a:schemeClr val="bg1"/>
                </a:solidFill>
              </a:rPr>
              <a:t>个</a:t>
            </a:r>
            <a:r>
              <a:rPr lang="en-US" altLang="zh-CN">
                <a:solidFill>
                  <a:schemeClr val="bg1"/>
                </a:solidFill>
              </a:rPr>
              <a:t> BasicBlock</a:t>
            </a:r>
            <a:r>
              <a:rPr lang="zh-CN" altLang="en-US">
                <a:solidFill>
                  <a:schemeClr val="bg1"/>
                </a:solidFill>
              </a:rPr>
              <a:t>，</a:t>
            </a:r>
            <a:r>
              <a:rPr lang="en-US" altLang="zh-CN">
                <a:solidFill>
                  <a:schemeClr val="bg1"/>
                </a:solidFill>
              </a:rPr>
              <a:t>128 </a:t>
            </a:r>
            <a:r>
              <a:rPr lang="zh-CN" altLang="en-US">
                <a:solidFill>
                  <a:schemeClr val="bg1"/>
                </a:solidFill>
              </a:rPr>
              <a:t>个通道，包含下采样</a:t>
            </a:r>
            <a:endParaRPr lang="zh-CN" altLang="en-US">
              <a:solidFill>
                <a:schemeClr val="bg1"/>
              </a:solidFill>
            </a:endParaRPr>
          </a:p>
          <a:p>
            <a:r>
              <a:rPr lang="en-US" altLang="en-US">
                <a:solidFill>
                  <a:schemeClr val="bg1"/>
                </a:solidFill>
              </a:rPr>
              <a:t></a:t>
            </a:r>
            <a:r>
              <a:rPr lang="en-US" altLang="zh-CN">
                <a:solidFill>
                  <a:schemeClr val="bg1"/>
                </a:solidFill>
              </a:rPr>
              <a:t>layer3</a:t>
            </a:r>
            <a:r>
              <a:rPr lang="zh-CN" altLang="en-US">
                <a:solidFill>
                  <a:schemeClr val="bg1"/>
                </a:solidFill>
              </a:rPr>
              <a:t>：</a:t>
            </a:r>
            <a:r>
              <a:rPr lang="en-US" altLang="zh-CN">
                <a:solidFill>
                  <a:schemeClr val="bg1"/>
                </a:solidFill>
              </a:rPr>
              <a:t>6 </a:t>
            </a:r>
            <a:r>
              <a:rPr lang="zh-CN" altLang="en-US">
                <a:solidFill>
                  <a:schemeClr val="bg1"/>
                </a:solidFill>
              </a:rPr>
              <a:t>个</a:t>
            </a:r>
            <a:r>
              <a:rPr lang="en-US" altLang="zh-CN">
                <a:solidFill>
                  <a:schemeClr val="bg1"/>
                </a:solidFill>
              </a:rPr>
              <a:t> BasicBlock</a:t>
            </a:r>
            <a:r>
              <a:rPr lang="zh-CN" altLang="en-US">
                <a:solidFill>
                  <a:schemeClr val="bg1"/>
                </a:solidFill>
              </a:rPr>
              <a:t>，</a:t>
            </a:r>
            <a:r>
              <a:rPr lang="en-US" altLang="zh-CN">
                <a:solidFill>
                  <a:schemeClr val="bg1"/>
                </a:solidFill>
              </a:rPr>
              <a:t>256 </a:t>
            </a:r>
            <a:r>
              <a:rPr lang="zh-CN" altLang="en-US">
                <a:solidFill>
                  <a:schemeClr val="bg1"/>
                </a:solidFill>
              </a:rPr>
              <a:t>个通道，包含下采样</a:t>
            </a:r>
            <a:endParaRPr lang="zh-CN" altLang="en-US">
              <a:solidFill>
                <a:schemeClr val="bg1"/>
              </a:solidFill>
            </a:endParaRPr>
          </a:p>
          <a:p>
            <a:r>
              <a:rPr lang="en-US" altLang="en-US">
                <a:solidFill>
                  <a:schemeClr val="bg1"/>
                </a:solidFill>
              </a:rPr>
              <a:t></a:t>
            </a:r>
            <a:r>
              <a:rPr lang="en-US" altLang="zh-CN">
                <a:solidFill>
                  <a:schemeClr val="bg1"/>
                </a:solidFill>
              </a:rPr>
              <a:t>layer4</a:t>
            </a:r>
            <a:r>
              <a:rPr lang="zh-CN" altLang="en-US">
                <a:solidFill>
                  <a:schemeClr val="bg1"/>
                </a:solidFill>
              </a:rPr>
              <a:t>：</a:t>
            </a:r>
            <a:r>
              <a:rPr lang="en-US" altLang="zh-CN">
                <a:solidFill>
                  <a:schemeClr val="bg1"/>
                </a:solidFill>
              </a:rPr>
              <a:t>3 </a:t>
            </a:r>
            <a:r>
              <a:rPr lang="zh-CN" altLang="en-US">
                <a:solidFill>
                  <a:schemeClr val="bg1"/>
                </a:solidFill>
              </a:rPr>
              <a:t>个</a:t>
            </a:r>
            <a:r>
              <a:rPr lang="en-US" altLang="zh-CN">
                <a:solidFill>
                  <a:schemeClr val="bg1"/>
                </a:solidFill>
              </a:rPr>
              <a:t> BasicBlock</a:t>
            </a:r>
            <a:r>
              <a:rPr lang="zh-CN" altLang="en-US">
                <a:solidFill>
                  <a:schemeClr val="bg1"/>
                </a:solidFill>
              </a:rPr>
              <a:t>，</a:t>
            </a:r>
            <a:r>
              <a:rPr lang="en-US" altLang="zh-CN">
                <a:solidFill>
                  <a:schemeClr val="bg1"/>
                </a:solidFill>
              </a:rPr>
              <a:t>512 </a:t>
            </a:r>
            <a:r>
              <a:rPr lang="zh-CN" altLang="en-US">
                <a:solidFill>
                  <a:schemeClr val="bg1"/>
                </a:solidFill>
              </a:rPr>
              <a:t>个通道，包含下采样</a:t>
            </a:r>
            <a:endParaRPr lang="zh-CN" altLang="en-US">
              <a:solidFill>
                <a:schemeClr val="bg1"/>
              </a:solidFill>
            </a:endParaRPr>
          </a:p>
          <a:p>
            <a:r>
              <a:rPr lang="en-US" altLang="en-US">
                <a:solidFill>
                  <a:schemeClr val="bg1"/>
                </a:solidFill>
              </a:rPr>
              <a:t></a:t>
            </a:r>
            <a:r>
              <a:rPr lang="zh-CN" altLang="en-US">
                <a:solidFill>
                  <a:schemeClr val="bg1"/>
                </a:solidFill>
              </a:rPr>
              <a:t>输出层：全局平均池化层</a:t>
            </a:r>
            <a:r>
              <a:rPr lang="en-US" altLang="zh-CN">
                <a:solidFill>
                  <a:schemeClr val="bg1"/>
                </a:solidFill>
              </a:rPr>
              <a:t> + </a:t>
            </a:r>
            <a:r>
              <a:rPr lang="zh-CN" altLang="en-US">
                <a:solidFill>
                  <a:schemeClr val="bg1"/>
                </a:solidFill>
              </a:rPr>
              <a:t>全连接层，输出</a:t>
            </a:r>
            <a:r>
              <a:rPr lang="en-US" altLang="zh-CN">
                <a:solidFill>
                  <a:schemeClr val="bg1"/>
                </a:solidFill>
              </a:rPr>
              <a:t> 9 </a:t>
            </a:r>
            <a:r>
              <a:rPr lang="zh-CN" altLang="en-US">
                <a:solidFill>
                  <a:schemeClr val="bg1"/>
                </a:solidFill>
              </a:rPr>
              <a:t>维向量对应</a:t>
            </a:r>
            <a:r>
              <a:rPr lang="en-US" altLang="zh-CN">
                <a:solidFill>
                  <a:schemeClr val="bg1"/>
                </a:solidFill>
              </a:rPr>
              <a:t> 9 </a:t>
            </a:r>
            <a:r>
              <a:rPr lang="zh-CN" altLang="en-US">
                <a:solidFill>
                  <a:schemeClr val="bg1"/>
                </a:solidFill>
              </a:rPr>
              <a:t>种表情类别</a:t>
            </a:r>
            <a:endParaRPr lang="zh-CN" altLang="en-US">
              <a:solidFill>
                <a:schemeClr val="bg1"/>
              </a:solidFill>
            </a:endParaRPr>
          </a:p>
        </p:txBody>
      </p:sp>
      <p:sp>
        <p:nvSpPr>
          <p:cNvPr id="4" name="文本框 3"/>
          <p:cNvSpPr txBox="1"/>
          <p:nvPr/>
        </p:nvSpPr>
        <p:spPr>
          <a:xfrm>
            <a:off x="6419215" y="1551940"/>
            <a:ext cx="4064000" cy="3138170"/>
          </a:xfrm>
          <a:prstGeom prst="rect">
            <a:avLst/>
          </a:prstGeom>
          <a:noFill/>
        </p:spPr>
        <p:txBody>
          <a:bodyPr wrap="square" rtlCol="0">
            <a:spAutoFit/>
          </a:bodyPr>
          <a:p>
            <a:r>
              <a:rPr lang="en-US" altLang="zh-CN">
                <a:solidFill>
                  <a:schemeClr val="bg1"/>
                </a:solidFill>
              </a:rPr>
              <a:t>2. </a:t>
            </a:r>
            <a:r>
              <a:rPr lang="zh-CN" altLang="en-US">
                <a:solidFill>
                  <a:schemeClr val="bg1"/>
                </a:solidFill>
              </a:rPr>
              <a:t>残差块设计</a:t>
            </a:r>
            <a:endParaRPr lang="zh-CN" altLang="en-US">
              <a:solidFill>
                <a:schemeClr val="bg1"/>
              </a:solidFill>
            </a:endParaRPr>
          </a:p>
          <a:p>
            <a:r>
              <a:rPr lang="en-US" altLang="zh-CN">
                <a:solidFill>
                  <a:schemeClr val="bg1"/>
                </a:solidFill>
              </a:rPr>
              <a:t>BasicBlock </a:t>
            </a:r>
            <a:r>
              <a:rPr lang="zh-CN" altLang="en-US">
                <a:solidFill>
                  <a:schemeClr val="bg1"/>
                </a:solidFill>
              </a:rPr>
              <a:t>是</a:t>
            </a:r>
            <a:r>
              <a:rPr lang="en-US" altLang="zh-CN">
                <a:solidFill>
                  <a:schemeClr val="bg1"/>
                </a:solidFill>
              </a:rPr>
              <a:t> ResNet </a:t>
            </a:r>
            <a:r>
              <a:rPr lang="zh-CN" altLang="en-US">
                <a:solidFill>
                  <a:schemeClr val="bg1"/>
                </a:solidFill>
              </a:rPr>
              <a:t>的基本组成单元，其结构如下：</a:t>
            </a:r>
            <a:endParaRPr lang="zh-CN" altLang="en-US">
              <a:solidFill>
                <a:schemeClr val="bg1"/>
              </a:solidFill>
            </a:endParaRPr>
          </a:p>
          <a:p>
            <a:endParaRPr lang="en-US" altLang="zh-CN">
              <a:solidFill>
                <a:schemeClr val="bg1"/>
              </a:solidFill>
            </a:endParaRPr>
          </a:p>
          <a:p>
            <a:r>
              <a:rPr lang="en-US" altLang="en-US">
                <a:solidFill>
                  <a:schemeClr val="bg1"/>
                </a:solidFill>
              </a:rPr>
              <a:t></a:t>
            </a:r>
            <a:r>
              <a:rPr lang="zh-CN" altLang="en-US">
                <a:solidFill>
                  <a:schemeClr val="bg1"/>
                </a:solidFill>
              </a:rPr>
              <a:t>包含两条路径：主路径和残差路径</a:t>
            </a:r>
            <a:endParaRPr lang="zh-CN" altLang="en-US">
              <a:solidFill>
                <a:schemeClr val="bg1"/>
              </a:solidFill>
            </a:endParaRPr>
          </a:p>
          <a:p>
            <a:r>
              <a:rPr lang="en-US" altLang="en-US">
                <a:solidFill>
                  <a:schemeClr val="bg1"/>
                </a:solidFill>
              </a:rPr>
              <a:t></a:t>
            </a:r>
            <a:r>
              <a:rPr lang="zh-CN" altLang="en-US">
                <a:solidFill>
                  <a:schemeClr val="bg1"/>
                </a:solidFill>
              </a:rPr>
              <a:t>主路径：两个</a:t>
            </a:r>
            <a:r>
              <a:rPr lang="en-US" altLang="zh-CN">
                <a:solidFill>
                  <a:schemeClr val="bg1"/>
                </a:solidFill>
              </a:rPr>
              <a:t> 3</a:t>
            </a:r>
            <a:r>
              <a:rPr lang="en-US" altLang="en-US">
                <a:solidFill>
                  <a:schemeClr val="bg1"/>
                </a:solidFill>
              </a:rPr>
              <a:t>×</a:t>
            </a:r>
            <a:r>
              <a:rPr lang="en-US" altLang="zh-CN">
                <a:solidFill>
                  <a:schemeClr val="bg1"/>
                </a:solidFill>
              </a:rPr>
              <a:t>3 </a:t>
            </a:r>
            <a:r>
              <a:rPr lang="zh-CN" altLang="en-US">
                <a:solidFill>
                  <a:schemeClr val="bg1"/>
                </a:solidFill>
              </a:rPr>
              <a:t>卷积层，每个卷积后接批量归一化和</a:t>
            </a:r>
            <a:r>
              <a:rPr lang="en-US" altLang="zh-CN">
                <a:solidFill>
                  <a:schemeClr val="bg1"/>
                </a:solidFill>
              </a:rPr>
              <a:t> ReLU </a:t>
            </a:r>
            <a:r>
              <a:rPr lang="zh-CN" altLang="en-US">
                <a:solidFill>
                  <a:schemeClr val="bg1"/>
                </a:solidFill>
              </a:rPr>
              <a:t>激活函数</a:t>
            </a:r>
            <a:endParaRPr lang="zh-CN" altLang="en-US">
              <a:solidFill>
                <a:schemeClr val="bg1"/>
              </a:solidFill>
            </a:endParaRPr>
          </a:p>
          <a:p>
            <a:r>
              <a:rPr lang="en-US" altLang="en-US">
                <a:solidFill>
                  <a:schemeClr val="bg1"/>
                </a:solidFill>
              </a:rPr>
              <a:t></a:t>
            </a:r>
            <a:r>
              <a:rPr lang="zh-CN" altLang="en-US">
                <a:solidFill>
                  <a:schemeClr val="bg1"/>
                </a:solidFill>
              </a:rPr>
              <a:t>残差路径：当输入输出维度不匹配时使用</a:t>
            </a:r>
            <a:r>
              <a:rPr lang="en-US" altLang="zh-CN">
                <a:solidFill>
                  <a:schemeClr val="bg1"/>
                </a:solidFill>
              </a:rPr>
              <a:t> 1</a:t>
            </a:r>
            <a:r>
              <a:rPr lang="en-US" altLang="en-US">
                <a:solidFill>
                  <a:schemeClr val="bg1"/>
                </a:solidFill>
              </a:rPr>
              <a:t>×</a:t>
            </a:r>
            <a:r>
              <a:rPr lang="en-US" altLang="zh-CN">
                <a:solidFill>
                  <a:schemeClr val="bg1"/>
                </a:solidFill>
              </a:rPr>
              <a:t>1 </a:t>
            </a:r>
            <a:r>
              <a:rPr lang="zh-CN" altLang="en-US">
                <a:solidFill>
                  <a:schemeClr val="bg1"/>
                </a:solidFill>
              </a:rPr>
              <a:t>卷积进行维度匹配</a:t>
            </a:r>
            <a:endParaRPr lang="zh-CN" altLang="en-US">
              <a:solidFill>
                <a:schemeClr val="bg1"/>
              </a:solidFill>
            </a:endParaRPr>
          </a:p>
          <a:p>
            <a:r>
              <a:rPr lang="en-US" altLang="en-US">
                <a:solidFill>
                  <a:schemeClr val="bg1"/>
                </a:solidFill>
              </a:rPr>
              <a:t></a:t>
            </a:r>
            <a:r>
              <a:rPr lang="zh-CN" altLang="en-US">
                <a:solidFill>
                  <a:schemeClr val="bg1"/>
                </a:solidFill>
              </a:rPr>
              <a:t>最终输出为主路径与残差路径的和，再经过</a:t>
            </a:r>
            <a:r>
              <a:rPr lang="en-US" altLang="zh-CN">
                <a:solidFill>
                  <a:schemeClr val="bg1"/>
                </a:solidFill>
              </a:rPr>
              <a:t> ReLU </a:t>
            </a:r>
            <a:r>
              <a:rPr lang="zh-CN" altLang="en-US">
                <a:solidFill>
                  <a:schemeClr val="bg1"/>
                </a:solidFill>
              </a:rPr>
              <a:t>激活</a:t>
            </a:r>
            <a:endParaRPr lang="zh-CN" altLang="en-US">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690880" y="388620"/>
            <a:ext cx="4064000" cy="460375"/>
          </a:xfrm>
          <a:prstGeom prst="rect">
            <a:avLst/>
          </a:prstGeom>
          <a:noFill/>
        </p:spPr>
        <p:txBody>
          <a:bodyPr wrap="square" rtlCol="0">
            <a:spAutoFit/>
          </a:bodyPr>
          <a:p>
            <a:r>
              <a:rPr lang="zh-CN" altLang="en-US" sz="2400">
                <a:solidFill>
                  <a:schemeClr val="accent6"/>
                </a:solidFill>
              </a:rPr>
              <a:t>训练</a:t>
            </a:r>
            <a:r>
              <a:rPr lang="zh-CN" altLang="en-US" sz="2400">
                <a:solidFill>
                  <a:schemeClr val="accent6"/>
                </a:solidFill>
              </a:rPr>
              <a:t>流程</a:t>
            </a:r>
            <a:endParaRPr lang="zh-CN" altLang="en-US" sz="2400">
              <a:solidFill>
                <a:schemeClr val="accent6"/>
              </a:solidFill>
            </a:endParaRPr>
          </a:p>
        </p:txBody>
      </p:sp>
      <p:sp>
        <p:nvSpPr>
          <p:cNvPr id="3" name="文本框 2"/>
          <p:cNvSpPr txBox="1"/>
          <p:nvPr/>
        </p:nvSpPr>
        <p:spPr>
          <a:xfrm>
            <a:off x="680085" y="1146175"/>
            <a:ext cx="4064000" cy="3969385"/>
          </a:xfrm>
          <a:prstGeom prst="rect">
            <a:avLst/>
          </a:prstGeom>
          <a:noFill/>
        </p:spPr>
        <p:txBody>
          <a:bodyPr wrap="square" rtlCol="0">
            <a:spAutoFit/>
          </a:bodyPr>
          <a:p>
            <a:r>
              <a:rPr lang="en-US" altLang="zh-CN">
                <a:solidFill>
                  <a:schemeClr val="bg1"/>
                </a:solidFill>
              </a:rPr>
              <a:t>1. </a:t>
            </a:r>
            <a:r>
              <a:rPr lang="zh-CN" altLang="en-US">
                <a:solidFill>
                  <a:schemeClr val="bg1"/>
                </a:solidFill>
              </a:rPr>
              <a:t>数据准备</a:t>
            </a:r>
            <a:endParaRPr lang="zh-CN" altLang="en-US">
              <a:solidFill>
                <a:schemeClr val="bg1"/>
              </a:solidFill>
            </a:endParaRPr>
          </a:p>
          <a:p>
            <a:r>
              <a:rPr lang="zh-CN" altLang="en-US">
                <a:solidFill>
                  <a:schemeClr val="bg1"/>
                </a:solidFill>
              </a:rPr>
              <a:t>数据集结构：采用</a:t>
            </a:r>
            <a:r>
              <a:rPr lang="en-US" altLang="zh-CN">
                <a:solidFill>
                  <a:schemeClr val="bg1"/>
                </a:solidFill>
              </a:rPr>
              <a:t> YOLO </a:t>
            </a:r>
            <a:r>
              <a:rPr lang="zh-CN" altLang="en-US">
                <a:solidFill>
                  <a:schemeClr val="bg1"/>
                </a:solidFill>
              </a:rPr>
              <a:t>格式标注的表情数据集，包含</a:t>
            </a:r>
            <a:r>
              <a:rPr lang="en-US" altLang="zh-CN">
                <a:solidFill>
                  <a:schemeClr val="bg1"/>
                </a:solidFill>
              </a:rPr>
              <a:t> 9 </a:t>
            </a:r>
            <a:r>
              <a:rPr lang="zh-CN" altLang="en-US">
                <a:solidFill>
                  <a:schemeClr val="bg1"/>
                </a:solidFill>
              </a:rPr>
              <a:t>种表情类别：</a:t>
            </a:r>
            <a:endParaRPr lang="zh-CN" altLang="en-US">
              <a:solidFill>
                <a:schemeClr val="bg1"/>
              </a:solidFill>
            </a:endParaRPr>
          </a:p>
          <a:p>
            <a:r>
              <a:rPr lang="en-US" altLang="zh-CN">
                <a:solidFill>
                  <a:schemeClr val="bg1"/>
                </a:solidFill>
              </a:rPr>
              <a:t>"emotion_categories": ["Angry", "Contempt", "Disgust", "Fear", "Happy", "Neutral", "Sad", "Sleepy", "Surprised"]</a:t>
            </a:r>
            <a:endParaRPr lang="en-US" altLang="zh-CN">
              <a:solidFill>
                <a:schemeClr val="bg1"/>
              </a:solidFill>
            </a:endParaRPr>
          </a:p>
          <a:p>
            <a:r>
              <a:rPr lang="zh-CN" altLang="en-US">
                <a:solidFill>
                  <a:schemeClr val="bg1"/>
                </a:solidFill>
              </a:rPr>
              <a:t>数据划分：按</a:t>
            </a:r>
            <a:r>
              <a:rPr lang="en-US" altLang="zh-CN">
                <a:solidFill>
                  <a:schemeClr val="bg1"/>
                </a:solidFill>
              </a:rPr>
              <a:t> 7:2:1 </a:t>
            </a:r>
            <a:r>
              <a:rPr lang="zh-CN" altLang="en-US">
                <a:solidFill>
                  <a:schemeClr val="bg1"/>
                </a:solidFill>
              </a:rPr>
              <a:t>比例划分为训练集、验证集和测试集</a:t>
            </a:r>
            <a:endParaRPr lang="zh-CN" altLang="en-US">
              <a:solidFill>
                <a:schemeClr val="bg1"/>
              </a:solidFill>
            </a:endParaRPr>
          </a:p>
          <a:p>
            <a:r>
              <a:rPr lang="zh-CN" altLang="en-US">
                <a:solidFill>
                  <a:schemeClr val="bg1"/>
                </a:solidFill>
              </a:rPr>
              <a:t>数据增强：</a:t>
            </a:r>
            <a:endParaRPr lang="zh-CN" altLang="en-US">
              <a:solidFill>
                <a:schemeClr val="bg1"/>
              </a:solidFill>
            </a:endParaRPr>
          </a:p>
          <a:p>
            <a:r>
              <a:rPr lang="zh-CN" altLang="en-US">
                <a:solidFill>
                  <a:schemeClr val="bg1"/>
                </a:solidFill>
              </a:rPr>
              <a:t>训练集：随机裁剪、水平翻转、颜色抖动</a:t>
            </a:r>
            <a:endParaRPr lang="zh-CN" altLang="en-US">
              <a:solidFill>
                <a:schemeClr val="bg1"/>
              </a:solidFill>
            </a:endParaRPr>
          </a:p>
          <a:p>
            <a:r>
              <a:rPr lang="zh-CN" altLang="en-US">
                <a:solidFill>
                  <a:schemeClr val="bg1"/>
                </a:solidFill>
              </a:rPr>
              <a:t>验证集：缩放后中心裁剪</a:t>
            </a:r>
            <a:endParaRPr lang="zh-CN" altLang="en-US">
              <a:solidFill>
                <a:schemeClr val="bg1"/>
              </a:solidFill>
            </a:endParaRPr>
          </a:p>
          <a:p>
            <a:r>
              <a:rPr lang="zh-CN" altLang="en-US">
                <a:solidFill>
                  <a:schemeClr val="bg1"/>
                </a:solidFill>
              </a:rPr>
              <a:t>归一化：使用</a:t>
            </a:r>
            <a:r>
              <a:rPr lang="en-US" altLang="zh-CN">
                <a:solidFill>
                  <a:schemeClr val="bg1"/>
                </a:solidFill>
              </a:rPr>
              <a:t> ImageNet </a:t>
            </a:r>
            <a:r>
              <a:rPr lang="zh-CN" altLang="en-US">
                <a:solidFill>
                  <a:schemeClr val="bg1"/>
                </a:solidFill>
              </a:rPr>
              <a:t>标准均值和标准差</a:t>
            </a:r>
            <a:endParaRPr lang="zh-CN" altLang="en-US">
              <a:solidFill>
                <a:schemeClr val="bg1"/>
              </a:solidFill>
            </a:endParaRPr>
          </a:p>
        </p:txBody>
      </p:sp>
      <p:sp>
        <p:nvSpPr>
          <p:cNvPr id="4" name="文本框 3"/>
          <p:cNvSpPr txBox="1"/>
          <p:nvPr/>
        </p:nvSpPr>
        <p:spPr>
          <a:xfrm>
            <a:off x="6967855" y="1146175"/>
            <a:ext cx="4064000" cy="2306955"/>
          </a:xfrm>
          <a:prstGeom prst="rect">
            <a:avLst/>
          </a:prstGeom>
          <a:noFill/>
        </p:spPr>
        <p:txBody>
          <a:bodyPr wrap="square" rtlCol="0">
            <a:spAutoFit/>
          </a:bodyPr>
          <a:p>
            <a:r>
              <a:rPr lang="en-US" altLang="zh-CN">
                <a:solidFill>
                  <a:schemeClr val="bg1"/>
                </a:solidFill>
              </a:rPr>
              <a:t>2. </a:t>
            </a:r>
            <a:r>
              <a:rPr lang="zh-CN" altLang="en-US">
                <a:solidFill>
                  <a:schemeClr val="bg1"/>
                </a:solidFill>
              </a:rPr>
              <a:t>训练配置</a:t>
            </a:r>
            <a:endParaRPr lang="zh-CN" altLang="en-US">
              <a:solidFill>
                <a:schemeClr val="bg1"/>
              </a:solidFill>
            </a:endParaRPr>
          </a:p>
          <a:p>
            <a:r>
              <a:rPr lang="en-US" altLang="en-US">
                <a:solidFill>
                  <a:schemeClr val="bg1"/>
                </a:solidFill>
              </a:rPr>
              <a:t></a:t>
            </a:r>
            <a:r>
              <a:rPr lang="zh-CN" altLang="en-US">
                <a:solidFill>
                  <a:schemeClr val="bg1"/>
                </a:solidFill>
              </a:rPr>
              <a:t>优化器：</a:t>
            </a:r>
            <a:r>
              <a:rPr lang="en-US" altLang="zh-CN">
                <a:solidFill>
                  <a:schemeClr val="bg1"/>
                </a:solidFill>
              </a:rPr>
              <a:t>Adam</a:t>
            </a:r>
            <a:r>
              <a:rPr lang="zh-CN" altLang="en-US">
                <a:solidFill>
                  <a:schemeClr val="bg1"/>
                </a:solidFill>
              </a:rPr>
              <a:t>，初始学习率</a:t>
            </a:r>
            <a:r>
              <a:rPr lang="en-US" altLang="zh-CN">
                <a:solidFill>
                  <a:schemeClr val="bg1"/>
                </a:solidFill>
              </a:rPr>
              <a:t> 0.001</a:t>
            </a:r>
            <a:endParaRPr lang="en-US" altLang="zh-CN">
              <a:solidFill>
                <a:schemeClr val="bg1"/>
              </a:solidFill>
            </a:endParaRPr>
          </a:p>
          <a:p>
            <a:r>
              <a:rPr lang="en-US" altLang="en-US">
                <a:solidFill>
                  <a:schemeClr val="bg1"/>
                </a:solidFill>
              </a:rPr>
              <a:t></a:t>
            </a:r>
            <a:r>
              <a:rPr lang="zh-CN" altLang="en-US">
                <a:solidFill>
                  <a:schemeClr val="bg1"/>
                </a:solidFill>
              </a:rPr>
              <a:t>学习率调度：</a:t>
            </a:r>
            <a:r>
              <a:rPr lang="en-US" altLang="zh-CN">
                <a:solidFill>
                  <a:schemeClr val="bg1"/>
                </a:solidFill>
              </a:rPr>
              <a:t>StepLR</a:t>
            </a:r>
            <a:r>
              <a:rPr lang="zh-CN" altLang="en-US">
                <a:solidFill>
                  <a:schemeClr val="bg1"/>
                </a:solidFill>
              </a:rPr>
              <a:t>，每</a:t>
            </a:r>
            <a:r>
              <a:rPr lang="en-US" altLang="zh-CN">
                <a:solidFill>
                  <a:schemeClr val="bg1"/>
                </a:solidFill>
              </a:rPr>
              <a:t> 10 </a:t>
            </a:r>
            <a:r>
              <a:rPr lang="zh-CN" altLang="en-US">
                <a:solidFill>
                  <a:schemeClr val="bg1"/>
                </a:solidFill>
              </a:rPr>
              <a:t>个</a:t>
            </a:r>
            <a:r>
              <a:rPr lang="en-US" altLang="zh-CN">
                <a:solidFill>
                  <a:schemeClr val="bg1"/>
                </a:solidFill>
              </a:rPr>
              <a:t> epoch </a:t>
            </a:r>
            <a:r>
              <a:rPr lang="zh-CN" altLang="en-US">
                <a:solidFill>
                  <a:schemeClr val="bg1"/>
                </a:solidFill>
              </a:rPr>
              <a:t>学习率乘以</a:t>
            </a:r>
            <a:r>
              <a:rPr lang="en-US" altLang="zh-CN">
                <a:solidFill>
                  <a:schemeClr val="bg1"/>
                </a:solidFill>
              </a:rPr>
              <a:t> 0.1</a:t>
            </a:r>
            <a:endParaRPr lang="en-US" altLang="zh-CN">
              <a:solidFill>
                <a:schemeClr val="bg1"/>
              </a:solidFill>
            </a:endParaRPr>
          </a:p>
          <a:p>
            <a:r>
              <a:rPr lang="en-US" altLang="en-US">
                <a:solidFill>
                  <a:schemeClr val="bg1"/>
                </a:solidFill>
              </a:rPr>
              <a:t></a:t>
            </a:r>
            <a:r>
              <a:rPr lang="zh-CN" altLang="en-US">
                <a:solidFill>
                  <a:schemeClr val="bg1"/>
                </a:solidFill>
              </a:rPr>
              <a:t>损失函数：交叉熵损失函数</a:t>
            </a:r>
            <a:endParaRPr lang="zh-CN" altLang="en-US">
              <a:solidFill>
                <a:schemeClr val="bg1"/>
              </a:solidFill>
            </a:endParaRPr>
          </a:p>
          <a:p>
            <a:r>
              <a:rPr lang="en-US" altLang="en-US">
                <a:solidFill>
                  <a:schemeClr val="bg1"/>
                </a:solidFill>
              </a:rPr>
              <a:t></a:t>
            </a:r>
            <a:r>
              <a:rPr lang="zh-CN" altLang="en-US">
                <a:solidFill>
                  <a:schemeClr val="bg1"/>
                </a:solidFill>
              </a:rPr>
              <a:t>批量大小：</a:t>
            </a:r>
            <a:r>
              <a:rPr lang="en-US" altLang="zh-CN">
                <a:solidFill>
                  <a:schemeClr val="bg1"/>
                </a:solidFill>
              </a:rPr>
              <a:t>32</a:t>
            </a:r>
            <a:endParaRPr lang="en-US" altLang="zh-CN">
              <a:solidFill>
                <a:schemeClr val="bg1"/>
              </a:solidFill>
            </a:endParaRPr>
          </a:p>
          <a:p>
            <a:r>
              <a:rPr lang="en-US" altLang="en-US">
                <a:solidFill>
                  <a:schemeClr val="bg1"/>
                </a:solidFill>
              </a:rPr>
              <a:t></a:t>
            </a:r>
            <a:r>
              <a:rPr lang="zh-CN" altLang="en-US">
                <a:solidFill>
                  <a:schemeClr val="bg1"/>
                </a:solidFill>
              </a:rPr>
              <a:t>训练轮次：</a:t>
            </a:r>
            <a:r>
              <a:rPr lang="en-US" altLang="zh-CN">
                <a:solidFill>
                  <a:schemeClr val="bg1"/>
                </a:solidFill>
              </a:rPr>
              <a:t>30</a:t>
            </a:r>
            <a:endParaRPr lang="en-US" altLang="zh-CN">
              <a:solidFill>
                <a:schemeClr val="bg1"/>
              </a:solidFill>
            </a:endParaRPr>
          </a:p>
          <a:p>
            <a:r>
              <a:rPr lang="zh-CN" altLang="en-US">
                <a:solidFill>
                  <a:schemeClr val="bg1"/>
                </a:solidFill>
              </a:rPr>
              <a:t>设备：优先使用</a:t>
            </a:r>
            <a:r>
              <a:rPr lang="en-US" altLang="zh-CN">
                <a:solidFill>
                  <a:schemeClr val="bg1"/>
                </a:solidFill>
              </a:rPr>
              <a:t> GPU</a:t>
            </a:r>
            <a:r>
              <a:rPr lang="zh-CN" altLang="en-US">
                <a:solidFill>
                  <a:schemeClr val="bg1"/>
                </a:solidFill>
              </a:rPr>
              <a:t>，否则使用</a:t>
            </a:r>
            <a:r>
              <a:rPr lang="en-US" altLang="zh-CN">
                <a:solidFill>
                  <a:schemeClr val="bg1"/>
                </a:solidFill>
              </a:rPr>
              <a:t> CPU</a:t>
            </a:r>
            <a:endParaRPr lang="en-US" altLang="zh-CN">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1-d0sml7s75iks2gau41ag.png"/>
          <p:cNvPicPr>
            <a:picLocks noChangeAspect="1"/>
          </p:cNvPicPr>
          <p:nvPr/>
        </p:nvPicPr>
        <p:blipFill>
          <a:blip r:embed="rId1"/>
          <a:srcRect l="8389" t="15000"/>
          <a:stretch>
            <a:fillRect/>
          </a:stretch>
        </p:blipFill>
        <p:spPr>
          <a:xfrm>
            <a:off x="0" y="0"/>
            <a:ext cx="12193200" cy="6856575"/>
          </a:xfrm>
          <a:prstGeom prst="rect">
            <a:avLst/>
          </a:prstGeom>
        </p:spPr>
      </p:pic>
      <p:sp>
        <p:nvSpPr>
          <p:cNvPr id="3" name="Shape 0"/>
          <p:cNvSpPr/>
          <p:nvPr/>
        </p:nvSpPr>
        <p:spPr>
          <a:xfrm>
            <a:off x="9768840" y="1196975"/>
            <a:ext cx="4304030" cy="4304030"/>
          </a:xfrm>
          <a:prstGeom prst="ellipse">
            <a:avLst/>
          </a:prstGeom>
          <a:solidFill>
            <a:srgbClr val="FFFFFF">
              <a:alpha val="5098"/>
            </a:srgbClr>
          </a:solidFill>
        </p:spPr>
      </p:sp>
      <p:sp>
        <p:nvSpPr>
          <p:cNvPr id="4" name="Text 1"/>
          <p:cNvSpPr/>
          <p:nvPr/>
        </p:nvSpPr>
        <p:spPr>
          <a:xfrm>
            <a:off x="9768840" y="1196975"/>
            <a:ext cx="4304030" cy="4304030"/>
          </a:xfrm>
          <a:prstGeom prst="rect">
            <a:avLst/>
          </a:prstGeom>
          <a:noFill/>
        </p:spPr>
        <p:txBody>
          <a:bodyPr wrap="square" lIns="0" tIns="0" rIns="0" bIns="0" rtlCol="0" anchor="t"/>
          <a:lstStyle/>
          <a:p>
            <a:pPr marL="0" indent="0">
              <a:lnSpc>
                <a:spcPct val="100000"/>
              </a:lnSpc>
              <a:buNone/>
            </a:pPr>
            <a:endParaRPr lang="en-US" sz="1600" dirty="0"/>
          </a:p>
        </p:txBody>
      </p:sp>
      <p:sp>
        <p:nvSpPr>
          <p:cNvPr id="5" name="Text 2"/>
          <p:cNvSpPr/>
          <p:nvPr/>
        </p:nvSpPr>
        <p:spPr>
          <a:xfrm>
            <a:off x="1459230" y="2247900"/>
            <a:ext cx="1612900" cy="1098550"/>
          </a:xfrm>
          <a:prstGeom prst="rect">
            <a:avLst/>
          </a:prstGeom>
          <a:noFill/>
        </p:spPr>
        <p:txBody>
          <a:bodyPr wrap="square" lIns="0" tIns="0" rIns="0" bIns="0" rtlCol="0" anchor="t"/>
          <a:lstStyle/>
          <a:p>
            <a:pPr marL="0" indent="0" algn="l">
              <a:lnSpc>
                <a:spcPct val="100000"/>
              </a:lnSpc>
              <a:buNone/>
            </a:pPr>
            <a:r>
              <a:rPr lang="en-US" sz="8000" dirty="0">
                <a:solidFill>
                  <a:srgbClr val="218EC1"/>
                </a:solidFill>
                <a:latin typeface="MiSans" pitchFamily="34" charset="-122"/>
                <a:ea typeface="MiSans" pitchFamily="34" charset="-122"/>
                <a:cs typeface="MiSans" pitchFamily="34" charset="-120"/>
              </a:rPr>
              <a:t>04</a:t>
            </a:r>
            <a:endParaRPr lang="en-US" sz="1600" dirty="0"/>
          </a:p>
        </p:txBody>
      </p:sp>
      <p:sp>
        <p:nvSpPr>
          <p:cNvPr id="6" name="Text 3"/>
          <p:cNvSpPr/>
          <p:nvPr/>
        </p:nvSpPr>
        <p:spPr>
          <a:xfrm>
            <a:off x="1440180" y="3517900"/>
            <a:ext cx="5314315" cy="1183640"/>
          </a:xfrm>
          <a:prstGeom prst="rect">
            <a:avLst/>
          </a:prstGeom>
          <a:noFill/>
        </p:spPr>
        <p:txBody>
          <a:bodyPr wrap="square" lIns="0" tIns="0" rIns="0" bIns="0" rtlCol="0" anchor="t"/>
          <a:lstStyle/>
          <a:p>
            <a:pPr marL="0" indent="0" algn="l">
              <a:lnSpc>
                <a:spcPct val="100000"/>
              </a:lnSpc>
              <a:buNone/>
            </a:pPr>
            <a:r>
              <a:rPr lang="en-US" sz="4400" dirty="0">
                <a:solidFill>
                  <a:srgbClr val="FFFFFF"/>
                </a:solidFill>
                <a:latin typeface="MiSans" pitchFamily="34" charset="-122"/>
                <a:ea typeface="MiSans" pitchFamily="34" charset="-122"/>
                <a:cs typeface="MiSans" pitchFamily="34" charset="-120"/>
              </a:rPr>
              <a:t>Django系统部署与实现</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2:14-d0smldk75iks2gau41hg.png"/>
          <p:cNvPicPr>
            <a:picLocks noChangeAspect="1"/>
          </p:cNvPicPr>
          <p:nvPr/>
        </p:nvPicPr>
        <p:blipFill>
          <a:blip r:embed="rId1"/>
          <a:stretch>
            <a:fillRect/>
          </a:stretch>
        </p:blipFill>
        <p:spPr>
          <a:xfrm>
            <a:off x="552450" y="2012313"/>
            <a:ext cx="11103610" cy="561342"/>
          </a:xfrm>
          <a:prstGeom prst="rect">
            <a:avLst/>
          </a:prstGeom>
        </p:spPr>
      </p:pic>
      <p:sp>
        <p:nvSpPr>
          <p:cNvPr id="3" name="Shape 0"/>
          <p:cNvSpPr/>
          <p:nvPr/>
        </p:nvSpPr>
        <p:spPr>
          <a:xfrm>
            <a:off x="2004900" y="2159361"/>
            <a:ext cx="637961"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4" name="Text 1"/>
          <p:cNvSpPr/>
          <p:nvPr/>
        </p:nvSpPr>
        <p:spPr>
          <a:xfrm>
            <a:off x="2004900" y="2159361"/>
            <a:ext cx="637961"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1991333" y="2325940"/>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6" name="Shape 3"/>
          <p:cNvSpPr/>
          <p:nvPr/>
        </p:nvSpPr>
        <p:spPr>
          <a:xfrm>
            <a:off x="5772776" y="1692636"/>
            <a:ext cx="637540"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7" name="Text 4"/>
          <p:cNvSpPr/>
          <p:nvPr/>
        </p:nvSpPr>
        <p:spPr>
          <a:xfrm>
            <a:off x="5772776" y="1692636"/>
            <a:ext cx="637540"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5"/>
          <p:cNvSpPr/>
          <p:nvPr/>
        </p:nvSpPr>
        <p:spPr>
          <a:xfrm>
            <a:off x="5746298" y="1859215"/>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9" name="Shape 6"/>
          <p:cNvSpPr/>
          <p:nvPr/>
        </p:nvSpPr>
        <p:spPr>
          <a:xfrm>
            <a:off x="9540231" y="2241911"/>
            <a:ext cx="637540" cy="637959"/>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0" name="Text 7"/>
          <p:cNvSpPr/>
          <p:nvPr/>
        </p:nvSpPr>
        <p:spPr>
          <a:xfrm>
            <a:off x="9540231" y="2241911"/>
            <a:ext cx="637540" cy="63795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9526244" y="2408490"/>
            <a:ext cx="665096" cy="276225"/>
          </a:xfrm>
          <a:prstGeom prst="rect">
            <a:avLst/>
          </a:prstGeom>
          <a:noFill/>
        </p:spPr>
        <p:txBody>
          <a:bodyPr wrap="square" lIns="0" tIns="0" rIns="0" bIns="0" rtlCol="0" anchor="t">
            <a:spAutoFit/>
          </a:bodyPr>
          <a:lstStyle/>
          <a:p>
            <a:pPr marL="0" indent="0" algn="ctr">
              <a:lnSpc>
                <a:spcPct val="100000"/>
              </a:lnSpc>
              <a:buNone/>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12" name="Text 9"/>
          <p:cNvSpPr/>
          <p:nvPr/>
        </p:nvSpPr>
        <p:spPr>
          <a:xfrm>
            <a:off x="659130" y="3448685"/>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整体架构</a:t>
            </a:r>
            <a:endParaRPr lang="en-US" sz="1600" dirty="0"/>
          </a:p>
        </p:txBody>
      </p:sp>
      <p:sp>
        <p:nvSpPr>
          <p:cNvPr id="13" name="Text 10"/>
          <p:cNvSpPr/>
          <p:nvPr/>
        </p:nvSpPr>
        <p:spPr>
          <a:xfrm>
            <a:off x="668971" y="3830955"/>
            <a:ext cx="3470913" cy="862409"/>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介绍基于Django框架构建的Web应用的整体架构，包括前端、后端和数据库的交互关系。</a:t>
            </a:r>
            <a:endParaRPr lang="en-US" sz="1600" dirty="0"/>
          </a:p>
        </p:txBody>
      </p:sp>
      <p:sp>
        <p:nvSpPr>
          <p:cNvPr id="14" name="Text 11"/>
          <p:cNvSpPr/>
          <p:nvPr/>
        </p:nvSpPr>
        <p:spPr>
          <a:xfrm>
            <a:off x="4408805" y="2708910"/>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模块划分</a:t>
            </a:r>
            <a:endParaRPr lang="en-US" sz="1600" dirty="0"/>
          </a:p>
        </p:txBody>
      </p:sp>
      <p:sp>
        <p:nvSpPr>
          <p:cNvPr id="15" name="Text 12"/>
          <p:cNvSpPr/>
          <p:nvPr/>
        </p:nvSpPr>
        <p:spPr>
          <a:xfrm>
            <a:off x="4452303" y="3091814"/>
            <a:ext cx="3403600" cy="574873"/>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详细说明前端交互模块、后端业务模块和模型集成模块的功能和组成。</a:t>
            </a:r>
            <a:endParaRPr lang="en-US" sz="1600" dirty="0"/>
          </a:p>
        </p:txBody>
      </p:sp>
      <p:sp>
        <p:nvSpPr>
          <p:cNvPr id="16" name="Text 13"/>
          <p:cNvSpPr/>
          <p:nvPr/>
        </p:nvSpPr>
        <p:spPr>
          <a:xfrm>
            <a:off x="8157687" y="3430270"/>
            <a:ext cx="3490595" cy="700405"/>
          </a:xfrm>
          <a:prstGeom prst="rect">
            <a:avLst/>
          </a:prstGeom>
          <a:noFill/>
        </p:spPr>
        <p:txBody>
          <a:bodyPr wrap="square" lIns="0" tIns="0" rIns="0" bIns="0" rtlCol="0" anchor="t"/>
          <a:lstStyle/>
          <a:p>
            <a:pPr marL="0" indent="0" algn="ctr">
              <a:lnSpc>
                <a:spcPct val="100000"/>
              </a:lnSpc>
              <a:buNone/>
            </a:pPr>
            <a:r>
              <a:rPr lang="en-US" sz="2000" dirty="0">
                <a:solidFill>
                  <a:srgbClr val="7EC9EB"/>
                </a:solidFill>
                <a:latin typeface="MiSans" pitchFamily="34" charset="-122"/>
                <a:ea typeface="MiSans" pitchFamily="34" charset="-122"/>
                <a:cs typeface="MiSans" pitchFamily="34" charset="-120"/>
              </a:rPr>
              <a:t>架构图</a:t>
            </a:r>
            <a:endParaRPr lang="en-US" sz="1600" dirty="0"/>
          </a:p>
        </p:txBody>
      </p:sp>
      <p:sp>
        <p:nvSpPr>
          <p:cNvPr id="17" name="Text 14"/>
          <p:cNvSpPr/>
          <p:nvPr/>
        </p:nvSpPr>
        <p:spPr>
          <a:xfrm>
            <a:off x="8201184" y="3813176"/>
            <a:ext cx="3403600" cy="574873"/>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展示Django项目整体结构图，直观呈现各模块之间的关系。</a:t>
            </a:r>
            <a:endParaRPr lang="en-US" sz="1600" dirty="0"/>
          </a:p>
        </p:txBody>
      </p:sp>
      <p:sp>
        <p:nvSpPr>
          <p:cNvPr id="18" name="Shape 15"/>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9" name="Text 16"/>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20" name="Text 17"/>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系统架构设计</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rot="5400000">
            <a:off x="-1348105" y="100965"/>
            <a:ext cx="6858000" cy="6656070"/>
          </a:xfrm>
          <a:prstGeom prst="round2SameRect">
            <a:avLst>
              <a:gd name="adj1" fmla="val 50000"/>
              <a:gd name="adj2" fmla="val 0"/>
            </a:avLst>
          </a:prstGeom>
          <a:gradFill flip="none" rotWithShape="1">
            <a:gsLst>
              <a:gs pos="54000">
                <a:srgbClr val="28A4DE">
                  <a:alpha val="9000"/>
                </a:srgbClr>
              </a:gs>
              <a:gs pos="100000">
                <a:srgbClr val="232322">
                  <a:alpha val="0"/>
                </a:srgbClr>
              </a:gs>
            </a:gsLst>
            <a:lin ang="13500000" scaled="1"/>
          </a:gradFill>
        </p:spPr>
      </p:sp>
      <p:sp>
        <p:nvSpPr>
          <p:cNvPr id="3" name="Text 1"/>
          <p:cNvSpPr/>
          <p:nvPr/>
        </p:nvSpPr>
        <p:spPr>
          <a:xfrm rot="5400000">
            <a:off x="-1348105" y="100965"/>
            <a:ext cx="6858000" cy="6656070"/>
          </a:xfrm>
          <a:prstGeom prst="rect">
            <a:avLst/>
          </a:prstGeom>
          <a:noFill/>
        </p:spPr>
        <p:txBody>
          <a:bodyPr wrap="square" lIns="0" tIns="0" rIns="0" bIns="0" rtlCol="0" anchor="t"/>
          <a:lstStyle/>
          <a:p>
            <a:pPr marL="0" indent="0">
              <a:lnSpc>
                <a:spcPct val="100000"/>
              </a:lnSpc>
              <a:buNone/>
            </a:pPr>
            <a:endParaRPr lang="en-US" sz="1600" dirty="0"/>
          </a:p>
        </p:txBody>
      </p:sp>
      <p:pic>
        <p:nvPicPr>
          <p:cNvPr id="4" name="Image 0" descr="https://kimi-img.moonshot.cn/pub/slides/slides_tmpl/image/25-05-30-16:22:14-d0smldk75iks2gau41h0.png"/>
          <p:cNvPicPr>
            <a:picLocks noChangeAspect="1"/>
          </p:cNvPicPr>
          <p:nvPr/>
        </p:nvPicPr>
        <p:blipFill>
          <a:blip r:embed="rId1">
            <a:alphaModFix amt="20000"/>
          </a:blip>
          <a:stretch>
            <a:fillRect/>
          </a:stretch>
        </p:blipFill>
        <p:spPr>
          <a:xfrm>
            <a:off x="0" y="13335"/>
            <a:ext cx="5393055" cy="6858000"/>
          </a:xfrm>
          <a:prstGeom prst="rect">
            <a:avLst/>
          </a:prstGeom>
        </p:spPr>
      </p:pic>
      <p:sp>
        <p:nvSpPr>
          <p:cNvPr id="5" name="Text 2"/>
          <p:cNvSpPr/>
          <p:nvPr/>
        </p:nvSpPr>
        <p:spPr>
          <a:xfrm>
            <a:off x="6503035" y="2703830"/>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模型推理接口</a:t>
            </a:r>
            <a:endParaRPr lang="en-US" sz="1600" dirty="0"/>
          </a:p>
        </p:txBody>
      </p:sp>
      <p:sp>
        <p:nvSpPr>
          <p:cNvPr id="6" name="Text 3"/>
          <p:cNvSpPr/>
          <p:nvPr/>
        </p:nvSpPr>
        <p:spPr>
          <a:xfrm>
            <a:off x="6502400" y="3114040"/>
            <a:ext cx="5083175" cy="148463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说明模型加载与初始化、统一推理逻辑的实现，确保模型在接收请求时快速响应。</a:t>
            </a:r>
            <a:endParaRPr lang="en-US" sz="1600" dirty="0"/>
          </a:p>
        </p:txBody>
      </p:sp>
      <p:sp>
        <p:nvSpPr>
          <p:cNvPr id="7" name="Text 4"/>
          <p:cNvSpPr/>
          <p:nvPr/>
        </p:nvSpPr>
        <p:spPr>
          <a:xfrm>
            <a:off x="5779135" y="4692015"/>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功能流程图</a:t>
            </a:r>
            <a:endParaRPr lang="en-US" sz="1600" dirty="0"/>
          </a:p>
        </p:txBody>
      </p:sp>
      <p:sp>
        <p:nvSpPr>
          <p:cNvPr id="8" name="Text 5"/>
          <p:cNvSpPr/>
          <p:nvPr/>
        </p:nvSpPr>
        <p:spPr>
          <a:xfrm>
            <a:off x="5778500" y="5102225"/>
            <a:ext cx="5083175" cy="148463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展示多端识别功能和模型推理接口的流程图，清晰呈现功能实现的步骤。</a:t>
            </a:r>
            <a:endParaRPr lang="en-US" sz="1600" dirty="0"/>
          </a:p>
        </p:txBody>
      </p:sp>
      <p:sp>
        <p:nvSpPr>
          <p:cNvPr id="9" name="Text 6"/>
          <p:cNvSpPr/>
          <p:nvPr/>
        </p:nvSpPr>
        <p:spPr>
          <a:xfrm>
            <a:off x="5778500" y="715010"/>
            <a:ext cx="5092700" cy="368300"/>
          </a:xfrm>
          <a:prstGeom prst="rect">
            <a:avLst/>
          </a:prstGeom>
          <a:noFill/>
        </p:spPr>
        <p:txBody>
          <a:bodyPr wrap="square" lIns="45720" tIns="45720" rIns="45720" bIns="4572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多端识别功能</a:t>
            </a:r>
            <a:endParaRPr lang="en-US" sz="1600" dirty="0"/>
          </a:p>
        </p:txBody>
      </p:sp>
      <p:sp>
        <p:nvSpPr>
          <p:cNvPr id="10" name="Text 7"/>
          <p:cNvSpPr/>
          <p:nvPr/>
        </p:nvSpPr>
        <p:spPr>
          <a:xfrm>
            <a:off x="5778500" y="1125220"/>
            <a:ext cx="5083175" cy="1485900"/>
          </a:xfrm>
          <a:prstGeom prst="rect">
            <a:avLst/>
          </a:prstGeom>
          <a:noFill/>
        </p:spPr>
        <p:txBody>
          <a:bodyPr wrap="square" lIns="45720" tIns="45720" rIns="45720" bIns="45720" rtlCol="0" anchor="t"/>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介绍图片识别、视频识别和实时识别功能的前端和后端实现细节，突出用户体验和系统性能。</a:t>
            </a:r>
            <a:endParaRPr lang="en-US" sz="1600" dirty="0"/>
          </a:p>
        </p:txBody>
      </p:sp>
      <p:sp>
        <p:nvSpPr>
          <p:cNvPr id="11" name="Text 8"/>
          <p:cNvSpPr/>
          <p:nvPr/>
        </p:nvSpPr>
        <p:spPr>
          <a:xfrm>
            <a:off x="597535" y="2781300"/>
            <a:ext cx="4161790" cy="1837690"/>
          </a:xfrm>
          <a:prstGeom prst="rect">
            <a:avLst/>
          </a:prstGeom>
          <a:noFill/>
        </p:spPr>
        <p:txBody>
          <a:bodyPr wrap="square" lIns="45720" tIns="45720" rIns="45720" bIns="45720" rtlCol="0" anchor="t"/>
          <a:lstStyle/>
          <a:p>
            <a:pPr marL="0" indent="0" algn="l">
              <a:lnSpc>
                <a:spcPct val="100000"/>
              </a:lnSpc>
              <a:buNone/>
            </a:pPr>
            <a:r>
              <a:rPr lang="en-US" sz="3600" dirty="0">
                <a:solidFill>
                  <a:srgbClr val="218EC1"/>
                </a:solidFill>
                <a:latin typeface="MiSans" pitchFamily="34" charset="-122"/>
                <a:ea typeface="MiSans" pitchFamily="34" charset="-122"/>
                <a:cs typeface="MiSans" pitchFamily="34" charset="-120"/>
              </a:rPr>
              <a:t>核心功能实现</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471170" y="542290"/>
            <a:ext cx="4064000" cy="460375"/>
          </a:xfrm>
          <a:prstGeom prst="rect">
            <a:avLst/>
          </a:prstGeom>
          <a:noFill/>
        </p:spPr>
        <p:txBody>
          <a:bodyPr wrap="square" rtlCol="0">
            <a:spAutoFit/>
          </a:bodyPr>
          <a:p>
            <a:r>
              <a:rPr lang="zh-CN" altLang="en-US" sz="2400">
                <a:solidFill>
                  <a:schemeClr val="accent6"/>
                </a:solidFill>
              </a:rPr>
              <a:t>多端识别</a:t>
            </a:r>
            <a:r>
              <a:rPr lang="zh-CN" altLang="en-US" sz="2400">
                <a:solidFill>
                  <a:schemeClr val="accent6"/>
                </a:solidFill>
              </a:rPr>
              <a:t>功能</a:t>
            </a:r>
            <a:endParaRPr lang="zh-CN" altLang="en-US" sz="2400">
              <a:solidFill>
                <a:schemeClr val="accent6"/>
              </a:solidFill>
            </a:endParaRPr>
          </a:p>
        </p:txBody>
      </p:sp>
      <p:sp>
        <p:nvSpPr>
          <p:cNvPr id="3" name="文本框 2"/>
          <p:cNvSpPr txBox="1"/>
          <p:nvPr/>
        </p:nvSpPr>
        <p:spPr>
          <a:xfrm>
            <a:off x="548005" y="1310640"/>
            <a:ext cx="11514455" cy="5262245"/>
          </a:xfrm>
          <a:prstGeom prst="rect">
            <a:avLst/>
          </a:prstGeom>
          <a:noFill/>
        </p:spPr>
        <p:txBody>
          <a:bodyPr wrap="square" rtlCol="0">
            <a:spAutoFit/>
          </a:bodyPr>
          <a:p>
            <a:r>
              <a:rPr lang="en-US" altLang="zh-CN" sz="1600">
                <a:solidFill>
                  <a:schemeClr val="bg1"/>
                </a:solidFill>
              </a:rPr>
              <a:t>1.</a:t>
            </a:r>
            <a:r>
              <a:rPr lang="zh-CN" altLang="en-US" sz="1600">
                <a:solidFill>
                  <a:schemeClr val="bg1"/>
                </a:solidFill>
              </a:rPr>
              <a:t>图片识别</a:t>
            </a:r>
            <a:r>
              <a:rPr lang="en-US" altLang="zh-CN" sz="1600">
                <a:solidFill>
                  <a:schemeClr val="bg1"/>
                </a:solidFill>
              </a:rPr>
              <a:t>:</a:t>
            </a:r>
            <a:endParaRPr lang="en-US" altLang="zh-CN" sz="1600">
              <a:solidFill>
                <a:schemeClr val="bg1"/>
              </a:solidFill>
            </a:endParaRPr>
          </a:p>
          <a:p>
            <a:r>
              <a:rPr lang="en-US" altLang="zh-CN" sz="1600">
                <a:solidFill>
                  <a:schemeClr val="bg1"/>
                </a:solidFill>
              </a:rPr>
              <a:t>a.</a:t>
            </a:r>
            <a:r>
              <a:rPr lang="zh-CN" altLang="en-US" sz="1600">
                <a:solidFill>
                  <a:schemeClr val="bg1"/>
                </a:solidFill>
              </a:rPr>
              <a:t>前端实现：在图片识别页面，通过</a:t>
            </a:r>
            <a:r>
              <a:rPr lang="en-US" altLang="zh-CN" sz="1600">
                <a:solidFill>
                  <a:schemeClr val="bg1"/>
                </a:solidFill>
              </a:rPr>
              <a:t> HTML</a:t>
            </a:r>
            <a:r>
              <a:rPr lang="en-US" altLang="en-US" sz="1600">
                <a:solidFill>
                  <a:schemeClr val="bg1"/>
                </a:solidFill>
              </a:rPr>
              <a:t> </a:t>
            </a:r>
            <a:r>
              <a:rPr lang="en-US" altLang="zh-CN" sz="1600">
                <a:solidFill>
                  <a:schemeClr val="bg1"/>
                </a:solidFill>
              </a:rPr>
              <a:t>&lt;input type="file"&gt;</a:t>
            </a:r>
            <a:r>
              <a:rPr lang="en-US" altLang="en-US" sz="1600">
                <a:solidFill>
                  <a:schemeClr val="bg1"/>
                </a:solidFill>
              </a:rPr>
              <a:t> </a:t>
            </a:r>
            <a:r>
              <a:rPr lang="zh-CN" altLang="en-US" sz="1600">
                <a:solidFill>
                  <a:schemeClr val="bg1"/>
                </a:solidFill>
              </a:rPr>
              <a:t>元素搭建图片上传组件，限制文件类型为</a:t>
            </a:r>
            <a:r>
              <a:rPr lang="en-US" altLang="zh-CN" sz="1600">
                <a:solidFill>
                  <a:schemeClr val="bg1"/>
                </a:solidFill>
              </a:rPr>
              <a:t> JPG</a:t>
            </a:r>
            <a:r>
              <a:rPr lang="zh-CN" altLang="en-US" sz="1600">
                <a:solidFill>
                  <a:schemeClr val="bg1"/>
                </a:solidFill>
              </a:rPr>
              <a:t>、</a:t>
            </a:r>
            <a:r>
              <a:rPr lang="en-US" altLang="zh-CN" sz="1600">
                <a:solidFill>
                  <a:schemeClr val="bg1"/>
                </a:solidFill>
              </a:rPr>
              <a:t>PNG</a:t>
            </a:r>
            <a:r>
              <a:rPr lang="zh-CN" altLang="en-US" sz="1600">
                <a:solidFill>
                  <a:schemeClr val="bg1"/>
                </a:solidFill>
              </a:rPr>
              <a:t>，结合</a:t>
            </a:r>
            <a:r>
              <a:rPr lang="en-US" altLang="zh-CN" sz="1600">
                <a:solidFill>
                  <a:schemeClr val="bg1"/>
                </a:solidFill>
              </a:rPr>
              <a:t> JavaScript </a:t>
            </a:r>
            <a:r>
              <a:rPr lang="zh-CN" altLang="en-US" sz="1600">
                <a:solidFill>
                  <a:schemeClr val="bg1"/>
                </a:solidFill>
              </a:rPr>
              <a:t>监听文件选择事件。利用</a:t>
            </a:r>
            <a:r>
              <a:rPr lang="en-US" altLang="en-US" sz="1600">
                <a:solidFill>
                  <a:schemeClr val="bg1"/>
                </a:solidFill>
              </a:rPr>
              <a:t> </a:t>
            </a:r>
            <a:r>
              <a:rPr lang="en-US" altLang="zh-CN" sz="1600">
                <a:solidFill>
                  <a:schemeClr val="bg1"/>
                </a:solidFill>
              </a:rPr>
              <a:t>FileReader</a:t>
            </a:r>
            <a:r>
              <a:rPr lang="en-US" altLang="en-US" sz="1600">
                <a:solidFill>
                  <a:schemeClr val="bg1"/>
                </a:solidFill>
              </a:rPr>
              <a:t> </a:t>
            </a:r>
            <a:r>
              <a:rPr lang="zh-CN" altLang="en-US" sz="1600">
                <a:solidFill>
                  <a:schemeClr val="bg1"/>
                </a:solidFill>
              </a:rPr>
              <a:t>读取文件内容，动态展示原始图片预览；通过</a:t>
            </a:r>
            <a:r>
              <a:rPr lang="en-US" altLang="zh-CN" sz="1600">
                <a:solidFill>
                  <a:schemeClr val="bg1"/>
                </a:solidFill>
              </a:rPr>
              <a:t> Axios </a:t>
            </a:r>
            <a:r>
              <a:rPr lang="zh-CN" altLang="en-US" sz="1600">
                <a:solidFill>
                  <a:schemeClr val="bg1"/>
                </a:solidFill>
              </a:rPr>
              <a:t>发送</a:t>
            </a:r>
            <a:r>
              <a:rPr lang="en-US" altLang="zh-CN" sz="1600">
                <a:solidFill>
                  <a:schemeClr val="bg1"/>
                </a:solidFill>
              </a:rPr>
              <a:t> POST </a:t>
            </a:r>
            <a:r>
              <a:rPr lang="zh-CN" altLang="en-US" sz="1600">
                <a:solidFill>
                  <a:schemeClr val="bg1"/>
                </a:solidFill>
              </a:rPr>
              <a:t>请求，将图片文件以</a:t>
            </a:r>
            <a:r>
              <a:rPr lang="en-US" altLang="zh-CN" sz="1600">
                <a:solidFill>
                  <a:schemeClr val="bg1"/>
                </a:solidFill>
              </a:rPr>
              <a:t> FormData </a:t>
            </a:r>
            <a:r>
              <a:rPr lang="zh-CN" altLang="en-US" sz="1600">
                <a:solidFill>
                  <a:schemeClr val="bg1"/>
                </a:solidFill>
              </a:rPr>
              <a:t>形式提交至后端</a:t>
            </a:r>
            <a:r>
              <a:rPr lang="en-US" altLang="en-US" sz="1600">
                <a:solidFill>
                  <a:schemeClr val="bg1"/>
                </a:solidFill>
              </a:rPr>
              <a:t> </a:t>
            </a:r>
            <a:r>
              <a:rPr lang="en-US" altLang="zh-CN" sz="1600">
                <a:solidFill>
                  <a:schemeClr val="bg1"/>
                </a:solidFill>
              </a:rPr>
              <a:t>/image/recognize/</a:t>
            </a:r>
            <a:r>
              <a:rPr lang="en-US" altLang="en-US" sz="1600">
                <a:solidFill>
                  <a:schemeClr val="bg1"/>
                </a:solidFill>
              </a:rPr>
              <a:t> </a:t>
            </a:r>
            <a:r>
              <a:rPr lang="zh-CN" altLang="en-US" sz="1600">
                <a:solidFill>
                  <a:schemeClr val="bg1"/>
                </a:solidFill>
              </a:rPr>
              <a:t>接口，等待识别结果返回后，渲染包含表情标注框、类别及置信度的结果图片；</a:t>
            </a:r>
            <a:endParaRPr lang="zh-CN" altLang="en-US" sz="1600">
              <a:solidFill>
                <a:schemeClr val="bg1"/>
              </a:solidFill>
            </a:endParaRPr>
          </a:p>
          <a:p>
            <a:r>
              <a:rPr lang="en-US" altLang="zh-CN" sz="1600">
                <a:solidFill>
                  <a:schemeClr val="bg1"/>
                </a:solidFill>
              </a:rPr>
              <a:t>b.</a:t>
            </a:r>
            <a:r>
              <a:rPr lang="zh-CN" altLang="en-US" sz="1600">
                <a:solidFill>
                  <a:schemeClr val="bg1"/>
                </a:solidFill>
              </a:rPr>
              <a:t>后端实现：</a:t>
            </a:r>
            <a:r>
              <a:rPr lang="en-US" altLang="zh-CN" sz="1600">
                <a:solidFill>
                  <a:schemeClr val="bg1"/>
                </a:solidFill>
              </a:rPr>
              <a:t>Django </a:t>
            </a:r>
            <a:r>
              <a:rPr lang="zh-CN" altLang="en-US" sz="1600">
                <a:solidFill>
                  <a:schemeClr val="bg1"/>
                </a:solidFill>
              </a:rPr>
              <a:t>视图函数</a:t>
            </a:r>
            <a:r>
              <a:rPr lang="en-US" altLang="en-US" sz="1600">
                <a:solidFill>
                  <a:schemeClr val="bg1"/>
                </a:solidFill>
              </a:rPr>
              <a:t> </a:t>
            </a:r>
            <a:r>
              <a:rPr lang="en-US" altLang="zh-CN" sz="1600">
                <a:solidFill>
                  <a:schemeClr val="bg1"/>
                </a:solidFill>
              </a:rPr>
              <a:t>image_recognize</a:t>
            </a:r>
            <a:r>
              <a:rPr lang="en-US" altLang="en-US" sz="1600">
                <a:solidFill>
                  <a:schemeClr val="bg1"/>
                </a:solidFill>
              </a:rPr>
              <a:t> </a:t>
            </a:r>
            <a:r>
              <a:rPr lang="zh-CN" altLang="en-US" sz="1600">
                <a:solidFill>
                  <a:schemeClr val="bg1"/>
                </a:solidFill>
              </a:rPr>
              <a:t>接收请求，提取上传图片文件，使用</a:t>
            </a:r>
            <a:r>
              <a:rPr lang="en-US" altLang="zh-CN" sz="1600">
                <a:solidFill>
                  <a:schemeClr val="bg1"/>
                </a:solidFill>
              </a:rPr>
              <a:t> OpenCV </a:t>
            </a:r>
            <a:r>
              <a:rPr lang="zh-CN" altLang="en-US" sz="1600">
                <a:solidFill>
                  <a:schemeClr val="bg1"/>
                </a:solidFill>
              </a:rPr>
              <a:t>读取并预处理（如</a:t>
            </a:r>
            <a:r>
              <a:rPr lang="en-US" altLang="zh-CN" sz="1600">
                <a:solidFill>
                  <a:schemeClr val="bg1"/>
                </a:solidFill>
              </a:rPr>
              <a:t> resize</a:t>
            </a:r>
            <a:r>
              <a:rPr lang="zh-CN" altLang="en-US" sz="1600">
                <a:solidFill>
                  <a:schemeClr val="bg1"/>
                </a:solidFill>
              </a:rPr>
              <a:t>、归一化</a:t>
            </a:r>
            <a:r>
              <a:rPr lang="en-US" altLang="zh-CN" sz="1600">
                <a:solidFill>
                  <a:schemeClr val="bg1"/>
                </a:solidFill>
              </a:rPr>
              <a:t> </a:t>
            </a:r>
            <a:r>
              <a:rPr lang="zh-CN" altLang="en-US" sz="1600">
                <a:solidFill>
                  <a:schemeClr val="bg1"/>
                </a:solidFill>
              </a:rPr>
              <a:t>），调用模型推理函数</a:t>
            </a:r>
            <a:r>
              <a:rPr lang="en-US" altLang="en-US" sz="1600">
                <a:solidFill>
                  <a:schemeClr val="bg1"/>
                </a:solidFill>
              </a:rPr>
              <a:t> </a:t>
            </a:r>
            <a:r>
              <a:rPr lang="en-US" altLang="zh-CN" sz="1600">
                <a:solidFill>
                  <a:schemeClr val="bg1"/>
                </a:solidFill>
              </a:rPr>
              <a:t>infer_image</a:t>
            </a:r>
            <a:r>
              <a:rPr lang="en-US" altLang="en-US" sz="1600">
                <a:solidFill>
                  <a:schemeClr val="bg1"/>
                </a:solidFill>
              </a:rPr>
              <a:t> </a:t>
            </a:r>
            <a:r>
              <a:rPr lang="zh-CN" altLang="en-US" sz="1600">
                <a:solidFill>
                  <a:schemeClr val="bg1"/>
                </a:solidFill>
              </a:rPr>
              <a:t>，该函数根据配置加载</a:t>
            </a:r>
            <a:r>
              <a:rPr lang="en-US" altLang="zh-CN" sz="1600">
                <a:solidFill>
                  <a:schemeClr val="bg1"/>
                </a:solidFill>
              </a:rPr>
              <a:t> YOLOv8m </a:t>
            </a:r>
            <a:r>
              <a:rPr lang="zh-CN" altLang="en-US" sz="1600">
                <a:solidFill>
                  <a:schemeClr val="bg1"/>
                </a:solidFill>
              </a:rPr>
              <a:t>及扩展模型，执行表情识别，将识别结果（表情类别、置信度</a:t>
            </a:r>
            <a:r>
              <a:rPr lang="en-US" altLang="zh-CN" sz="1600">
                <a:solidFill>
                  <a:schemeClr val="bg1"/>
                </a:solidFill>
              </a:rPr>
              <a:t> </a:t>
            </a:r>
            <a:r>
              <a:rPr lang="zh-CN" altLang="en-US" sz="1600">
                <a:solidFill>
                  <a:schemeClr val="bg1"/>
                </a:solidFill>
              </a:rPr>
              <a:t>）绘制到图片上，编码为</a:t>
            </a:r>
            <a:r>
              <a:rPr lang="en-US" altLang="zh-CN" sz="1600">
                <a:solidFill>
                  <a:schemeClr val="bg1"/>
                </a:solidFill>
              </a:rPr>
              <a:t> Base64 </a:t>
            </a:r>
            <a:r>
              <a:rPr lang="zh-CN" altLang="en-US" sz="1600">
                <a:solidFill>
                  <a:schemeClr val="bg1"/>
                </a:solidFill>
              </a:rPr>
              <a:t>字符串返回前端；</a:t>
            </a:r>
            <a:endParaRPr lang="zh-CN" altLang="en-US" sz="1600">
              <a:solidFill>
                <a:schemeClr val="bg1"/>
              </a:solidFill>
            </a:endParaRPr>
          </a:p>
          <a:p>
            <a:r>
              <a:rPr lang="en-US" altLang="zh-CN" sz="1600">
                <a:solidFill>
                  <a:schemeClr val="bg1"/>
                </a:solidFill>
              </a:rPr>
              <a:t>2.</a:t>
            </a:r>
            <a:r>
              <a:rPr lang="zh-CN" altLang="en-US" sz="1600">
                <a:solidFill>
                  <a:schemeClr val="bg1"/>
                </a:solidFill>
              </a:rPr>
              <a:t>视频识别：</a:t>
            </a:r>
            <a:endParaRPr lang="zh-CN" altLang="en-US" sz="1600">
              <a:solidFill>
                <a:schemeClr val="bg1"/>
              </a:solidFill>
            </a:endParaRPr>
          </a:p>
          <a:p>
            <a:r>
              <a:rPr lang="en-US" altLang="zh-CN" sz="1600">
                <a:solidFill>
                  <a:schemeClr val="bg1"/>
                </a:solidFill>
              </a:rPr>
              <a:t>a.</a:t>
            </a:r>
            <a:r>
              <a:rPr lang="zh-CN" altLang="en-US" sz="1600">
                <a:solidFill>
                  <a:schemeClr val="bg1"/>
                </a:solidFill>
              </a:rPr>
              <a:t>前端实现：视频识别页使用</a:t>
            </a:r>
            <a:r>
              <a:rPr lang="en-US" altLang="zh-CN" sz="1600">
                <a:solidFill>
                  <a:schemeClr val="bg1"/>
                </a:solidFill>
              </a:rPr>
              <a:t> HTML5</a:t>
            </a:r>
            <a:r>
              <a:rPr lang="en-US" altLang="en-US" sz="1600">
                <a:solidFill>
                  <a:schemeClr val="bg1"/>
                </a:solidFill>
              </a:rPr>
              <a:t> </a:t>
            </a:r>
            <a:r>
              <a:rPr lang="en-US" altLang="zh-CN" sz="1600">
                <a:solidFill>
                  <a:schemeClr val="bg1"/>
                </a:solidFill>
              </a:rPr>
              <a:t>&lt;input type="file"&gt;</a:t>
            </a:r>
            <a:r>
              <a:rPr lang="en-US" altLang="en-US" sz="1600">
                <a:solidFill>
                  <a:schemeClr val="bg1"/>
                </a:solidFill>
              </a:rPr>
              <a:t> </a:t>
            </a:r>
            <a:r>
              <a:rPr lang="zh-CN" altLang="en-US" sz="1600">
                <a:solidFill>
                  <a:schemeClr val="bg1"/>
                </a:solidFill>
              </a:rPr>
              <a:t>选择视频文件（限制</a:t>
            </a:r>
            <a:r>
              <a:rPr lang="en-US" altLang="zh-CN" sz="1600">
                <a:solidFill>
                  <a:schemeClr val="bg1"/>
                </a:solidFill>
              </a:rPr>
              <a:t> MP4 </a:t>
            </a:r>
            <a:r>
              <a:rPr lang="zh-CN" altLang="en-US" sz="1600">
                <a:solidFill>
                  <a:schemeClr val="bg1"/>
                </a:solidFill>
              </a:rPr>
              <a:t>格式</a:t>
            </a:r>
            <a:r>
              <a:rPr lang="en-US" altLang="zh-CN" sz="1600">
                <a:solidFill>
                  <a:schemeClr val="bg1"/>
                </a:solidFill>
              </a:rPr>
              <a:t> </a:t>
            </a:r>
            <a:r>
              <a:rPr lang="zh-CN" altLang="en-US" sz="1600">
                <a:solidFill>
                  <a:schemeClr val="bg1"/>
                </a:solidFill>
              </a:rPr>
              <a:t>），借助</a:t>
            </a:r>
            <a:r>
              <a:rPr lang="en-US" altLang="zh-CN" sz="1600">
                <a:solidFill>
                  <a:schemeClr val="bg1"/>
                </a:solidFill>
              </a:rPr>
              <a:t> JavaScript </a:t>
            </a:r>
            <a:r>
              <a:rPr lang="zh-CN" altLang="en-US" sz="1600">
                <a:solidFill>
                  <a:schemeClr val="bg1"/>
                </a:solidFill>
              </a:rPr>
              <a:t>监听文件上传，通过</a:t>
            </a:r>
            <a:r>
              <a:rPr lang="en-US" altLang="zh-CN" sz="1600">
                <a:solidFill>
                  <a:schemeClr val="bg1"/>
                </a:solidFill>
              </a:rPr>
              <a:t> Axios </a:t>
            </a:r>
            <a:r>
              <a:rPr lang="zh-CN" altLang="en-US" sz="1600">
                <a:solidFill>
                  <a:schemeClr val="bg1"/>
                </a:solidFill>
              </a:rPr>
              <a:t>发送</a:t>
            </a:r>
            <a:r>
              <a:rPr lang="en-US" altLang="zh-CN" sz="1600">
                <a:solidFill>
                  <a:schemeClr val="bg1"/>
                </a:solidFill>
              </a:rPr>
              <a:t> POST </a:t>
            </a:r>
            <a:r>
              <a:rPr lang="zh-CN" altLang="en-US" sz="1600">
                <a:solidFill>
                  <a:schemeClr val="bg1"/>
                </a:solidFill>
              </a:rPr>
              <a:t>请求至</a:t>
            </a:r>
            <a:r>
              <a:rPr lang="en-US" altLang="en-US" sz="1600">
                <a:solidFill>
                  <a:schemeClr val="bg1"/>
                </a:solidFill>
              </a:rPr>
              <a:t> </a:t>
            </a:r>
            <a:r>
              <a:rPr lang="en-US" altLang="zh-CN" sz="1600">
                <a:solidFill>
                  <a:schemeClr val="bg1"/>
                </a:solidFill>
              </a:rPr>
              <a:t>/video/recognize/</a:t>
            </a:r>
            <a:r>
              <a:rPr lang="en-US" altLang="en-US" sz="1600">
                <a:solidFill>
                  <a:schemeClr val="bg1"/>
                </a:solidFill>
              </a:rPr>
              <a:t> </a:t>
            </a:r>
            <a:r>
              <a:rPr lang="zh-CN" altLang="en-US" sz="1600">
                <a:solidFill>
                  <a:schemeClr val="bg1"/>
                </a:solidFill>
              </a:rPr>
              <a:t>接口。利用</a:t>
            </a:r>
            <a:r>
              <a:rPr lang="en-US" altLang="zh-CN" sz="1600">
                <a:solidFill>
                  <a:schemeClr val="bg1"/>
                </a:solidFill>
              </a:rPr>
              <a:t> HTML5</a:t>
            </a:r>
            <a:r>
              <a:rPr lang="en-US" altLang="en-US" sz="1600">
                <a:solidFill>
                  <a:schemeClr val="bg1"/>
                </a:solidFill>
              </a:rPr>
              <a:t> </a:t>
            </a:r>
            <a:r>
              <a:rPr lang="en-US" altLang="zh-CN" sz="1600">
                <a:solidFill>
                  <a:schemeClr val="bg1"/>
                </a:solidFill>
              </a:rPr>
              <a:t>video</a:t>
            </a:r>
            <a:r>
              <a:rPr lang="en-US" altLang="en-US" sz="1600">
                <a:solidFill>
                  <a:schemeClr val="bg1"/>
                </a:solidFill>
              </a:rPr>
              <a:t> </a:t>
            </a:r>
            <a:r>
              <a:rPr lang="zh-CN" altLang="en-US" sz="1600">
                <a:solidFill>
                  <a:schemeClr val="bg1"/>
                </a:solidFill>
              </a:rPr>
              <a:t>标签展示原始视频与识别进度，结合</a:t>
            </a:r>
            <a:r>
              <a:rPr lang="en-US" altLang="zh-CN" sz="1600">
                <a:solidFill>
                  <a:schemeClr val="bg1"/>
                </a:solidFill>
              </a:rPr>
              <a:t> WebSocket </a:t>
            </a:r>
            <a:r>
              <a:rPr lang="zh-CN" altLang="en-US" sz="1600">
                <a:solidFill>
                  <a:schemeClr val="bg1"/>
                </a:solidFill>
              </a:rPr>
              <a:t>或轮询机制获取识别进度与结果</a:t>
            </a:r>
            <a:r>
              <a:rPr lang="en-US" altLang="zh-CN" sz="1600">
                <a:solidFill>
                  <a:schemeClr val="bg1"/>
                </a:solidFill>
              </a:rPr>
              <a:t>;</a:t>
            </a:r>
            <a:endParaRPr lang="en-US" altLang="zh-CN" sz="1600">
              <a:solidFill>
                <a:schemeClr val="bg1"/>
              </a:solidFill>
            </a:endParaRPr>
          </a:p>
          <a:p>
            <a:r>
              <a:rPr lang="en-US" altLang="zh-CN" sz="1600">
                <a:solidFill>
                  <a:schemeClr val="bg1"/>
                </a:solidFill>
              </a:rPr>
              <a:t>b.</a:t>
            </a:r>
            <a:r>
              <a:rPr lang="zh-CN" altLang="en-US" sz="1600">
                <a:solidFill>
                  <a:schemeClr val="bg1"/>
                </a:solidFill>
              </a:rPr>
              <a:t>后端实现：</a:t>
            </a:r>
            <a:r>
              <a:rPr lang="en-US" altLang="zh-CN" sz="1600">
                <a:solidFill>
                  <a:schemeClr val="bg1"/>
                </a:solidFill>
              </a:rPr>
              <a:t>Django </a:t>
            </a:r>
            <a:r>
              <a:rPr lang="zh-CN" altLang="en-US" sz="1600">
                <a:solidFill>
                  <a:schemeClr val="bg1"/>
                </a:solidFill>
              </a:rPr>
              <a:t>视图</a:t>
            </a:r>
            <a:r>
              <a:rPr lang="en-US" altLang="en-US" sz="1600">
                <a:solidFill>
                  <a:schemeClr val="bg1"/>
                </a:solidFill>
              </a:rPr>
              <a:t> </a:t>
            </a:r>
            <a:r>
              <a:rPr lang="en-US" altLang="zh-CN" sz="1600">
                <a:solidFill>
                  <a:schemeClr val="bg1"/>
                </a:solidFill>
              </a:rPr>
              <a:t>video_recognize</a:t>
            </a:r>
            <a:r>
              <a:rPr lang="en-US" altLang="en-US" sz="1600">
                <a:solidFill>
                  <a:schemeClr val="bg1"/>
                </a:solidFill>
              </a:rPr>
              <a:t> </a:t>
            </a:r>
            <a:r>
              <a:rPr lang="zh-CN" altLang="en-US" sz="1600">
                <a:solidFill>
                  <a:schemeClr val="bg1"/>
                </a:solidFill>
              </a:rPr>
              <a:t>处理上传视频，使用</a:t>
            </a:r>
            <a:r>
              <a:rPr lang="en-US" altLang="zh-CN" sz="1600">
                <a:solidFill>
                  <a:schemeClr val="bg1"/>
                </a:solidFill>
              </a:rPr>
              <a:t> OpenCV </a:t>
            </a:r>
            <a:r>
              <a:rPr lang="zh-CN" altLang="en-US" sz="1600">
                <a:solidFill>
                  <a:schemeClr val="bg1"/>
                </a:solidFill>
              </a:rPr>
              <a:t>逐帧读取视频，对每一帧调用</a:t>
            </a:r>
            <a:r>
              <a:rPr lang="en-US" altLang="en-US" sz="1600">
                <a:solidFill>
                  <a:schemeClr val="bg1"/>
                </a:solidFill>
              </a:rPr>
              <a:t> </a:t>
            </a:r>
            <a:r>
              <a:rPr lang="en-US" altLang="zh-CN" sz="1600">
                <a:solidFill>
                  <a:schemeClr val="bg1"/>
                </a:solidFill>
              </a:rPr>
              <a:t>infer_image</a:t>
            </a:r>
            <a:r>
              <a:rPr lang="en-US" altLang="en-US" sz="1600">
                <a:solidFill>
                  <a:schemeClr val="bg1"/>
                </a:solidFill>
              </a:rPr>
              <a:t> </a:t>
            </a:r>
            <a:r>
              <a:rPr lang="zh-CN" altLang="en-US" sz="1600">
                <a:solidFill>
                  <a:schemeClr val="bg1"/>
                </a:solidFill>
              </a:rPr>
              <a:t>函数执行表情识别，将含标注的帧重新编码合成视频。通过</a:t>
            </a:r>
            <a:r>
              <a:rPr lang="en-US" altLang="zh-CN" sz="1600">
                <a:solidFill>
                  <a:schemeClr val="bg1"/>
                </a:solidFill>
              </a:rPr>
              <a:t> Django </a:t>
            </a:r>
            <a:r>
              <a:rPr lang="zh-CN" altLang="en-US" sz="1600">
                <a:solidFill>
                  <a:schemeClr val="bg1"/>
                </a:solidFill>
              </a:rPr>
              <a:t>的</a:t>
            </a:r>
            <a:r>
              <a:rPr lang="en-US" altLang="en-US" sz="1600">
                <a:solidFill>
                  <a:schemeClr val="bg1"/>
                </a:solidFill>
              </a:rPr>
              <a:t> </a:t>
            </a:r>
            <a:r>
              <a:rPr lang="en-US" altLang="zh-CN" sz="1600">
                <a:solidFill>
                  <a:schemeClr val="bg1"/>
                </a:solidFill>
              </a:rPr>
              <a:t>StreamingHttpResponse</a:t>
            </a:r>
            <a:r>
              <a:rPr lang="en-US" altLang="en-US" sz="1600">
                <a:solidFill>
                  <a:schemeClr val="bg1"/>
                </a:solidFill>
              </a:rPr>
              <a:t> </a:t>
            </a:r>
            <a:r>
              <a:rPr lang="zh-CN" altLang="en-US" sz="1600">
                <a:solidFill>
                  <a:schemeClr val="bg1"/>
                </a:solidFill>
              </a:rPr>
              <a:t>或临时文件存储，返回识别后的视频文件及表情统计结果（如各表情出现时长、占比</a:t>
            </a:r>
            <a:r>
              <a:rPr lang="en-US" altLang="zh-CN" sz="1600">
                <a:solidFill>
                  <a:schemeClr val="bg1"/>
                </a:solidFill>
              </a:rPr>
              <a:t> </a:t>
            </a:r>
            <a:r>
              <a:rPr lang="zh-CN" altLang="en-US" sz="1600">
                <a:solidFill>
                  <a:schemeClr val="bg1"/>
                </a:solidFill>
              </a:rPr>
              <a:t>）</a:t>
            </a:r>
            <a:r>
              <a:rPr lang="en-US" altLang="zh-CN" sz="1600">
                <a:solidFill>
                  <a:schemeClr val="bg1"/>
                </a:solidFill>
              </a:rPr>
              <a:t>;</a:t>
            </a:r>
            <a:endParaRPr lang="en-US" altLang="zh-CN" sz="1600">
              <a:solidFill>
                <a:schemeClr val="bg1"/>
              </a:solidFill>
            </a:endParaRPr>
          </a:p>
          <a:p>
            <a:endParaRPr lang="en-US" altLang="zh-CN" sz="1600">
              <a:solidFill>
                <a:schemeClr val="bg1"/>
              </a:solidFill>
            </a:endParaRPr>
          </a:p>
          <a:p>
            <a:r>
              <a:rPr lang="en-US" altLang="zh-CN" sz="1600">
                <a:solidFill>
                  <a:schemeClr val="bg1"/>
                </a:solidFill>
              </a:rPr>
              <a:t>3.</a:t>
            </a:r>
            <a:r>
              <a:rPr lang="zh-CN" altLang="en-US" sz="1600">
                <a:solidFill>
                  <a:schemeClr val="bg1"/>
                </a:solidFill>
              </a:rPr>
              <a:t>实时识别：</a:t>
            </a:r>
            <a:endParaRPr lang="zh-CN" altLang="en-US" sz="1600">
              <a:solidFill>
                <a:schemeClr val="bg1"/>
              </a:solidFill>
            </a:endParaRPr>
          </a:p>
          <a:p>
            <a:r>
              <a:rPr lang="en-US" altLang="zh-CN" sz="1600">
                <a:solidFill>
                  <a:schemeClr val="bg1"/>
                </a:solidFill>
              </a:rPr>
              <a:t>a.</a:t>
            </a:r>
            <a:r>
              <a:rPr lang="zh-CN" altLang="en-US" sz="1600">
                <a:solidFill>
                  <a:schemeClr val="bg1"/>
                </a:solidFill>
              </a:rPr>
              <a:t>前端实现：实时识别页调用浏览器</a:t>
            </a:r>
            <a:r>
              <a:rPr lang="en-US" altLang="en-US" sz="1600">
                <a:solidFill>
                  <a:schemeClr val="bg1"/>
                </a:solidFill>
              </a:rPr>
              <a:t> </a:t>
            </a:r>
            <a:r>
              <a:rPr lang="en-US" altLang="zh-CN" sz="1600">
                <a:solidFill>
                  <a:schemeClr val="bg1"/>
                </a:solidFill>
              </a:rPr>
              <a:t>navigator.mediaDevices.getUserMedia</a:t>
            </a:r>
            <a:r>
              <a:rPr lang="en-US" altLang="en-US" sz="1600">
                <a:solidFill>
                  <a:schemeClr val="bg1"/>
                </a:solidFill>
              </a:rPr>
              <a:t> </a:t>
            </a:r>
            <a:r>
              <a:rPr lang="en-US" altLang="zh-CN" sz="1600">
                <a:solidFill>
                  <a:schemeClr val="bg1"/>
                </a:solidFill>
              </a:rPr>
              <a:t>API </a:t>
            </a:r>
            <a:r>
              <a:rPr lang="zh-CN" altLang="en-US" sz="1600">
                <a:solidFill>
                  <a:schemeClr val="bg1"/>
                </a:solidFill>
              </a:rPr>
              <a:t>获取摄像头视频流，通过</a:t>
            </a:r>
            <a:r>
              <a:rPr lang="en-US" altLang="en-US" sz="1600">
                <a:solidFill>
                  <a:schemeClr val="bg1"/>
                </a:solidFill>
              </a:rPr>
              <a:t> </a:t>
            </a:r>
            <a:r>
              <a:rPr lang="en-US" altLang="zh-CN" sz="1600">
                <a:solidFill>
                  <a:schemeClr val="bg1"/>
                </a:solidFill>
              </a:rPr>
              <a:t>&lt;video&gt;</a:t>
            </a:r>
            <a:r>
              <a:rPr lang="en-US" altLang="en-US" sz="1600">
                <a:solidFill>
                  <a:schemeClr val="bg1"/>
                </a:solidFill>
              </a:rPr>
              <a:t> </a:t>
            </a:r>
            <a:r>
              <a:rPr lang="zh-CN" altLang="en-US" sz="1600">
                <a:solidFill>
                  <a:schemeClr val="bg1"/>
                </a:solidFill>
              </a:rPr>
              <a:t>标签展示实时画面，利用</a:t>
            </a:r>
            <a:r>
              <a:rPr lang="en-US" altLang="zh-CN" sz="1600">
                <a:solidFill>
                  <a:schemeClr val="bg1"/>
                </a:solidFill>
              </a:rPr>
              <a:t> Canvas </a:t>
            </a:r>
            <a:r>
              <a:rPr lang="zh-CN" altLang="en-US" sz="1600">
                <a:solidFill>
                  <a:schemeClr val="bg1"/>
                </a:solidFill>
              </a:rPr>
              <a:t>定时截取视频帧，通过</a:t>
            </a:r>
            <a:r>
              <a:rPr lang="en-US" altLang="zh-CN" sz="1600">
                <a:solidFill>
                  <a:schemeClr val="bg1"/>
                </a:solidFill>
              </a:rPr>
              <a:t> WebSocket </a:t>
            </a:r>
            <a:r>
              <a:rPr lang="zh-CN" altLang="en-US" sz="1600">
                <a:solidFill>
                  <a:schemeClr val="bg1"/>
                </a:solidFill>
              </a:rPr>
              <a:t>或</a:t>
            </a:r>
            <a:r>
              <a:rPr lang="en-US" altLang="zh-CN" sz="1600">
                <a:solidFill>
                  <a:schemeClr val="bg1"/>
                </a:solidFill>
              </a:rPr>
              <a:t> AJAX </a:t>
            </a:r>
            <a:r>
              <a:rPr lang="zh-CN" altLang="en-US" sz="1600">
                <a:solidFill>
                  <a:schemeClr val="bg1"/>
                </a:solidFill>
              </a:rPr>
              <a:t>实时发送至后端</a:t>
            </a:r>
            <a:r>
              <a:rPr lang="en-US" altLang="en-US" sz="1600">
                <a:solidFill>
                  <a:schemeClr val="bg1"/>
                </a:solidFill>
              </a:rPr>
              <a:t> </a:t>
            </a:r>
            <a:r>
              <a:rPr lang="en-US" altLang="zh-CN" sz="1600">
                <a:solidFill>
                  <a:schemeClr val="bg1"/>
                </a:solidFill>
              </a:rPr>
              <a:t>/camera/recognize/</a:t>
            </a:r>
            <a:r>
              <a:rPr lang="en-US" altLang="en-US" sz="1600">
                <a:solidFill>
                  <a:schemeClr val="bg1"/>
                </a:solidFill>
              </a:rPr>
              <a:t> </a:t>
            </a:r>
            <a:r>
              <a:rPr lang="zh-CN" altLang="en-US" sz="1600">
                <a:solidFill>
                  <a:schemeClr val="bg1"/>
                </a:solidFill>
              </a:rPr>
              <a:t>接口，接收识别结果后，在</a:t>
            </a:r>
            <a:r>
              <a:rPr lang="en-US" altLang="zh-CN" sz="1600">
                <a:solidFill>
                  <a:schemeClr val="bg1"/>
                </a:solidFill>
              </a:rPr>
              <a:t> Canvas </a:t>
            </a:r>
            <a:r>
              <a:rPr lang="zh-CN" altLang="en-US" sz="1600">
                <a:solidFill>
                  <a:schemeClr val="bg1"/>
                </a:solidFill>
              </a:rPr>
              <a:t>上绘制表情标注框</a:t>
            </a:r>
            <a:r>
              <a:rPr lang="en-US" altLang="zh-CN" sz="1600">
                <a:solidFill>
                  <a:schemeClr val="bg1"/>
                </a:solidFill>
              </a:rPr>
              <a:t>;</a:t>
            </a:r>
            <a:endParaRPr lang="en-US" altLang="zh-CN" sz="1600">
              <a:solidFill>
                <a:schemeClr val="bg1"/>
              </a:solidFill>
            </a:endParaRPr>
          </a:p>
          <a:p>
            <a:r>
              <a:rPr lang="en-US" altLang="zh-CN" sz="1600">
                <a:solidFill>
                  <a:schemeClr val="bg1"/>
                </a:solidFill>
              </a:rPr>
              <a:t>b.</a:t>
            </a:r>
            <a:r>
              <a:rPr lang="zh-CN" altLang="en-US" sz="1600">
                <a:solidFill>
                  <a:schemeClr val="bg1"/>
                </a:solidFill>
              </a:rPr>
              <a:t>后端实现：</a:t>
            </a:r>
            <a:r>
              <a:rPr lang="en-US" altLang="zh-CN" sz="1600">
                <a:solidFill>
                  <a:schemeClr val="bg1"/>
                </a:solidFill>
              </a:rPr>
              <a:t>Django </a:t>
            </a:r>
            <a:r>
              <a:rPr lang="zh-CN" altLang="en-US" sz="1600">
                <a:solidFill>
                  <a:schemeClr val="bg1"/>
                </a:solidFill>
              </a:rPr>
              <a:t>视图</a:t>
            </a:r>
            <a:r>
              <a:rPr lang="en-US" altLang="en-US" sz="1600">
                <a:solidFill>
                  <a:schemeClr val="bg1"/>
                </a:solidFill>
              </a:rPr>
              <a:t> </a:t>
            </a:r>
            <a:r>
              <a:rPr lang="en-US" altLang="zh-CN" sz="1600">
                <a:solidFill>
                  <a:schemeClr val="bg1"/>
                </a:solidFill>
              </a:rPr>
              <a:t>camera_recognize</a:t>
            </a:r>
            <a:r>
              <a:rPr lang="en-US" altLang="en-US" sz="1600">
                <a:solidFill>
                  <a:schemeClr val="bg1"/>
                </a:solidFill>
              </a:rPr>
              <a:t> </a:t>
            </a:r>
            <a:r>
              <a:rPr lang="zh-CN" altLang="en-US" sz="1600">
                <a:solidFill>
                  <a:schemeClr val="bg1"/>
                </a:solidFill>
              </a:rPr>
              <a:t>接收前端发送的</a:t>
            </a:r>
            <a:r>
              <a:rPr lang="en-US" altLang="zh-CN" sz="1600">
                <a:solidFill>
                  <a:schemeClr val="bg1"/>
                </a:solidFill>
              </a:rPr>
              <a:t> Base64 </a:t>
            </a:r>
            <a:r>
              <a:rPr lang="zh-CN" altLang="en-US" sz="1600">
                <a:solidFill>
                  <a:schemeClr val="bg1"/>
                </a:solidFill>
              </a:rPr>
              <a:t>编码图像帧，解码为</a:t>
            </a:r>
            <a:r>
              <a:rPr lang="en-US" altLang="zh-CN" sz="1600">
                <a:solidFill>
                  <a:schemeClr val="bg1"/>
                </a:solidFill>
              </a:rPr>
              <a:t> OpenCV </a:t>
            </a:r>
            <a:r>
              <a:rPr lang="zh-CN" altLang="en-US" sz="1600">
                <a:solidFill>
                  <a:schemeClr val="bg1"/>
                </a:solidFill>
              </a:rPr>
              <a:t>图像格式，调用</a:t>
            </a:r>
            <a:r>
              <a:rPr lang="en-US" altLang="en-US" sz="1600">
                <a:solidFill>
                  <a:schemeClr val="bg1"/>
                </a:solidFill>
              </a:rPr>
              <a:t> </a:t>
            </a:r>
            <a:r>
              <a:rPr lang="en-US" altLang="zh-CN" sz="1600">
                <a:solidFill>
                  <a:schemeClr val="bg1"/>
                </a:solidFill>
              </a:rPr>
              <a:t>infer_image</a:t>
            </a:r>
            <a:r>
              <a:rPr lang="en-US" altLang="en-US" sz="1600">
                <a:solidFill>
                  <a:schemeClr val="bg1"/>
                </a:solidFill>
              </a:rPr>
              <a:t> </a:t>
            </a:r>
            <a:r>
              <a:rPr lang="zh-CN" altLang="en-US" sz="1600">
                <a:solidFill>
                  <a:schemeClr val="bg1"/>
                </a:solidFill>
              </a:rPr>
              <a:t>函数执行表情识别，将标注后的图像重新编码为</a:t>
            </a:r>
            <a:r>
              <a:rPr lang="en-US" altLang="zh-CN" sz="1600">
                <a:solidFill>
                  <a:schemeClr val="bg1"/>
                </a:solidFill>
              </a:rPr>
              <a:t> Base64 </a:t>
            </a:r>
            <a:r>
              <a:rPr lang="zh-CN" altLang="en-US" sz="1600">
                <a:solidFill>
                  <a:schemeClr val="bg1"/>
                </a:solidFill>
              </a:rPr>
              <a:t>返回前端，实现实时交互</a:t>
            </a:r>
            <a:r>
              <a:rPr lang="en-US" altLang="zh-CN" sz="1600">
                <a:solidFill>
                  <a:schemeClr val="bg1"/>
                </a:solidFill>
              </a:rPr>
              <a:t>;</a:t>
            </a:r>
            <a:endParaRPr lang="en-US" altLang="zh-CN" sz="160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526415" y="355600"/>
            <a:ext cx="4064000" cy="460375"/>
          </a:xfrm>
          <a:prstGeom prst="rect">
            <a:avLst/>
          </a:prstGeom>
          <a:noFill/>
        </p:spPr>
        <p:txBody>
          <a:bodyPr wrap="square" rtlCol="0">
            <a:spAutoFit/>
          </a:bodyPr>
          <a:p>
            <a:r>
              <a:rPr lang="zh-CN" altLang="en-US" sz="2400">
                <a:solidFill>
                  <a:schemeClr val="accent6"/>
                </a:solidFill>
              </a:rPr>
              <a:t>模型推理</a:t>
            </a:r>
            <a:r>
              <a:rPr lang="zh-CN" altLang="en-US" sz="2400">
                <a:solidFill>
                  <a:schemeClr val="accent6"/>
                </a:solidFill>
              </a:rPr>
              <a:t>接口</a:t>
            </a:r>
            <a:endParaRPr lang="zh-CN" altLang="en-US" sz="2400">
              <a:solidFill>
                <a:schemeClr val="accent6"/>
              </a:solidFill>
            </a:endParaRPr>
          </a:p>
        </p:txBody>
      </p:sp>
      <p:sp>
        <p:nvSpPr>
          <p:cNvPr id="4" name="文本框 3"/>
          <p:cNvSpPr txBox="1"/>
          <p:nvPr/>
        </p:nvSpPr>
        <p:spPr>
          <a:xfrm>
            <a:off x="668655" y="1134745"/>
            <a:ext cx="4788535" cy="5365750"/>
          </a:xfrm>
          <a:prstGeom prst="rect">
            <a:avLst/>
          </a:prstGeom>
          <a:noFill/>
        </p:spPr>
        <p:txBody>
          <a:bodyPr wrap="square" rtlCol="0">
            <a:noAutofit/>
          </a:bodyPr>
          <a:p>
            <a:r>
              <a:rPr lang="en-US" altLang="zh-CN">
                <a:solidFill>
                  <a:schemeClr val="bg1"/>
                </a:solidFill>
              </a:rPr>
              <a:t>-</a:t>
            </a:r>
            <a:r>
              <a:rPr lang="zh-CN" altLang="en-US">
                <a:solidFill>
                  <a:schemeClr val="bg1"/>
                </a:solidFill>
              </a:rPr>
              <a:t>模型加载与初始化：在</a:t>
            </a:r>
            <a:r>
              <a:rPr lang="en-US" altLang="zh-CN">
                <a:solidFill>
                  <a:schemeClr val="bg1"/>
                </a:solidFill>
              </a:rPr>
              <a:t> Django </a:t>
            </a:r>
            <a:r>
              <a:rPr lang="zh-CN" altLang="en-US">
                <a:solidFill>
                  <a:schemeClr val="bg1"/>
                </a:solidFill>
              </a:rPr>
              <a:t>项目启动时，通过自定义</a:t>
            </a:r>
            <a:r>
              <a:rPr lang="en-US" altLang="zh-CN">
                <a:solidFill>
                  <a:schemeClr val="bg1"/>
                </a:solidFill>
              </a:rPr>
              <a:t> AppConfig </a:t>
            </a:r>
            <a:r>
              <a:rPr lang="zh-CN" altLang="en-US">
                <a:solidFill>
                  <a:schemeClr val="bg1"/>
                </a:solidFill>
              </a:rPr>
              <a:t>或独立脚本，加载</a:t>
            </a:r>
            <a:r>
              <a:rPr lang="en-US" altLang="zh-CN">
                <a:solidFill>
                  <a:schemeClr val="bg1"/>
                </a:solidFill>
              </a:rPr>
              <a:t> YOLOv8m </a:t>
            </a:r>
            <a:r>
              <a:rPr lang="zh-CN" altLang="en-US">
                <a:solidFill>
                  <a:schemeClr val="bg1"/>
                </a:solidFill>
              </a:rPr>
              <a:t>及扩展的</a:t>
            </a:r>
            <a:r>
              <a:rPr lang="en-US" altLang="zh-CN">
                <a:solidFill>
                  <a:schemeClr val="bg1"/>
                </a:solidFill>
              </a:rPr>
              <a:t> ResNet</a:t>
            </a:r>
            <a:r>
              <a:rPr lang="zh-CN" altLang="en-US">
                <a:solidFill>
                  <a:schemeClr val="bg1"/>
                </a:solidFill>
              </a:rPr>
              <a:t>、</a:t>
            </a:r>
            <a:r>
              <a:rPr lang="en-US" altLang="zh-CN">
                <a:solidFill>
                  <a:schemeClr val="bg1"/>
                </a:solidFill>
              </a:rPr>
              <a:t>AlexNet</a:t>
            </a:r>
            <a:r>
              <a:rPr lang="zh-CN" altLang="en-US">
                <a:solidFill>
                  <a:schemeClr val="bg1"/>
                </a:solidFill>
              </a:rPr>
              <a:t>、</a:t>
            </a:r>
            <a:r>
              <a:rPr lang="en-US" altLang="zh-CN">
                <a:solidFill>
                  <a:schemeClr val="bg1"/>
                </a:solidFill>
              </a:rPr>
              <a:t>VGG </a:t>
            </a:r>
            <a:r>
              <a:rPr lang="zh-CN" altLang="en-US">
                <a:solidFill>
                  <a:schemeClr val="bg1"/>
                </a:solidFill>
              </a:rPr>
              <a:t>模型。利用</a:t>
            </a:r>
            <a:r>
              <a:rPr lang="en-US" altLang="zh-CN">
                <a:solidFill>
                  <a:schemeClr val="bg1"/>
                </a:solidFill>
              </a:rPr>
              <a:t> PyTorch</a:t>
            </a:r>
            <a:r>
              <a:rPr lang="zh-CN" altLang="en-US">
                <a:solidFill>
                  <a:schemeClr val="bg1"/>
                </a:solidFill>
              </a:rPr>
              <a:t>的</a:t>
            </a:r>
            <a:r>
              <a:rPr lang="en-US" altLang="en-US">
                <a:solidFill>
                  <a:schemeClr val="bg1"/>
                </a:solidFill>
              </a:rPr>
              <a:t> </a:t>
            </a:r>
            <a:r>
              <a:rPr lang="en-US" altLang="zh-CN">
                <a:solidFill>
                  <a:schemeClr val="bg1"/>
                </a:solidFill>
              </a:rPr>
              <a:t>torch.load</a:t>
            </a:r>
            <a:r>
              <a:rPr lang="en-US" altLang="en-US">
                <a:solidFill>
                  <a:schemeClr val="bg1"/>
                </a:solidFill>
              </a:rPr>
              <a:t> </a:t>
            </a:r>
            <a:r>
              <a:rPr lang="zh-CN" altLang="en-US">
                <a:solidFill>
                  <a:schemeClr val="bg1"/>
                </a:solidFill>
              </a:rPr>
              <a:t>函数加载预训练权重，初始化模型实例并设置为推理模式（</a:t>
            </a:r>
            <a:r>
              <a:rPr lang="en-US" altLang="zh-CN">
                <a:solidFill>
                  <a:schemeClr val="bg1"/>
                </a:solidFill>
              </a:rPr>
              <a:t>model.eval()</a:t>
            </a:r>
            <a:r>
              <a:rPr lang="zh-CN" altLang="en-US">
                <a:solidFill>
                  <a:schemeClr val="bg1"/>
                </a:solidFill>
              </a:rPr>
              <a:t>），确保模型在接收请求时快速响应</a:t>
            </a:r>
            <a:endParaRPr lang="zh-CN" altLang="en-US">
              <a:solidFill>
                <a:schemeClr val="bg1"/>
              </a:solidFill>
            </a:endParaRPr>
          </a:p>
          <a:p>
            <a:endParaRPr lang="zh-CN" altLang="en-US">
              <a:solidFill>
                <a:schemeClr val="bg1"/>
              </a:solidFill>
            </a:endParaRPr>
          </a:p>
          <a:p>
            <a:endParaRPr lang="zh-CN" altLang="en-US">
              <a:solidFill>
                <a:schemeClr val="bg1"/>
              </a:solidFill>
            </a:endParaRPr>
          </a:p>
          <a:p>
            <a:endParaRPr lang="zh-CN" altLang="en-US">
              <a:solidFill>
                <a:schemeClr val="bg1"/>
              </a:solidFill>
            </a:endParaRPr>
          </a:p>
        </p:txBody>
      </p:sp>
      <p:sp>
        <p:nvSpPr>
          <p:cNvPr id="5" name="文本框 4"/>
          <p:cNvSpPr txBox="1"/>
          <p:nvPr/>
        </p:nvSpPr>
        <p:spPr>
          <a:xfrm>
            <a:off x="6452870" y="1134745"/>
            <a:ext cx="4502150" cy="2501265"/>
          </a:xfrm>
          <a:prstGeom prst="rect">
            <a:avLst/>
          </a:prstGeom>
          <a:noFill/>
        </p:spPr>
        <p:txBody>
          <a:bodyPr wrap="square" rtlCol="0">
            <a:noAutofit/>
          </a:bodyPr>
          <a:p>
            <a:r>
              <a:rPr lang="en-US" altLang="zh-CN">
                <a:solidFill>
                  <a:schemeClr val="bg1"/>
                </a:solidFill>
                <a:sym typeface="+mn-ea"/>
              </a:rPr>
              <a:t>-</a:t>
            </a:r>
            <a:r>
              <a:rPr lang="zh-CN" altLang="en-US">
                <a:solidFill>
                  <a:schemeClr val="bg1"/>
                </a:solidFill>
                <a:sym typeface="+mn-ea"/>
              </a:rPr>
              <a:t>统一推理逻辑：封装</a:t>
            </a:r>
            <a:r>
              <a:rPr lang="en-US" altLang="en-US">
                <a:solidFill>
                  <a:schemeClr val="bg1"/>
                </a:solidFill>
                <a:sym typeface="+mn-ea"/>
              </a:rPr>
              <a:t> </a:t>
            </a:r>
            <a:r>
              <a:rPr lang="en-US" altLang="zh-CN">
                <a:solidFill>
                  <a:schemeClr val="bg1"/>
                </a:solidFill>
                <a:sym typeface="+mn-ea"/>
              </a:rPr>
              <a:t>infer_image</a:t>
            </a:r>
            <a:r>
              <a:rPr lang="en-US" altLang="en-US">
                <a:solidFill>
                  <a:schemeClr val="bg1"/>
                </a:solidFill>
                <a:sym typeface="+mn-ea"/>
              </a:rPr>
              <a:t> </a:t>
            </a:r>
            <a:r>
              <a:rPr lang="zh-CN" altLang="en-US">
                <a:solidFill>
                  <a:schemeClr val="bg1"/>
                </a:solidFill>
                <a:sym typeface="+mn-ea"/>
              </a:rPr>
              <a:t>函数，接收输入图像与模型集合，根据配置选择单模型或融合策略（如投票法</a:t>
            </a:r>
            <a:r>
              <a:rPr lang="en-US" altLang="zh-CN">
                <a:solidFill>
                  <a:schemeClr val="bg1"/>
                </a:solidFill>
                <a:sym typeface="+mn-ea"/>
              </a:rPr>
              <a:t> </a:t>
            </a:r>
            <a:r>
              <a:rPr lang="zh-CN" altLang="en-US">
                <a:solidFill>
                  <a:schemeClr val="bg1"/>
                </a:solidFill>
                <a:sym typeface="+mn-ea"/>
              </a:rPr>
              <a:t>）执行表情识别。对输入图像预处理（如归一化、调整尺寸</a:t>
            </a:r>
            <a:r>
              <a:rPr lang="en-US" altLang="zh-CN">
                <a:solidFill>
                  <a:schemeClr val="bg1"/>
                </a:solidFill>
                <a:sym typeface="+mn-ea"/>
              </a:rPr>
              <a:t> </a:t>
            </a:r>
            <a:r>
              <a:rPr lang="zh-CN" altLang="en-US">
                <a:solidFill>
                  <a:schemeClr val="bg1"/>
                </a:solidFill>
                <a:sym typeface="+mn-ea"/>
              </a:rPr>
              <a:t>）后，分别传入各模型推理，融合结果输出表情类别、置信度，核心逻辑</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1-d0sml7s75iks2gau41ag.png"/>
          <p:cNvPicPr>
            <a:picLocks noChangeAspect="1"/>
          </p:cNvPicPr>
          <p:nvPr/>
        </p:nvPicPr>
        <p:blipFill>
          <a:blip r:embed="rId1"/>
          <a:srcRect l="8389" t="15000"/>
          <a:stretch>
            <a:fillRect/>
          </a:stretch>
        </p:blipFill>
        <p:spPr>
          <a:xfrm>
            <a:off x="0" y="0"/>
            <a:ext cx="12193200" cy="6856575"/>
          </a:xfrm>
          <a:prstGeom prst="rect">
            <a:avLst/>
          </a:prstGeom>
        </p:spPr>
      </p:pic>
      <p:sp>
        <p:nvSpPr>
          <p:cNvPr id="3" name="Shape 0"/>
          <p:cNvSpPr/>
          <p:nvPr/>
        </p:nvSpPr>
        <p:spPr>
          <a:xfrm>
            <a:off x="9768840" y="1196975"/>
            <a:ext cx="4304030" cy="4304030"/>
          </a:xfrm>
          <a:prstGeom prst="ellipse">
            <a:avLst/>
          </a:prstGeom>
          <a:solidFill>
            <a:srgbClr val="FFFFFF">
              <a:alpha val="5098"/>
            </a:srgbClr>
          </a:solidFill>
        </p:spPr>
      </p:sp>
      <p:sp>
        <p:nvSpPr>
          <p:cNvPr id="4" name="Text 1"/>
          <p:cNvSpPr/>
          <p:nvPr/>
        </p:nvSpPr>
        <p:spPr>
          <a:xfrm>
            <a:off x="9768840" y="1196975"/>
            <a:ext cx="4304030" cy="4304030"/>
          </a:xfrm>
          <a:prstGeom prst="rect">
            <a:avLst/>
          </a:prstGeom>
          <a:noFill/>
        </p:spPr>
        <p:txBody>
          <a:bodyPr wrap="square" lIns="0" tIns="0" rIns="0" bIns="0" rtlCol="0" anchor="t"/>
          <a:lstStyle/>
          <a:p>
            <a:pPr marL="0" indent="0">
              <a:lnSpc>
                <a:spcPct val="100000"/>
              </a:lnSpc>
              <a:buNone/>
            </a:pPr>
            <a:endParaRPr lang="en-US" sz="1600" dirty="0"/>
          </a:p>
        </p:txBody>
      </p:sp>
      <p:sp>
        <p:nvSpPr>
          <p:cNvPr id="5" name="Text 2"/>
          <p:cNvSpPr/>
          <p:nvPr/>
        </p:nvSpPr>
        <p:spPr>
          <a:xfrm>
            <a:off x="1459230" y="2247900"/>
            <a:ext cx="1612900" cy="1098550"/>
          </a:xfrm>
          <a:prstGeom prst="rect">
            <a:avLst/>
          </a:prstGeom>
          <a:noFill/>
        </p:spPr>
        <p:txBody>
          <a:bodyPr wrap="square" lIns="0" tIns="0" rIns="0" bIns="0" rtlCol="0" anchor="t"/>
          <a:lstStyle/>
          <a:p>
            <a:pPr marL="0" indent="0" algn="l">
              <a:lnSpc>
                <a:spcPct val="100000"/>
              </a:lnSpc>
              <a:buNone/>
            </a:pPr>
            <a:r>
              <a:rPr lang="en-US" sz="8000" dirty="0">
                <a:solidFill>
                  <a:srgbClr val="218EC1"/>
                </a:solidFill>
                <a:latin typeface="MiSans" pitchFamily="34" charset="-122"/>
                <a:ea typeface="MiSans" pitchFamily="34" charset="-122"/>
                <a:cs typeface="MiSans" pitchFamily="34" charset="-120"/>
              </a:rPr>
              <a:t>05</a:t>
            </a:r>
            <a:endParaRPr lang="en-US" sz="1600" dirty="0"/>
          </a:p>
        </p:txBody>
      </p:sp>
      <p:sp>
        <p:nvSpPr>
          <p:cNvPr id="6" name="Text 3"/>
          <p:cNvSpPr/>
          <p:nvPr/>
        </p:nvSpPr>
        <p:spPr>
          <a:xfrm>
            <a:off x="1440180" y="3517900"/>
            <a:ext cx="5314315" cy="1183640"/>
          </a:xfrm>
          <a:prstGeom prst="rect">
            <a:avLst/>
          </a:prstGeom>
          <a:noFill/>
        </p:spPr>
        <p:txBody>
          <a:bodyPr wrap="square" lIns="0" tIns="0" rIns="0" bIns="0" rtlCol="0" anchor="t"/>
          <a:lstStyle/>
          <a:p>
            <a:pPr marL="0" indent="0" algn="l">
              <a:lnSpc>
                <a:spcPct val="100000"/>
              </a:lnSpc>
              <a:buNone/>
            </a:pPr>
            <a:r>
              <a:rPr lang="en-US" sz="4400" dirty="0">
                <a:solidFill>
                  <a:srgbClr val="FFFFFF"/>
                </a:solidFill>
                <a:latin typeface="MiSans" pitchFamily="34" charset="-122"/>
                <a:ea typeface="MiSans" pitchFamily="34" charset="-122"/>
                <a:cs typeface="MiSans" pitchFamily="34" charset="-120"/>
              </a:rPr>
              <a:t>前端界面设计</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a:off x="1919605" y="-5283835"/>
            <a:ext cx="8323580" cy="8323580"/>
          </a:xfrm>
          <a:prstGeom prst="ellipse">
            <a:avLst/>
          </a:prstGeom>
          <a:solidFill>
            <a:srgbClr val="FFFFFF">
              <a:alpha val="5098"/>
            </a:srgbClr>
          </a:solidFill>
        </p:spPr>
      </p:sp>
      <p:sp>
        <p:nvSpPr>
          <p:cNvPr id="3" name="Text 1"/>
          <p:cNvSpPr/>
          <p:nvPr/>
        </p:nvSpPr>
        <p:spPr>
          <a:xfrm>
            <a:off x="1919605" y="-5283835"/>
            <a:ext cx="8323580" cy="8323580"/>
          </a:xfrm>
          <a:prstGeom prst="rect">
            <a:avLst/>
          </a:prstGeom>
          <a:noFill/>
        </p:spPr>
        <p:txBody>
          <a:bodyPr wrap="square" lIns="0" tIns="0" rIns="0" bIns="0" rtlCol="0" anchor="t"/>
          <a:lstStyle/>
          <a:p>
            <a:pPr marL="0" indent="0">
              <a:lnSpc>
                <a:spcPct val="100000"/>
              </a:lnSpc>
              <a:buNone/>
            </a:pPr>
            <a:endParaRPr lang="en-US" sz="1600" dirty="0"/>
          </a:p>
        </p:txBody>
      </p:sp>
      <p:sp>
        <p:nvSpPr>
          <p:cNvPr id="4" name="Shape 2"/>
          <p:cNvSpPr/>
          <p:nvPr/>
        </p:nvSpPr>
        <p:spPr>
          <a:xfrm>
            <a:off x="-3264535" y="3461385"/>
            <a:ext cx="5857240" cy="5857240"/>
          </a:xfrm>
          <a:prstGeom prst="ellipse">
            <a:avLst/>
          </a:prstGeom>
          <a:solidFill>
            <a:srgbClr val="FFFFFF">
              <a:alpha val="10196"/>
            </a:srgbClr>
          </a:solidFill>
        </p:spPr>
      </p:sp>
      <p:sp>
        <p:nvSpPr>
          <p:cNvPr id="5" name="Text 3"/>
          <p:cNvSpPr/>
          <p:nvPr/>
        </p:nvSpPr>
        <p:spPr>
          <a:xfrm>
            <a:off x="-3264535" y="3461385"/>
            <a:ext cx="5857240" cy="5857240"/>
          </a:xfrm>
          <a:prstGeom prst="rect">
            <a:avLst/>
          </a:prstGeom>
          <a:noFill/>
        </p:spPr>
        <p:txBody>
          <a:bodyPr wrap="square" lIns="0" tIns="0" rIns="0" bIns="0" rtlCol="0" anchor="t"/>
          <a:lstStyle/>
          <a:p>
            <a:pPr marL="0" indent="0">
              <a:lnSpc>
                <a:spcPct val="100000"/>
              </a:lnSpc>
              <a:buNone/>
            </a:pPr>
            <a:endParaRPr lang="en-US" sz="1600" dirty="0"/>
          </a:p>
        </p:txBody>
      </p:sp>
      <p:sp>
        <p:nvSpPr>
          <p:cNvPr id="6" name="Shape 4"/>
          <p:cNvSpPr/>
          <p:nvPr/>
        </p:nvSpPr>
        <p:spPr>
          <a:xfrm>
            <a:off x="9224645" y="3373120"/>
            <a:ext cx="4029075" cy="4029075"/>
          </a:xfrm>
          <a:prstGeom prst="ellipse">
            <a:avLst/>
          </a:prstGeom>
          <a:solidFill>
            <a:srgbClr val="FFFFFF">
              <a:alpha val="10196"/>
            </a:srgbClr>
          </a:solidFill>
        </p:spPr>
      </p:sp>
      <p:sp>
        <p:nvSpPr>
          <p:cNvPr id="7" name="Text 5"/>
          <p:cNvSpPr/>
          <p:nvPr/>
        </p:nvSpPr>
        <p:spPr>
          <a:xfrm>
            <a:off x="9224645" y="3373120"/>
            <a:ext cx="4029075" cy="4029075"/>
          </a:xfrm>
          <a:prstGeom prst="rect">
            <a:avLst/>
          </a:prstGeom>
          <a:noFill/>
        </p:spPr>
        <p:txBody>
          <a:bodyPr wrap="square" lIns="0" tIns="0" rIns="0" bIns="0" rtlCol="0" anchor="t"/>
          <a:lstStyle/>
          <a:p>
            <a:pPr marL="0" indent="0">
              <a:lnSpc>
                <a:spcPct val="100000"/>
              </a:lnSpc>
              <a:buNone/>
            </a:pPr>
            <a:endParaRPr lang="en-US" sz="1600" dirty="0"/>
          </a:p>
        </p:txBody>
      </p:sp>
      <p:sp>
        <p:nvSpPr>
          <p:cNvPr id="8" name="Shape 6"/>
          <p:cNvSpPr/>
          <p:nvPr/>
        </p:nvSpPr>
        <p:spPr>
          <a:xfrm rot="16200000">
            <a:off x="7044690" y="425450"/>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9" name="Text 7"/>
          <p:cNvSpPr/>
          <p:nvPr/>
        </p:nvSpPr>
        <p:spPr>
          <a:xfrm rot="16200000">
            <a:off x="7044690" y="425450"/>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16200000">
            <a:off x="4777105" y="-3001645"/>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11" name="Text 9"/>
          <p:cNvSpPr/>
          <p:nvPr/>
        </p:nvSpPr>
        <p:spPr>
          <a:xfrm rot="16200000">
            <a:off x="4777105" y="-3001645"/>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rot="16200000">
            <a:off x="5709920" y="-1296035"/>
            <a:ext cx="1484630" cy="10367645"/>
          </a:xfrm>
          <a:prstGeom prst="round2SameRect">
            <a:avLst>
              <a:gd name="adj1" fmla="val 50000"/>
              <a:gd name="adj2" fmla="val 0"/>
            </a:avLst>
          </a:prstGeom>
          <a:gradFill flip="none" rotWithShape="1">
            <a:gsLst>
              <a:gs pos="0">
                <a:srgbClr val="A4B6C2">
                  <a:alpha val="32000"/>
                </a:srgbClr>
              </a:gs>
              <a:gs pos="100000">
                <a:srgbClr val="232322">
                  <a:alpha val="0"/>
                </a:srgbClr>
              </a:gs>
            </a:gsLst>
            <a:path path="circle">
              <a:fillToRect l="100000" b="100000"/>
            </a:path>
            <a:tileRect t="-100000" r="-100000"/>
          </a:gradFill>
        </p:spPr>
      </p:sp>
      <p:sp>
        <p:nvSpPr>
          <p:cNvPr id="13" name="Text 11"/>
          <p:cNvSpPr/>
          <p:nvPr/>
        </p:nvSpPr>
        <p:spPr>
          <a:xfrm rot="16200000">
            <a:off x="5709920" y="-1296035"/>
            <a:ext cx="1484630" cy="103676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1751938" y="3559536"/>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5" name="Text 13"/>
          <p:cNvSpPr/>
          <p:nvPr/>
        </p:nvSpPr>
        <p:spPr>
          <a:xfrm>
            <a:off x="1751938" y="3559536"/>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784198" y="1904091"/>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7" name="Text 15"/>
          <p:cNvSpPr/>
          <p:nvPr/>
        </p:nvSpPr>
        <p:spPr>
          <a:xfrm>
            <a:off x="784198" y="1904091"/>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3071468" y="5338806"/>
            <a:ext cx="637958" cy="637956"/>
          </a:xfrm>
          <a:prstGeom prst="ellipse">
            <a:avLst/>
          </a:prstGeom>
          <a:gradFill flip="none" rotWithShape="1">
            <a:gsLst>
              <a:gs pos="0">
                <a:srgbClr val="8496B0"/>
              </a:gs>
              <a:gs pos="100000">
                <a:srgbClr val="1A7CAA"/>
              </a:gs>
            </a:gsLst>
            <a:lin ang="2700000" scaled="1"/>
          </a:gradFill>
          <a:effectLst>
            <a:outerShdw blurRad="290837" dist="50607" dir="2700000" algn="bl" rotWithShape="0">
              <a:srgbClr val="788FA3">
                <a:alpha val="60000"/>
              </a:srgbClr>
            </a:outerShdw>
          </a:effectLst>
        </p:spPr>
      </p:sp>
      <p:sp>
        <p:nvSpPr>
          <p:cNvPr id="19" name="Text 17"/>
          <p:cNvSpPr/>
          <p:nvPr/>
        </p:nvSpPr>
        <p:spPr>
          <a:xfrm>
            <a:off x="3071468" y="5338806"/>
            <a:ext cx="637958" cy="6379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784199" y="2075110"/>
            <a:ext cx="665094" cy="295787"/>
          </a:xfrm>
          <a:prstGeom prst="rect">
            <a:avLst/>
          </a:prstGeom>
          <a:solidFill>
            <a:srgbClr val="000000">
              <a:alpha val="0"/>
            </a:srgbClr>
          </a:solidFill>
        </p:spPr>
      </p:sp>
      <p:sp>
        <p:nvSpPr>
          <p:cNvPr id="21" name="Text 19"/>
          <p:cNvSpPr/>
          <p:nvPr/>
        </p:nvSpPr>
        <p:spPr>
          <a:xfrm>
            <a:off x="784199" y="2075110"/>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22" name="Shape 20"/>
          <p:cNvSpPr/>
          <p:nvPr/>
        </p:nvSpPr>
        <p:spPr>
          <a:xfrm>
            <a:off x="1725064" y="3730950"/>
            <a:ext cx="665094" cy="295787"/>
          </a:xfrm>
          <a:prstGeom prst="rect">
            <a:avLst/>
          </a:prstGeom>
          <a:solidFill>
            <a:srgbClr val="000000">
              <a:alpha val="0"/>
            </a:srgbClr>
          </a:solidFill>
        </p:spPr>
      </p:sp>
      <p:sp>
        <p:nvSpPr>
          <p:cNvPr id="23" name="Text 21"/>
          <p:cNvSpPr/>
          <p:nvPr/>
        </p:nvSpPr>
        <p:spPr>
          <a:xfrm>
            <a:off x="1725064" y="3730950"/>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4" name="Shape 22"/>
          <p:cNvSpPr/>
          <p:nvPr/>
        </p:nvSpPr>
        <p:spPr>
          <a:xfrm>
            <a:off x="3057900" y="5527017"/>
            <a:ext cx="665094" cy="295787"/>
          </a:xfrm>
          <a:prstGeom prst="rect">
            <a:avLst/>
          </a:prstGeom>
          <a:solidFill>
            <a:srgbClr val="000000">
              <a:alpha val="0"/>
            </a:srgbClr>
          </a:solidFill>
        </p:spPr>
      </p:sp>
      <p:sp>
        <p:nvSpPr>
          <p:cNvPr id="25" name="Text 23"/>
          <p:cNvSpPr/>
          <p:nvPr/>
        </p:nvSpPr>
        <p:spPr>
          <a:xfrm>
            <a:off x="3057900" y="5527017"/>
            <a:ext cx="665094" cy="295787"/>
          </a:xfrm>
          <a:prstGeom prst="rect">
            <a:avLst/>
          </a:prstGeom>
          <a:noFill/>
        </p:spPr>
        <p:txBody>
          <a:bodyPr wrap="square" lIns="0" tIns="0" rIns="0" bIns="0" rtlCol="0" anchor="t"/>
          <a:lstStyle/>
          <a:p>
            <a:pPr marL="0" indent="0" algn="ctr">
              <a:lnSpc>
                <a:spcPct val="110000"/>
              </a:lnSpc>
              <a:buNone/>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6" name="Text 24"/>
          <p:cNvSpPr/>
          <p:nvPr/>
        </p:nvSpPr>
        <p:spPr>
          <a:xfrm>
            <a:off x="1644650" y="148590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功能入口</a:t>
            </a:r>
            <a:endParaRPr lang="en-US" sz="1600" dirty="0"/>
          </a:p>
        </p:txBody>
      </p:sp>
      <p:sp>
        <p:nvSpPr>
          <p:cNvPr id="27" name="Text 25"/>
          <p:cNvSpPr/>
          <p:nvPr/>
        </p:nvSpPr>
        <p:spPr>
          <a:xfrm>
            <a:off x="1644649" y="1840229"/>
            <a:ext cx="7555229"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介绍首页的功能入口，包括图片识别、视频识别、实时摄像头等功能的入口设计。</a:t>
            </a:r>
            <a:endParaRPr lang="en-US" sz="1600" dirty="0"/>
          </a:p>
        </p:txBody>
      </p:sp>
      <p:sp>
        <p:nvSpPr>
          <p:cNvPr id="28" name="Text 26"/>
          <p:cNvSpPr/>
          <p:nvPr/>
        </p:nvSpPr>
        <p:spPr>
          <a:xfrm>
            <a:off x="2529840" y="324993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信息展示</a:t>
            </a:r>
            <a:endParaRPr lang="en-US" sz="1600" dirty="0"/>
          </a:p>
        </p:txBody>
      </p:sp>
      <p:sp>
        <p:nvSpPr>
          <p:cNvPr id="29" name="Text 27"/>
          <p:cNvSpPr/>
          <p:nvPr/>
        </p:nvSpPr>
        <p:spPr>
          <a:xfrm>
            <a:off x="2529839" y="3604260"/>
            <a:ext cx="7555232"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展示可识别表情列表、系统特点等信息，突出系统的功能优势和适用场景。</a:t>
            </a:r>
            <a:endParaRPr lang="en-US" sz="1600" dirty="0"/>
          </a:p>
        </p:txBody>
      </p:sp>
      <p:sp>
        <p:nvSpPr>
          <p:cNvPr id="30" name="Text 28"/>
          <p:cNvSpPr/>
          <p:nvPr/>
        </p:nvSpPr>
        <p:spPr>
          <a:xfrm>
            <a:off x="4034790" y="4953000"/>
            <a:ext cx="4182110" cy="276225"/>
          </a:xfrm>
          <a:prstGeom prst="rect">
            <a:avLst/>
          </a:prstGeom>
          <a:noFill/>
        </p:spPr>
        <p:txBody>
          <a:bodyPr wrap="square" lIns="45720" tIns="45720" rIns="45720" bIns="45720" rtlCol="0" anchor="t">
            <a:spAutoFit/>
          </a:bodyPr>
          <a:lstStyle/>
          <a:p>
            <a:pPr marL="0" indent="0" algn="l">
              <a:lnSpc>
                <a:spcPct val="100000"/>
              </a:lnSpc>
              <a:buNone/>
            </a:pPr>
            <a:r>
              <a:rPr lang="en-US" sz="1800" dirty="0">
                <a:solidFill>
                  <a:srgbClr val="7EC9EB"/>
                </a:solidFill>
                <a:latin typeface="MiSans" pitchFamily="34" charset="-122"/>
                <a:ea typeface="MiSans" pitchFamily="34" charset="-122"/>
                <a:cs typeface="MiSans" pitchFamily="34" charset="-120"/>
              </a:rPr>
              <a:t>首页界面</a:t>
            </a:r>
            <a:endParaRPr lang="en-US" sz="1600" dirty="0"/>
          </a:p>
        </p:txBody>
      </p:sp>
      <p:sp>
        <p:nvSpPr>
          <p:cNvPr id="31" name="Text 29"/>
          <p:cNvSpPr/>
          <p:nvPr/>
        </p:nvSpPr>
        <p:spPr>
          <a:xfrm>
            <a:off x="4034789" y="5307330"/>
            <a:ext cx="7555231" cy="287338"/>
          </a:xfrm>
          <a:prstGeom prst="rect">
            <a:avLst/>
          </a:prstGeom>
          <a:noFill/>
        </p:spPr>
        <p:txBody>
          <a:bodyPr wrap="square" lIns="45720" tIns="45720" rIns="4572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展示首页的整体界面设计，体现简洁、直观的用户体验。</a:t>
            </a:r>
            <a:endParaRPr lang="en-US" sz="1600" dirty="0"/>
          </a:p>
        </p:txBody>
      </p:sp>
      <p:sp>
        <p:nvSpPr>
          <p:cNvPr id="32" name="Shape 30"/>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33" name="Text 31"/>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34" name="Text 32"/>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首页</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603250" y="575310"/>
            <a:ext cx="4064000" cy="460375"/>
          </a:xfrm>
          <a:prstGeom prst="rect">
            <a:avLst/>
          </a:prstGeom>
          <a:noFill/>
        </p:spPr>
        <p:txBody>
          <a:bodyPr wrap="square" rtlCol="0">
            <a:spAutoFit/>
          </a:bodyPr>
          <a:p>
            <a:r>
              <a:rPr lang="zh-CN" altLang="en-US" sz="2400">
                <a:solidFill>
                  <a:schemeClr val="accent6"/>
                </a:solidFill>
              </a:rPr>
              <a:t>功能</a:t>
            </a:r>
            <a:r>
              <a:rPr lang="zh-CN" altLang="en-US" sz="2400">
                <a:solidFill>
                  <a:schemeClr val="accent6"/>
                </a:solidFill>
              </a:rPr>
              <a:t>入口</a:t>
            </a:r>
            <a:endParaRPr lang="zh-CN" altLang="en-US" sz="2400">
              <a:solidFill>
                <a:schemeClr val="accent6"/>
              </a:solidFill>
            </a:endParaRPr>
          </a:p>
        </p:txBody>
      </p:sp>
      <p:sp>
        <p:nvSpPr>
          <p:cNvPr id="3" name="文本框 2"/>
          <p:cNvSpPr txBox="1"/>
          <p:nvPr/>
        </p:nvSpPr>
        <p:spPr>
          <a:xfrm>
            <a:off x="668655" y="1266825"/>
            <a:ext cx="11449050" cy="4523105"/>
          </a:xfrm>
          <a:prstGeom prst="rect">
            <a:avLst/>
          </a:prstGeom>
          <a:noFill/>
        </p:spPr>
        <p:txBody>
          <a:bodyPr wrap="square" rtlCol="0">
            <a:spAutoFit/>
          </a:bodyPr>
          <a:p>
            <a:r>
              <a:rPr lang="en-US" altLang="zh-CN">
                <a:solidFill>
                  <a:schemeClr val="bg1"/>
                </a:solidFill>
              </a:rPr>
              <a:t>-</a:t>
            </a:r>
            <a:r>
              <a:rPr lang="zh-CN" altLang="en-US">
                <a:solidFill>
                  <a:schemeClr val="bg1"/>
                </a:solidFill>
              </a:rPr>
              <a:t>图片识别功能：</a:t>
            </a:r>
            <a:endParaRPr lang="zh-CN" altLang="en-US">
              <a:solidFill>
                <a:schemeClr val="bg1"/>
              </a:solidFill>
            </a:endParaRPr>
          </a:p>
          <a:p>
            <a:r>
              <a:rPr lang="zh-CN" altLang="en-US">
                <a:solidFill>
                  <a:schemeClr val="bg1"/>
                </a:solidFill>
              </a:rPr>
              <a:t>为用户提供了便捷的单张图片表情分析能力。用户只需上传包含人脸的静态图片，系统即可在毫秒级时间内完成面部表情的智能识别与分析。该功能采用先进的计算机视觉算法，能够准确识别高兴、悲伤、愤怒、惊讶、恐惧、厌恶和中性等七种基本表情状态。系统会生成详细的识别报告，包括表情类型标注图和量化分析数据，帮助用户直观了解图片中人物的情绪状态。特别适合心理学研究、市场调研、社交分析等需要精确表情识</a:t>
            </a:r>
            <a:r>
              <a:rPr lang="en-US" altLang="zh-CN">
                <a:solidFill>
                  <a:schemeClr val="bg1"/>
                </a:solidFill>
              </a:rPr>
              <a:t>	</a:t>
            </a:r>
            <a:r>
              <a:rPr lang="zh-CN" altLang="en-US">
                <a:solidFill>
                  <a:schemeClr val="bg1"/>
                </a:solidFill>
              </a:rPr>
              <a:t>别的应用场景。</a:t>
            </a:r>
            <a:endParaRPr lang="zh-CN" altLang="en-US">
              <a:solidFill>
                <a:schemeClr val="bg1"/>
              </a:solidFill>
            </a:endParaRPr>
          </a:p>
          <a:p>
            <a:r>
              <a:rPr lang="en-US" altLang="zh-CN">
                <a:solidFill>
                  <a:schemeClr val="bg1"/>
                </a:solidFill>
              </a:rPr>
              <a:t>-</a:t>
            </a:r>
            <a:r>
              <a:rPr lang="zh-CN" altLang="en-US">
                <a:solidFill>
                  <a:schemeClr val="bg1"/>
                </a:solidFill>
              </a:rPr>
              <a:t>视频识别功能：</a:t>
            </a:r>
            <a:endParaRPr lang="zh-CN" altLang="en-US">
              <a:solidFill>
                <a:schemeClr val="bg1"/>
              </a:solidFill>
            </a:endParaRPr>
          </a:p>
          <a:p>
            <a:r>
              <a:rPr lang="zh-CN" altLang="en-US">
                <a:solidFill>
                  <a:schemeClr val="bg1"/>
                </a:solidFill>
              </a:rPr>
              <a:t>支持对动态视频文件进行逐帧检测分析。系统会自动解析上传的视频文件，以每秒</a:t>
            </a:r>
            <a:r>
              <a:rPr lang="en-US" altLang="zh-CN">
                <a:solidFill>
                  <a:schemeClr val="bg1"/>
                </a:solidFill>
              </a:rPr>
              <a:t>25</a:t>
            </a:r>
            <a:r>
              <a:rPr lang="zh-CN" altLang="en-US">
                <a:solidFill>
                  <a:schemeClr val="bg1"/>
                </a:solidFill>
              </a:rPr>
              <a:t>帧的标准进行关键帧提取和表情特征分析。在处理过程中，用户可以实时查看分析进度和初步结果。完成分析后，系统会生成包含时间戳的表情变化曲线和关键帧截图，清晰展示视频中人物的情绪波动过程。该功能特别适合影视作品分析、安防监控、教学评估等需要分析连续表情变化的场景。</a:t>
            </a:r>
            <a:endParaRPr lang="zh-CN" altLang="en-US">
              <a:solidFill>
                <a:schemeClr val="bg1"/>
              </a:solidFill>
            </a:endParaRPr>
          </a:p>
          <a:p>
            <a:r>
              <a:rPr lang="en-US" altLang="zh-CN">
                <a:solidFill>
                  <a:schemeClr val="bg1"/>
                </a:solidFill>
              </a:rPr>
              <a:t>-</a:t>
            </a:r>
            <a:r>
              <a:rPr lang="zh-CN" altLang="en-US">
                <a:solidFill>
                  <a:schemeClr val="bg1"/>
                </a:solidFill>
              </a:rPr>
              <a:t>实时摄像头功能：</a:t>
            </a:r>
            <a:endParaRPr lang="zh-CN" altLang="en-US">
              <a:solidFill>
                <a:schemeClr val="bg1"/>
              </a:solidFill>
            </a:endParaRPr>
          </a:p>
          <a:p>
            <a:r>
              <a:rPr lang="zh-CN" altLang="en-US">
                <a:solidFill>
                  <a:schemeClr val="bg1"/>
                </a:solidFill>
              </a:rPr>
              <a:t>通过调用用户设备摄像头实现即时表情分析。系统会实时捕捉视频流中的人脸图像，以每秒</a:t>
            </a:r>
            <a:r>
              <a:rPr lang="en-US" altLang="zh-CN">
                <a:solidFill>
                  <a:schemeClr val="bg1"/>
                </a:solidFill>
              </a:rPr>
              <a:t>15</a:t>
            </a:r>
            <a:r>
              <a:rPr lang="zh-CN" altLang="en-US">
                <a:solidFill>
                  <a:schemeClr val="bg1"/>
                </a:solidFill>
              </a:rPr>
              <a:t>帧的速度进行连续表情识别。分析结果会实时叠加显示在视频画面上，包括表情类型标注和置信度评分。用户还可以随时抓拍保存当前画面，系统会自动将识别结果与原始图像一起存储。该功能操作简单直观，适合在线面试、互动直播、智能门禁等需要即时反馈的应用场景。</a:t>
            </a:r>
            <a:endParaRPr lang="zh-CN" altLang="en-US">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361950" y="399415"/>
            <a:ext cx="11426825" cy="460375"/>
          </a:xfrm>
          <a:prstGeom prst="rect">
            <a:avLst/>
          </a:prstGeom>
          <a:noFill/>
        </p:spPr>
        <p:txBody>
          <a:bodyPr wrap="square" rtlCol="0">
            <a:spAutoFit/>
          </a:bodyPr>
          <a:p>
            <a:r>
              <a:rPr lang="zh-CN" altLang="en-US" sz="2400">
                <a:solidFill>
                  <a:schemeClr val="accent6"/>
                </a:solidFill>
              </a:rPr>
              <a:t>信息展示</a:t>
            </a:r>
            <a:endParaRPr lang="zh-CN" altLang="en-US" sz="2400">
              <a:solidFill>
                <a:schemeClr val="accent6"/>
              </a:solidFill>
            </a:endParaRPr>
          </a:p>
        </p:txBody>
      </p:sp>
      <p:sp>
        <p:nvSpPr>
          <p:cNvPr id="4" name="文本框 3"/>
          <p:cNvSpPr txBox="1"/>
          <p:nvPr/>
        </p:nvSpPr>
        <p:spPr>
          <a:xfrm>
            <a:off x="537210" y="1101725"/>
            <a:ext cx="11426825" cy="3415030"/>
          </a:xfrm>
          <a:prstGeom prst="rect">
            <a:avLst/>
          </a:prstGeom>
          <a:noFill/>
        </p:spPr>
        <p:txBody>
          <a:bodyPr wrap="square" rtlCol="0">
            <a:spAutoFit/>
          </a:bodyPr>
          <a:p>
            <a:r>
              <a:rPr lang="en-US" altLang="zh-CN">
                <a:solidFill>
                  <a:schemeClr val="bg1"/>
                </a:solidFill>
              </a:rPr>
              <a:t>-</a:t>
            </a:r>
            <a:r>
              <a:rPr lang="zh-CN" altLang="en-US">
                <a:solidFill>
                  <a:schemeClr val="bg1"/>
                </a:solidFill>
              </a:rPr>
              <a:t>可识别表情列表：</a:t>
            </a:r>
            <a:endParaRPr lang="zh-CN" altLang="en-US">
              <a:solidFill>
                <a:schemeClr val="bg1"/>
              </a:solidFill>
            </a:endParaRPr>
          </a:p>
          <a:p>
            <a:r>
              <a:rPr lang="en-US" altLang="zh-CN">
                <a:solidFill>
                  <a:schemeClr val="bg1"/>
                </a:solidFill>
              </a:rPr>
              <a:t>  </a:t>
            </a:r>
            <a:r>
              <a:rPr lang="zh-CN" altLang="en-US">
                <a:solidFill>
                  <a:schemeClr val="bg1"/>
                </a:solidFill>
              </a:rPr>
              <a:t>详细展示了系统的分析能力边界。基于深度神经网络训练，系统能够准确识别七种基本人类表情：高兴（嘴角上扬、眼角皱纹）、悲伤（眉毛下垂、嘴角下弯）、愤怒（眉毛紧锁、瞪眼）、惊讶（眉毛抬高、眼睛睁大）、恐惧（眉毛上扬且聚拢、嘴巴张开）、厌恶（鼻子皱起、上唇抬起）以及中性表情（面部肌肉放松）。每种表情都经过</a:t>
            </a:r>
            <a:r>
              <a:rPr lang="en-US" altLang="zh-CN">
                <a:solidFill>
                  <a:schemeClr val="bg1"/>
                </a:solidFill>
              </a:rPr>
              <a:t>10</a:t>
            </a:r>
            <a:r>
              <a:rPr lang="zh-CN" altLang="en-US">
                <a:solidFill>
                  <a:schemeClr val="bg1"/>
                </a:solidFill>
              </a:rPr>
              <a:t>万</a:t>
            </a:r>
            <a:r>
              <a:rPr lang="en-US" altLang="zh-CN">
                <a:solidFill>
                  <a:schemeClr val="bg1"/>
                </a:solidFill>
              </a:rPr>
              <a:t>+</a:t>
            </a:r>
            <a:r>
              <a:rPr lang="zh-CN" altLang="en-US">
                <a:solidFill>
                  <a:schemeClr val="bg1"/>
                </a:solidFill>
              </a:rPr>
              <a:t>标注样本的训练，在标准测试集上的识别准确率达到</a:t>
            </a:r>
            <a:r>
              <a:rPr lang="en-US" altLang="zh-CN">
                <a:solidFill>
                  <a:schemeClr val="bg1"/>
                </a:solidFill>
              </a:rPr>
              <a:t>92%</a:t>
            </a:r>
            <a:r>
              <a:rPr lang="zh-CN" altLang="en-US">
                <a:solidFill>
                  <a:schemeClr val="bg1"/>
                </a:solidFill>
              </a:rPr>
              <a:t>以上。系统特别优化了亚洲人种的面部特征识别，有效降低因种族差异导致的识别偏差。</a:t>
            </a:r>
            <a:endParaRPr lang="zh-CN" altLang="en-US">
              <a:solidFill>
                <a:schemeClr val="bg1"/>
              </a:solidFill>
            </a:endParaRPr>
          </a:p>
          <a:p>
            <a:endParaRPr lang="zh-CN" altLang="en-US">
              <a:solidFill>
                <a:schemeClr val="bg1"/>
              </a:solidFill>
            </a:endParaRPr>
          </a:p>
          <a:p>
            <a:r>
              <a:rPr lang="zh-CN" altLang="en-US">
                <a:solidFill>
                  <a:schemeClr val="bg1"/>
                </a:solidFill>
              </a:rPr>
              <a:t> </a:t>
            </a:r>
            <a:r>
              <a:rPr lang="en-US" altLang="zh-CN">
                <a:solidFill>
                  <a:schemeClr val="bg1"/>
                </a:solidFill>
              </a:rPr>
              <a:t> </a:t>
            </a:r>
            <a:r>
              <a:rPr lang="zh-CN" altLang="en-US">
                <a:solidFill>
                  <a:schemeClr val="bg1"/>
                </a:solidFill>
              </a:rPr>
              <a:t>系统特点部分突出了三大核心优势：</a:t>
            </a:r>
            <a:endParaRPr lang="zh-CN" altLang="en-US">
              <a:solidFill>
                <a:schemeClr val="bg1"/>
              </a:solidFill>
            </a:endParaRPr>
          </a:p>
          <a:p>
            <a:r>
              <a:rPr lang="en-US" altLang="zh-CN">
                <a:solidFill>
                  <a:schemeClr val="bg1"/>
                </a:solidFill>
              </a:rPr>
              <a:t>-</a:t>
            </a:r>
            <a:r>
              <a:rPr lang="zh-CN" altLang="en-US">
                <a:solidFill>
                  <a:schemeClr val="bg1"/>
                </a:solidFill>
              </a:rPr>
              <a:t>实时分析能力采用轻量化模型设计，在保持高精度的同时将单帧处理时间控制在</a:t>
            </a:r>
            <a:r>
              <a:rPr lang="en-US" altLang="zh-CN">
                <a:solidFill>
                  <a:schemeClr val="bg1"/>
                </a:solidFill>
              </a:rPr>
              <a:t>50ms</a:t>
            </a:r>
            <a:r>
              <a:rPr lang="zh-CN" altLang="en-US">
                <a:solidFill>
                  <a:schemeClr val="bg1"/>
                </a:solidFill>
              </a:rPr>
              <a:t>以内；</a:t>
            </a:r>
            <a:endParaRPr lang="zh-CN" altLang="en-US">
              <a:solidFill>
                <a:schemeClr val="bg1"/>
              </a:solidFill>
            </a:endParaRPr>
          </a:p>
          <a:p>
            <a:r>
              <a:rPr lang="en-US" altLang="zh-CN">
                <a:solidFill>
                  <a:schemeClr val="bg1"/>
                </a:solidFill>
              </a:rPr>
              <a:t>-</a:t>
            </a:r>
            <a:r>
              <a:rPr lang="zh-CN" altLang="en-US">
                <a:solidFill>
                  <a:schemeClr val="bg1"/>
                </a:solidFill>
              </a:rPr>
              <a:t>深度学习基础使用改进的</a:t>
            </a:r>
            <a:r>
              <a:rPr lang="en-US" altLang="zh-CN">
                <a:solidFill>
                  <a:schemeClr val="bg1"/>
                </a:solidFill>
              </a:rPr>
              <a:t>YOLOv8</a:t>
            </a:r>
            <a:r>
              <a:rPr lang="zh-CN" altLang="en-US">
                <a:solidFill>
                  <a:schemeClr val="bg1"/>
                </a:solidFill>
              </a:rPr>
              <a:t>架构，通过迁移学习技术在小样本场景下仍保持优异表现；</a:t>
            </a:r>
            <a:endParaRPr lang="zh-CN" altLang="en-US">
              <a:solidFill>
                <a:schemeClr val="bg1"/>
              </a:solidFill>
            </a:endParaRPr>
          </a:p>
          <a:p>
            <a:r>
              <a:rPr lang="en-US" altLang="zh-CN">
                <a:solidFill>
                  <a:schemeClr val="bg1"/>
                </a:solidFill>
              </a:rPr>
              <a:t>-</a:t>
            </a:r>
            <a:r>
              <a:rPr lang="zh-CN" altLang="en-US">
                <a:solidFill>
                  <a:schemeClr val="bg1"/>
                </a:solidFill>
              </a:rPr>
              <a:t>多场景支持体现在完善的输入输出适配能力，既支持常见的图片视频格式，也能适配各种摄像头设备，输出结果包含可视化标注图、结构化数据和多维度统计分析报告，满足不同用户的多样化需求。</a:t>
            </a:r>
            <a:endParaRPr lang="zh-CN" altLang="en-US">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pic>
        <p:nvPicPr>
          <p:cNvPr id="2" name="Image 0" descr="https://kimi-img.moonshot.cn/pub/slides/slides_tmpl/image/25-05-30-16:21:55-d0sml8s75iks2gau41c0.png"/>
          <p:cNvPicPr>
            <a:picLocks noChangeAspect="1"/>
          </p:cNvPicPr>
          <p:nvPr/>
        </p:nvPicPr>
        <p:blipFill>
          <a:blip r:embed="rId1"/>
          <a:stretch>
            <a:fillRect/>
          </a:stretch>
        </p:blipFill>
        <p:spPr>
          <a:xfrm>
            <a:off x="1167130" y="1568450"/>
            <a:ext cx="33655" cy="2004695"/>
          </a:xfrm>
          <a:prstGeom prst="rect">
            <a:avLst/>
          </a:prstGeom>
        </p:spPr>
      </p:pic>
      <p:pic>
        <p:nvPicPr>
          <p:cNvPr id="3" name="Image 1" descr="https://kimi-img.moonshot.cn/pub/slides/slides_tmpl/image/25-05-30-16:21:55-d0sml8s75iks2gau41c0.png"/>
          <p:cNvPicPr>
            <a:picLocks noChangeAspect="1"/>
          </p:cNvPicPr>
          <p:nvPr/>
        </p:nvPicPr>
        <p:blipFill>
          <a:blip r:embed="rId1"/>
          <a:stretch>
            <a:fillRect/>
          </a:stretch>
        </p:blipFill>
        <p:spPr>
          <a:xfrm>
            <a:off x="1168400" y="4009390"/>
            <a:ext cx="33655" cy="2004695"/>
          </a:xfrm>
          <a:prstGeom prst="rect">
            <a:avLst/>
          </a:prstGeom>
        </p:spPr>
      </p:pic>
      <p:pic>
        <p:nvPicPr>
          <p:cNvPr id="4" name="Image 2" descr="https://kimi-img.moonshot.cn/pub/slides/slides_tmpl/image/25-05-30-16:21:55-d0sml8s75iks2gau41c0.png"/>
          <p:cNvPicPr>
            <a:picLocks noChangeAspect="1"/>
          </p:cNvPicPr>
          <p:nvPr/>
        </p:nvPicPr>
        <p:blipFill>
          <a:blip r:embed="rId1"/>
          <a:stretch>
            <a:fillRect/>
          </a:stretch>
        </p:blipFill>
        <p:spPr>
          <a:xfrm>
            <a:off x="6558915" y="4024630"/>
            <a:ext cx="33655" cy="2004695"/>
          </a:xfrm>
          <a:prstGeom prst="rect">
            <a:avLst/>
          </a:prstGeom>
        </p:spPr>
      </p:pic>
      <p:pic>
        <p:nvPicPr>
          <p:cNvPr id="5" name="Image 3" descr="https://kimi-img.moonshot.cn/pub/slides/slides_tmpl/image/25-05-30-16:21:55-d0sml8s75iks2gau41c0.png"/>
          <p:cNvPicPr>
            <a:picLocks noChangeAspect="1"/>
          </p:cNvPicPr>
          <p:nvPr/>
        </p:nvPicPr>
        <p:blipFill>
          <a:blip r:embed="rId1"/>
          <a:stretch>
            <a:fillRect/>
          </a:stretch>
        </p:blipFill>
        <p:spPr>
          <a:xfrm>
            <a:off x="6604635" y="1584325"/>
            <a:ext cx="33655" cy="2004695"/>
          </a:xfrm>
          <a:prstGeom prst="rect">
            <a:avLst/>
          </a:prstGeom>
        </p:spPr>
      </p:pic>
      <p:sp>
        <p:nvSpPr>
          <p:cNvPr id="6" name="Text 0"/>
          <p:cNvSpPr/>
          <p:nvPr/>
        </p:nvSpPr>
        <p:spPr>
          <a:xfrm>
            <a:off x="1463604" y="1523999"/>
            <a:ext cx="5074923"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首页</a:t>
            </a:r>
            <a:endParaRPr lang="en-US" sz="1600" dirty="0"/>
          </a:p>
        </p:txBody>
      </p:sp>
      <p:sp>
        <p:nvSpPr>
          <p:cNvPr id="7" name="Text 1"/>
          <p:cNvSpPr/>
          <p:nvPr/>
        </p:nvSpPr>
        <p:spPr>
          <a:xfrm>
            <a:off x="1463040" y="3970020"/>
            <a:ext cx="5022215"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图片识别页面</a:t>
            </a:r>
            <a:endParaRPr lang="en-US" sz="1600" dirty="0"/>
          </a:p>
        </p:txBody>
      </p:sp>
      <p:sp>
        <p:nvSpPr>
          <p:cNvPr id="8" name="Text 2"/>
          <p:cNvSpPr/>
          <p:nvPr/>
        </p:nvSpPr>
        <p:spPr>
          <a:xfrm>
            <a:off x="1463675" y="1977390"/>
            <a:ext cx="4185920" cy="574873"/>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再次展示首页的整体界面设计，强调功能入口和信息展示的合理性。</a:t>
            </a:r>
            <a:endParaRPr lang="en-US" sz="1600" dirty="0"/>
          </a:p>
        </p:txBody>
      </p:sp>
      <p:sp>
        <p:nvSpPr>
          <p:cNvPr id="9" name="Text 3"/>
          <p:cNvSpPr/>
          <p:nvPr/>
        </p:nvSpPr>
        <p:spPr>
          <a:xfrm>
            <a:off x="6900545" y="1540510"/>
            <a:ext cx="4980305"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视频识别页面</a:t>
            </a:r>
            <a:endParaRPr lang="en-US" sz="1600" dirty="0"/>
          </a:p>
        </p:txBody>
      </p:sp>
      <p:sp>
        <p:nvSpPr>
          <p:cNvPr id="10" name="Text 4"/>
          <p:cNvSpPr/>
          <p:nvPr/>
        </p:nvSpPr>
        <p:spPr>
          <a:xfrm>
            <a:off x="6901180" y="1994535"/>
            <a:ext cx="4180205" cy="574873"/>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展示视频识别页面的界面设计，体现功能完整性和操作便捷性。</a:t>
            </a:r>
            <a:endParaRPr lang="en-US" sz="1600" dirty="0"/>
          </a:p>
        </p:txBody>
      </p:sp>
      <p:sp>
        <p:nvSpPr>
          <p:cNvPr id="11" name="Text 5"/>
          <p:cNvSpPr/>
          <p:nvPr/>
        </p:nvSpPr>
        <p:spPr>
          <a:xfrm>
            <a:off x="6900947" y="4001906"/>
            <a:ext cx="5021536" cy="368300"/>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7EC9EB"/>
                </a:solidFill>
                <a:latin typeface="MiSans" pitchFamily="34" charset="-122"/>
                <a:ea typeface="MiSans" pitchFamily="34" charset="-122"/>
                <a:cs typeface="MiSans" pitchFamily="34" charset="-120"/>
              </a:rPr>
              <a:t>实时识别页面</a:t>
            </a:r>
            <a:endParaRPr lang="en-US" sz="1600" dirty="0"/>
          </a:p>
        </p:txBody>
      </p:sp>
      <p:sp>
        <p:nvSpPr>
          <p:cNvPr id="12" name="Text 6"/>
          <p:cNvSpPr/>
          <p:nvPr/>
        </p:nvSpPr>
        <p:spPr>
          <a:xfrm>
            <a:off x="6901180" y="4479925"/>
            <a:ext cx="4178935" cy="574873"/>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展示实时识别页面的界面设计，突出实时性和交互性，满足用户需求。</a:t>
            </a:r>
            <a:endParaRPr lang="en-US" sz="1600" dirty="0"/>
          </a:p>
        </p:txBody>
      </p:sp>
      <p:sp>
        <p:nvSpPr>
          <p:cNvPr id="13" name="Text 7"/>
          <p:cNvSpPr/>
          <p:nvPr/>
        </p:nvSpPr>
        <p:spPr>
          <a:xfrm>
            <a:off x="1463675" y="4479925"/>
            <a:ext cx="4153535" cy="574873"/>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展示图片识别页面的详细界面设计，突出功能布局和交互细节。</a:t>
            </a:r>
            <a:endParaRPr lang="en-US" sz="1600" dirty="0"/>
          </a:p>
        </p:txBody>
      </p:sp>
      <p:sp>
        <p:nvSpPr>
          <p:cNvPr id="14" name="Shape 8"/>
          <p:cNvSpPr/>
          <p:nvPr/>
        </p:nvSpPr>
        <p:spPr>
          <a:xfrm>
            <a:off x="713105" y="403225"/>
            <a:ext cx="600710" cy="601980"/>
          </a:xfrm>
          <a:prstGeom prst="ellipse">
            <a:avLst/>
          </a:prstGeom>
          <a:gradFill flip="none" rotWithShape="1">
            <a:gsLst>
              <a:gs pos="0">
                <a:srgbClr val="28A4DE"/>
              </a:gs>
              <a:gs pos="81000">
                <a:srgbClr val="C5C9CE">
                  <a:alpha val="0"/>
                </a:srgbClr>
              </a:gs>
            </a:gsLst>
            <a:lin ang="2700000" scaled="1"/>
          </a:gradFill>
        </p:spPr>
      </p:sp>
      <p:sp>
        <p:nvSpPr>
          <p:cNvPr id="15" name="Text 9"/>
          <p:cNvSpPr/>
          <p:nvPr/>
        </p:nvSpPr>
        <p:spPr>
          <a:xfrm>
            <a:off x="713105" y="403225"/>
            <a:ext cx="600710" cy="601980"/>
          </a:xfrm>
          <a:prstGeom prst="rect">
            <a:avLst/>
          </a:prstGeom>
          <a:noFill/>
        </p:spPr>
        <p:txBody>
          <a:bodyPr wrap="square" lIns="45720" tIns="91440" rIns="91440" bIns="45720" rtlCol="0" anchor="ctr"/>
          <a:lstStyle/>
          <a:p>
            <a:pPr marL="0" indent="0">
              <a:lnSpc>
                <a:spcPct val="120000"/>
              </a:lnSpc>
              <a:buNone/>
            </a:pPr>
            <a:endParaRPr lang="en-US" sz="1600" dirty="0"/>
          </a:p>
        </p:txBody>
      </p:sp>
      <p:sp>
        <p:nvSpPr>
          <p:cNvPr id="16" name="Text 10"/>
          <p:cNvSpPr/>
          <p:nvPr/>
        </p:nvSpPr>
        <p:spPr>
          <a:xfrm>
            <a:off x="970280" y="514350"/>
            <a:ext cx="10520680" cy="658217"/>
          </a:xfrm>
          <a:prstGeom prst="rect">
            <a:avLst/>
          </a:prstGeom>
          <a:noFill/>
        </p:spPr>
        <p:txBody>
          <a:bodyPr wrap="square" lIns="0" tIns="0" rIns="0" bIns="0" rtlCol="0" anchor="t">
            <a:spAutoFit/>
          </a:bodyPr>
          <a:lstStyle/>
          <a:p>
            <a:pPr marL="0" indent="0" algn="l">
              <a:lnSpc>
                <a:spcPct val="120000"/>
              </a:lnSpc>
              <a:buNone/>
            </a:pPr>
            <a:r>
              <a:rPr lang="en-US" sz="3600" dirty="0">
                <a:solidFill>
                  <a:srgbClr val="218EC1"/>
                </a:solidFill>
                <a:latin typeface="MiSans" pitchFamily="34" charset="-122"/>
                <a:ea typeface="MiSans" pitchFamily="34" charset="-122"/>
                <a:cs typeface="MiSans" pitchFamily="34" charset="-120"/>
              </a:rPr>
              <a:t>页面展示</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 name="文本框 2"/>
          <p:cNvSpPr txBox="1"/>
          <p:nvPr/>
        </p:nvSpPr>
        <p:spPr>
          <a:xfrm>
            <a:off x="506730" y="762000"/>
            <a:ext cx="4064000" cy="460375"/>
          </a:xfrm>
          <a:prstGeom prst="rect">
            <a:avLst/>
          </a:prstGeom>
          <a:noFill/>
        </p:spPr>
        <p:txBody>
          <a:bodyPr wrap="square" rtlCol="0">
            <a:spAutoFit/>
          </a:bodyPr>
          <a:p>
            <a:r>
              <a:rPr lang="en-US" altLang="zh-CN" sz="2400">
                <a:solidFill>
                  <a:schemeClr val="bg1"/>
                </a:solidFill>
              </a:rPr>
              <a:t>1.</a:t>
            </a:r>
            <a:r>
              <a:rPr lang="zh-CN" altLang="en-US" sz="2400">
                <a:solidFill>
                  <a:schemeClr val="bg1"/>
                </a:solidFill>
              </a:rPr>
              <a:t>首页</a:t>
            </a:r>
            <a:endParaRPr lang="zh-CN" altLang="en-US" sz="2400">
              <a:solidFill>
                <a:schemeClr val="bg1"/>
              </a:solidFill>
            </a:endParaRPr>
          </a:p>
        </p:txBody>
      </p:sp>
      <p:pic>
        <p:nvPicPr>
          <p:cNvPr id="48" name="图片 48" descr="9579cc9a27564d32da86f6a65fcdfa32"/>
          <p:cNvPicPr>
            <a:picLocks noChangeAspect="1"/>
          </p:cNvPicPr>
          <p:nvPr/>
        </p:nvPicPr>
        <p:blipFill>
          <a:blip r:embed="rId2"/>
          <a:stretch>
            <a:fillRect/>
          </a:stretch>
        </p:blipFill>
        <p:spPr>
          <a:xfrm>
            <a:off x="681673" y="1222058"/>
            <a:ext cx="5780405" cy="5394325"/>
          </a:xfrm>
          <a:prstGeom prst="rect">
            <a:avLst/>
          </a:prstGeom>
        </p:spPr>
      </p:pic>
      <p:sp>
        <p:nvSpPr>
          <p:cNvPr id="5" name="文本框 4"/>
          <p:cNvSpPr txBox="1"/>
          <p:nvPr/>
        </p:nvSpPr>
        <p:spPr>
          <a:xfrm>
            <a:off x="6781165" y="762000"/>
            <a:ext cx="4064000" cy="460375"/>
          </a:xfrm>
          <a:prstGeom prst="rect">
            <a:avLst/>
          </a:prstGeom>
          <a:noFill/>
        </p:spPr>
        <p:txBody>
          <a:bodyPr wrap="square" rtlCol="0">
            <a:spAutoFit/>
          </a:bodyPr>
          <a:p>
            <a:r>
              <a:rPr lang="en-US" altLang="zh-CN" sz="2400">
                <a:solidFill>
                  <a:schemeClr val="bg1"/>
                </a:solidFill>
              </a:rPr>
              <a:t>2.</a:t>
            </a:r>
            <a:r>
              <a:rPr lang="zh-CN" altLang="en-US" sz="2400">
                <a:solidFill>
                  <a:schemeClr val="bg1"/>
                </a:solidFill>
              </a:rPr>
              <a:t>图片识别</a:t>
            </a:r>
            <a:r>
              <a:rPr lang="zh-CN" altLang="en-US" sz="2400">
                <a:solidFill>
                  <a:schemeClr val="bg1"/>
                </a:solidFill>
              </a:rPr>
              <a:t>页面</a:t>
            </a:r>
            <a:endParaRPr lang="zh-CN" altLang="en-US" sz="2400">
              <a:solidFill>
                <a:schemeClr val="bg1"/>
              </a:solidFill>
            </a:endParaRPr>
          </a:p>
        </p:txBody>
      </p:sp>
      <p:pic>
        <p:nvPicPr>
          <p:cNvPr id="50" name="图片 50" descr="84d0ab0ad2ee28a77e1b674fdb25998c"/>
          <p:cNvPicPr>
            <a:picLocks noChangeAspect="1"/>
          </p:cNvPicPr>
          <p:nvPr/>
        </p:nvPicPr>
        <p:blipFill>
          <a:blip r:embed="rId3"/>
          <a:stretch>
            <a:fillRect/>
          </a:stretch>
        </p:blipFill>
        <p:spPr>
          <a:xfrm>
            <a:off x="6892925" y="1222375"/>
            <a:ext cx="5090795" cy="537400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nvSpPr>
        <p:spPr>
          <a:xfrm>
            <a:off x="482600" y="652145"/>
            <a:ext cx="4064000" cy="460375"/>
          </a:xfrm>
          <a:prstGeom prst="rect">
            <a:avLst/>
          </a:prstGeom>
          <a:noFill/>
        </p:spPr>
        <p:txBody>
          <a:bodyPr wrap="square" rtlCol="0">
            <a:spAutoFit/>
          </a:bodyPr>
          <a:p>
            <a:r>
              <a:rPr lang="en-US" altLang="zh-CN" sz="2400">
                <a:solidFill>
                  <a:schemeClr val="bg1"/>
                </a:solidFill>
              </a:rPr>
              <a:t>3.</a:t>
            </a:r>
            <a:r>
              <a:rPr lang="zh-CN" altLang="en-US" sz="2400">
                <a:solidFill>
                  <a:schemeClr val="bg1"/>
                </a:solidFill>
              </a:rPr>
              <a:t>视频识别</a:t>
            </a:r>
            <a:r>
              <a:rPr lang="zh-CN" altLang="en-US" sz="2400">
                <a:solidFill>
                  <a:schemeClr val="bg1"/>
                </a:solidFill>
              </a:rPr>
              <a:t>页面</a:t>
            </a:r>
            <a:endParaRPr lang="zh-CN" altLang="en-US" sz="2400">
              <a:solidFill>
                <a:schemeClr val="bg1"/>
              </a:solidFill>
            </a:endParaRPr>
          </a:p>
        </p:txBody>
      </p:sp>
      <p:pic>
        <p:nvPicPr>
          <p:cNvPr id="51" name="图片 51" descr="9949f8b5c4efdd49f1d2318400e07fc0"/>
          <p:cNvPicPr>
            <a:picLocks noChangeAspect="1"/>
          </p:cNvPicPr>
          <p:nvPr/>
        </p:nvPicPr>
        <p:blipFill>
          <a:blip r:embed="rId2"/>
          <a:stretch>
            <a:fillRect/>
          </a:stretch>
        </p:blipFill>
        <p:spPr>
          <a:xfrm>
            <a:off x="617538" y="1112520"/>
            <a:ext cx="5734685" cy="4070350"/>
          </a:xfrm>
          <a:prstGeom prst="rect">
            <a:avLst/>
          </a:prstGeom>
        </p:spPr>
      </p:pic>
      <p:sp>
        <p:nvSpPr>
          <p:cNvPr id="3" name="文本框 2"/>
          <p:cNvSpPr txBox="1"/>
          <p:nvPr/>
        </p:nvSpPr>
        <p:spPr>
          <a:xfrm>
            <a:off x="6581775" y="652145"/>
            <a:ext cx="4064000" cy="460375"/>
          </a:xfrm>
          <a:prstGeom prst="rect">
            <a:avLst/>
          </a:prstGeom>
          <a:noFill/>
        </p:spPr>
        <p:txBody>
          <a:bodyPr wrap="square" rtlCol="0">
            <a:spAutoFit/>
          </a:bodyPr>
          <a:p>
            <a:r>
              <a:rPr lang="en-US" altLang="zh-CN" sz="2400">
                <a:solidFill>
                  <a:schemeClr val="bg1"/>
                </a:solidFill>
              </a:rPr>
              <a:t>4.</a:t>
            </a:r>
            <a:r>
              <a:rPr lang="zh-CN" altLang="en-US" sz="2400">
                <a:solidFill>
                  <a:schemeClr val="bg1"/>
                </a:solidFill>
              </a:rPr>
              <a:t>实时识别</a:t>
            </a:r>
            <a:r>
              <a:rPr lang="zh-CN" altLang="en-US" sz="2400">
                <a:solidFill>
                  <a:schemeClr val="bg1"/>
                </a:solidFill>
              </a:rPr>
              <a:t>页面</a:t>
            </a:r>
            <a:endParaRPr lang="zh-CN" altLang="en-US" sz="2400">
              <a:solidFill>
                <a:schemeClr val="bg1"/>
              </a:solidFill>
            </a:endParaRPr>
          </a:p>
        </p:txBody>
      </p:sp>
      <p:pic>
        <p:nvPicPr>
          <p:cNvPr id="52" name="图片 52" descr="2c5592a11f56fb453d37459ec5d1b129"/>
          <p:cNvPicPr>
            <a:picLocks noChangeAspect="1"/>
          </p:cNvPicPr>
          <p:nvPr/>
        </p:nvPicPr>
        <p:blipFill>
          <a:blip r:embed="rId3"/>
          <a:stretch>
            <a:fillRect/>
          </a:stretch>
        </p:blipFill>
        <p:spPr>
          <a:xfrm>
            <a:off x="6581775" y="1112520"/>
            <a:ext cx="5339080" cy="414718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E1215"/>
        </a:solidFill>
        <a:effectLst/>
      </p:bgPr>
    </p:bg>
    <p:spTree>
      <p:nvGrpSpPr>
        <p:cNvPr id="1" name=""/>
        <p:cNvGrpSpPr/>
        <p:nvPr/>
      </p:nvGrpSpPr>
      <p:grpSpPr>
        <a:xfrm>
          <a:off x="0" y="0"/>
          <a:ext cx="0" cy="0"/>
          <a:chOff x="0" y="0"/>
          <a:chExt cx="0" cy="0"/>
        </a:xfrm>
      </p:grpSpPr>
      <p:sp>
        <p:nvSpPr>
          <p:cNvPr id="2" name="Shape 0"/>
          <p:cNvSpPr/>
          <p:nvPr/>
        </p:nvSpPr>
        <p:spPr>
          <a:xfrm>
            <a:off x="9768840" y="1196975"/>
            <a:ext cx="4304030" cy="4304030"/>
          </a:xfrm>
          <a:prstGeom prst="ellipse">
            <a:avLst/>
          </a:prstGeom>
          <a:solidFill>
            <a:srgbClr val="FFFFFF">
              <a:alpha val="5098"/>
            </a:srgbClr>
          </a:solidFill>
        </p:spPr>
      </p:sp>
      <p:sp>
        <p:nvSpPr>
          <p:cNvPr id="3" name="Text 1"/>
          <p:cNvSpPr/>
          <p:nvPr/>
        </p:nvSpPr>
        <p:spPr>
          <a:xfrm>
            <a:off x="6224270" y="582295"/>
            <a:ext cx="4304030" cy="4304030"/>
          </a:xfrm>
          <a:prstGeom prst="rect">
            <a:avLst/>
          </a:prstGeom>
          <a:noFill/>
        </p:spPr>
        <p:txBody>
          <a:bodyPr wrap="square" lIns="0" tIns="0" rIns="0" bIns="0" rtlCol="0" anchor="t"/>
          <a:lstStyle/>
          <a:p>
            <a:pPr marL="0" indent="0">
              <a:lnSpc>
                <a:spcPct val="100000"/>
              </a:lnSpc>
              <a:buNone/>
            </a:pPr>
            <a:endParaRPr lang="en-US" sz="1600" dirty="0"/>
          </a:p>
        </p:txBody>
      </p:sp>
      <p:pic>
        <p:nvPicPr>
          <p:cNvPr id="4" name="Image 0" descr="https://kimi-img.moonshot.cn/pub/slides/slides_tmpl/image/25-05-30-16:22:18-d0smlek75iks2gau41i0.png"/>
          <p:cNvPicPr>
            <a:picLocks noChangeAspect="1"/>
          </p:cNvPicPr>
          <p:nvPr/>
        </p:nvPicPr>
        <p:blipFill>
          <a:blip r:embed="rId1"/>
          <a:srcRect t="2586" b="6812"/>
          <a:stretch>
            <a:fillRect/>
          </a:stretch>
        </p:blipFill>
        <p:spPr>
          <a:xfrm>
            <a:off x="0" y="0"/>
            <a:ext cx="12214860" cy="6929120"/>
          </a:xfrm>
          <a:prstGeom prst="rect">
            <a:avLst/>
          </a:prstGeom>
        </p:spPr>
      </p:pic>
      <p:sp>
        <p:nvSpPr>
          <p:cNvPr id="5" name="Text 2"/>
          <p:cNvSpPr/>
          <p:nvPr/>
        </p:nvSpPr>
        <p:spPr>
          <a:xfrm>
            <a:off x="667633" y="2458084"/>
            <a:ext cx="7772718" cy="1214041"/>
          </a:xfrm>
          <a:prstGeom prst="rect">
            <a:avLst/>
          </a:prstGeom>
          <a:noFill/>
        </p:spPr>
        <p:txBody>
          <a:bodyPr wrap="square" lIns="0" tIns="0" rIns="0" bIns="0" rtlCol="0" anchor="t">
            <a:spAutoFit/>
          </a:bodyPr>
          <a:lstStyle/>
          <a:p>
            <a:pPr marL="0" indent="0" algn="l">
              <a:lnSpc>
                <a:spcPct val="100000"/>
              </a:lnSpc>
              <a:buNone/>
            </a:pPr>
            <a:r>
              <a:rPr lang="en-US" sz="8000" dirty="0">
                <a:solidFill>
                  <a:srgbClr val="FFFFFF"/>
                </a:solidFill>
                <a:latin typeface="MiSans" pitchFamily="34" charset="-122"/>
                <a:ea typeface="MiSans" pitchFamily="34" charset="-122"/>
                <a:cs typeface="MiSans" pitchFamily="34" charset="-120"/>
              </a:rPr>
              <a:t>感谢观看</a:t>
            </a:r>
            <a:endParaRPr lang="en-US" sz="1600" dirty="0"/>
          </a:p>
        </p:txBody>
      </p:sp>
      <p:sp>
        <p:nvSpPr>
          <p:cNvPr id="6" name="Text 3"/>
          <p:cNvSpPr/>
          <p:nvPr/>
        </p:nvSpPr>
        <p:spPr>
          <a:xfrm>
            <a:off x="823595" y="3873500"/>
            <a:ext cx="3060700" cy="368935"/>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FFFFFF"/>
                </a:solidFill>
                <a:latin typeface="MiSans" pitchFamily="34" charset="-122"/>
                <a:ea typeface="MiSans" pitchFamily="34" charset="-122"/>
                <a:cs typeface="MiSans" pitchFamily="34" charset="-120"/>
              </a:rPr>
              <a:t>汇报人：</a:t>
            </a:r>
            <a:r>
              <a:rPr lang="zh-CN" altLang="en-US" sz="2400" dirty="0">
                <a:solidFill>
                  <a:srgbClr val="FFFFFF"/>
                </a:solidFill>
                <a:latin typeface="MiSans" pitchFamily="34" charset="-122"/>
                <a:ea typeface="MiSans" pitchFamily="34" charset="-122"/>
                <a:cs typeface="MiSans" pitchFamily="34" charset="-120"/>
              </a:rPr>
              <a:t>简川博</a:t>
            </a:r>
            <a:endParaRPr lang="zh-CN" altLang="en-US" sz="2400" dirty="0">
              <a:solidFill>
                <a:srgbClr val="FFFFFF"/>
              </a:solidFill>
              <a:latin typeface="MiSans" pitchFamily="34" charset="-122"/>
              <a:ea typeface="MiSans" pitchFamily="34" charset="-122"/>
              <a:cs typeface="MiSans" pitchFamily="34" charset="-120"/>
            </a:endParaRPr>
          </a:p>
        </p:txBody>
      </p:sp>
      <p:sp>
        <p:nvSpPr>
          <p:cNvPr id="7" name="Text 4"/>
          <p:cNvSpPr/>
          <p:nvPr/>
        </p:nvSpPr>
        <p:spPr>
          <a:xfrm>
            <a:off x="6550660" y="3873500"/>
            <a:ext cx="3075940" cy="368935"/>
          </a:xfrm>
          <a:prstGeom prst="rect">
            <a:avLst/>
          </a:prstGeom>
          <a:noFill/>
        </p:spPr>
        <p:txBody>
          <a:bodyPr wrap="square" lIns="0" tIns="0" rIns="0" bIns="0" rtlCol="0" anchor="t">
            <a:spAutoFit/>
          </a:bodyPr>
          <a:lstStyle/>
          <a:p>
            <a:pPr marL="0" indent="0" algn="l">
              <a:lnSpc>
                <a:spcPct val="100000"/>
              </a:lnSpc>
              <a:buNone/>
            </a:pPr>
            <a:r>
              <a:rPr lang="en-US" sz="2400" dirty="0">
                <a:solidFill>
                  <a:srgbClr val="FFFFFF"/>
                </a:solidFill>
                <a:latin typeface="MiSans" pitchFamily="34" charset="-122"/>
                <a:ea typeface="MiSans" pitchFamily="34" charset="-122"/>
                <a:cs typeface="MiSans" pitchFamily="34" charset="-120"/>
              </a:rPr>
              <a:t>汇报日期：2025.07.01</a:t>
            </a:r>
            <a:endParaRPr lang="en-US" sz="2400" dirty="0">
              <a:solidFill>
                <a:srgbClr val="FFFFFF"/>
              </a:solidFill>
              <a:latin typeface="MiSans" pitchFamily="34" charset="-122"/>
              <a:ea typeface="MiSans" pitchFamily="34" charset="-122"/>
              <a:cs typeface="MiSans" pitchFamily="34" charset="-120"/>
            </a:endParaRPr>
          </a:p>
        </p:txBody>
      </p:sp>
    </p:spTree>
  </p:cSld>
  <p:clrMapOvr>
    <a:masterClrMapping/>
  </p:clrMapOvr>
</p:sld>
</file>

<file path=ppt/tags/tag1.xml><?xml version="1.0" encoding="utf-8"?>
<p:tagLst xmlns:p="http://schemas.openxmlformats.org/presentationml/2006/main">
  <p:tag name="TABLE_ENDDRAG_ORIGIN_RECT" val="497*380"/>
  <p:tag name="TABLE_ENDDRAG_RECT" val="77*114*497*380"/>
</p:tagLst>
</file>

<file path=ppt/tags/tag2.xml><?xml version="1.0" encoding="utf-8"?>
<p:tagLst xmlns:p="http://schemas.openxmlformats.org/presentationml/2006/main">
  <p:tag name="KSO_WM_DIAGRAM_VIRTUALLY_FRAME" val="{&quot;height&quot;:258.9184251968504,&quot;left&quot;:43.5,&quot;top&quot;:133.27842519685038,&quot;width&quot;:874.3}"/>
</p:tagLst>
</file>

<file path=ppt/tags/tag3.xml><?xml version="1.0" encoding="utf-8"?>
<p:tagLst xmlns:p="http://schemas.openxmlformats.org/presentationml/2006/main">
  <p:tag name="KSO_WM_DIAGRAM_VIRTUALLY_FRAME" val="{&quot;height&quot;:258.9184251968504,&quot;left&quot;:43.5,&quot;top&quot;:133.27842519685038,&quot;width&quot;:874.3}"/>
</p:tagLst>
</file>

<file path=ppt/tags/tag4.xml><?xml version="1.0" encoding="utf-8"?>
<p:tagLst xmlns:p="http://schemas.openxmlformats.org/presentationml/2006/main">
  <p:tag name="KSO_WM_DIAGRAM_VIRTUALLY_FRAME" val="{&quot;height&quot;:258.9184251968504,&quot;left&quot;:43.5,&quot;top&quot;:133.27842519685038,&quot;width&quot;:874.3}"/>
</p:tagLst>
</file>

<file path=ppt/tags/tag5.xml><?xml version="1.0" encoding="utf-8"?>
<p:tagLst xmlns:p="http://schemas.openxmlformats.org/presentationml/2006/main">
  <p:tag name="KSO_WM_DIAGRAM_VIRTUALLY_FRAME" val="{&quot;height&quot;:258.9184251968504,&quot;left&quot;:43.5,&quot;top&quot;:133.27842519685038,&quot;width&quot;:874.3}"/>
</p:tagLst>
</file>

<file path=ppt/tags/tag6.xml><?xml version="1.0" encoding="utf-8"?>
<p:tagLst xmlns:p="http://schemas.openxmlformats.org/presentationml/2006/main">
  <p:tag name="KSO_WM_DIAGRAM_VIRTUALLY_FRAME" val="{&quot;height&quot;:258.9184251968504,&quot;left&quot;:43.5,&quot;top&quot;:133.27842519685038,&quot;width&quot;:874.3}"/>
</p:tagLst>
</file>

<file path=ppt/tags/tag7.xml><?xml version="1.0" encoding="utf-8"?>
<p:tagLst xmlns:p="http://schemas.openxmlformats.org/presentationml/2006/main">
  <p:tag name="KSO_WM_DIAGRAM_VIRTUALLY_FRAME" val="{&quot;height&quot;:258.9184251968504,&quot;left&quot;:43.5,&quot;top&quot;:133.27842519685038,&quot;width&quot;:874.3}"/>
</p:tagLst>
</file>

<file path=ppt/tags/tag8.xml><?xml version="1.0" encoding="utf-8"?>
<p:tagLst xmlns:p="http://schemas.openxmlformats.org/presentationml/2006/main">
  <p:tag name="KSO_WM_DIAGRAM_VIRTUALLY_FRAME" val="{&quot;height&quot;:258.9184251968504,&quot;left&quot;:43.5,&quot;top&quot;:133.27842519685038,&quot;width&quot;:874.3}"/>
</p:tagLst>
</file>

<file path=ppt/tags/tag9.xml><?xml version="1.0" encoding="utf-8"?>
<p:tagLst xmlns:p="http://schemas.openxmlformats.org/presentationml/2006/main">
  <p:tag name="KSO_WM_DIAGRAM_VIRTUALLY_FRAME" val="{&quot;height&quot;:258.9184251968504,&quot;left&quot;:43.5,&quot;top&quot;:133.27842519685038,&quot;width&quot;:874.3}"/>
</p:tagLst>
</file>

<file path=ppt/tags/tag10.xml><?xml version="1.0" encoding="utf-8"?>
<p:tagLst xmlns:p="http://schemas.openxmlformats.org/presentationml/2006/main">
  <p:tag name="KSO_WM_DIAGRAM_VIRTUALLY_FRAME" val="{&quot;height&quot;:258.9184251968504,&quot;left&quot;:43.5,&quot;top&quot;:133.27842519685038,&quot;width&quot;:874.3}"/>
</p:tagLst>
</file>

<file path=ppt/tags/tag11.xml><?xml version="1.0" encoding="utf-8"?>
<p:tagLst xmlns:p="http://schemas.openxmlformats.org/presentationml/2006/main">
  <p:tag name="KSO_WM_DIAGRAM_VIRTUALLY_FRAME" val="{&quot;height&quot;:258.9184251968504,&quot;left&quot;:43.5,&quot;top&quot;:133.27842519685038,&quot;width&quot;:874.3}"/>
</p:tagLst>
</file>

<file path=ppt/tags/tag12.xml><?xml version="1.0" encoding="utf-8"?>
<p:tagLst xmlns:p="http://schemas.openxmlformats.org/presentationml/2006/main">
  <p:tag name="KSO_WM_DIAGRAM_VIRTUALLY_FRAME" val="{&quot;height&quot;:258.9184251968504,&quot;left&quot;:43.5,&quot;top&quot;:133.27842519685038,&quot;width&quot;:874.3}"/>
</p:tagLst>
</file>

<file path=ppt/tags/tag13.xml><?xml version="1.0" encoding="utf-8"?>
<p:tagLst xmlns:p="http://schemas.openxmlformats.org/presentationml/2006/main">
  <p:tag name="KSO_WM_DIAGRAM_VIRTUALLY_FRAME" val="{&quot;height&quot;:258.9184251968504,&quot;left&quot;:43.5,&quot;top&quot;:133.27842519685038,&quot;width&quot;:874.3}"/>
</p:tagLst>
</file>

<file path=ppt/tags/tag14.xml><?xml version="1.0" encoding="utf-8"?>
<p:tagLst xmlns:p="http://schemas.openxmlformats.org/presentationml/2006/main">
  <p:tag name="KSO_WM_DIAGRAM_VIRTUALLY_FRAME" val="{&quot;height&quot;:258.9184251968504,&quot;left&quot;:43.5,&quot;top&quot;:133.27842519685038,&quot;width&quot;:874.3}"/>
</p:tagLst>
</file>

<file path=ppt/tags/tag15.xml><?xml version="1.0" encoding="utf-8"?>
<p:tagLst xmlns:p="http://schemas.openxmlformats.org/presentationml/2006/main">
  <p:tag name="KSO_WM_DIAGRAM_VIRTUALLY_FRAME" val="{&quot;height&quot;:331.5,&quot;left&quot;:33.1,&quot;top&quot;:135.15,&quot;width&quot;:889.6}"/>
</p:tagLst>
</file>

<file path=ppt/tags/tag16.xml><?xml version="1.0" encoding="utf-8"?>
<p:tagLst xmlns:p="http://schemas.openxmlformats.org/presentationml/2006/main">
  <p:tag name="KSO_WM_DIAGRAM_VIRTUALLY_FRAME" val="{&quot;height&quot;:331.5,&quot;left&quot;:33.1,&quot;top&quot;:135.15,&quot;width&quot;:889.6}"/>
</p:tagLst>
</file>

<file path=ppt/tags/tag17.xml><?xml version="1.0" encoding="utf-8"?>
<p:tagLst xmlns:p="http://schemas.openxmlformats.org/presentationml/2006/main">
  <p:tag name="KSO_WM_DIAGRAM_VIRTUALLY_FRAME" val="{&quot;height&quot;:331.5,&quot;left&quot;:33.1,&quot;top&quot;:135.15,&quot;width&quot;:889.6}"/>
</p:tagLst>
</file>

<file path=ppt/tags/tag18.xml><?xml version="1.0" encoding="utf-8"?>
<p:tagLst xmlns:p="http://schemas.openxmlformats.org/presentationml/2006/main">
  <p:tag name="KSO_WM_DIAGRAM_VIRTUALLY_FRAME" val="{&quot;height&quot;:331.5,&quot;left&quot;:33.1,&quot;top&quot;:135.15,&quot;width&quot;:889.6}"/>
</p:tagLst>
</file>

<file path=ppt/tags/tag19.xml><?xml version="1.0" encoding="utf-8"?>
<p:tagLst xmlns:p="http://schemas.openxmlformats.org/presentationml/2006/main">
  <p:tag name="KSO_WM_DIAGRAM_VIRTUALLY_FRAME" val="{&quot;height&quot;:331.5,&quot;left&quot;:33.1,&quot;top&quot;:135.15,&quot;width&quot;:889.6}"/>
</p:tagLst>
</file>

<file path=ppt/tags/tag20.xml><?xml version="1.0" encoding="utf-8"?>
<p:tagLst xmlns:p="http://schemas.openxmlformats.org/presentationml/2006/main">
  <p:tag name="KSO_WM_DIAGRAM_VIRTUALLY_FRAME" val="{&quot;height&quot;:331.5,&quot;left&quot;:33.1,&quot;top&quot;:135.15,&quot;width&quot;:889.6}"/>
</p:tagLst>
</file>

<file path=ppt/tags/tag21.xml><?xml version="1.0" encoding="utf-8"?>
<p:tagLst xmlns:p="http://schemas.openxmlformats.org/presentationml/2006/main">
  <p:tag name="KSO_WM_DIAGRAM_VIRTUALLY_FRAME" val="{&quot;height&quot;:331.5,&quot;left&quot;:33.1,&quot;top&quot;:135.15,&quot;width&quot;:889.6}"/>
</p:tagLst>
</file>

<file path=ppt/tags/tag22.xml><?xml version="1.0" encoding="utf-8"?>
<p:tagLst xmlns:p="http://schemas.openxmlformats.org/presentationml/2006/main">
  <p:tag name="KSO_WM_DIAGRAM_VIRTUALLY_FRAME" val="{&quot;height&quot;:331.5,&quot;left&quot;:33.1,&quot;top&quot;:135.15,&quot;width&quot;:889.6}"/>
</p:tagLst>
</file>

<file path=ppt/tags/tag23.xml><?xml version="1.0" encoding="utf-8"?>
<p:tagLst xmlns:p="http://schemas.openxmlformats.org/presentationml/2006/main">
  <p:tag name="KSO_WM_DIAGRAM_VIRTUALLY_FRAME" val="{&quot;height&quot;:331.5,&quot;left&quot;:33.1,&quot;top&quot;:135.15,&quot;width&quot;:889.6}"/>
</p:tagLst>
</file>

<file path=ppt/tags/tag24.xml><?xml version="1.0" encoding="utf-8"?>
<p:tagLst xmlns:p="http://schemas.openxmlformats.org/presentationml/2006/main">
  <p:tag name="KSO_WM_DIAGRAM_VIRTUALLY_FRAME" val="{&quot;height&quot;:331.5,&quot;left&quot;:33.1,&quot;top&quot;:135.15,&quot;width&quot;:889.6}"/>
</p:tagLst>
</file>

<file path=ppt/tags/tag25.xml><?xml version="1.0" encoding="utf-8"?>
<p:tagLst xmlns:p="http://schemas.openxmlformats.org/presentationml/2006/main">
  <p:tag name="KSO_WM_DIAGRAM_VIRTUALLY_FRAME" val="{&quot;height&quot;:331.5,&quot;left&quot;:33.1,&quot;top&quot;:135.15,&quot;width&quot;:889.6}"/>
</p:tagLst>
</file>

<file path=ppt/tags/tag26.xml><?xml version="1.0" encoding="utf-8"?>
<p:tagLst xmlns:p="http://schemas.openxmlformats.org/presentationml/2006/main">
  <p:tag name="KSO_WM_DIAGRAM_VIRTUALLY_FRAME" val="{&quot;height&quot;:331.5,&quot;left&quot;:33.1,&quot;top&quot;:135.15,&quot;width&quot;:889.6}"/>
</p:tagLst>
</file>

<file path=ppt/tags/tag27.xml><?xml version="1.0" encoding="utf-8"?>
<p:tagLst xmlns:p="http://schemas.openxmlformats.org/presentationml/2006/main">
  <p:tag name="KSO_WM_DIAGRAM_VIRTUALLY_FRAME" val="{&quot;height&quot;:255.9,&quot;left&quot;:329.85,&quot;top&quot;:257.15,&quot;width&quot;:584.5}"/>
</p:tagLst>
</file>

<file path=ppt/tags/tag28.xml><?xml version="1.0" encoding="utf-8"?>
<p:tagLst xmlns:p="http://schemas.openxmlformats.org/presentationml/2006/main">
  <p:tag name="KSO_WM_DIAGRAM_VIRTUALLY_FRAME" val="{&quot;height&quot;:255.9,&quot;left&quot;:329.85,&quot;top&quot;:257.15,&quot;width&quot;:584.5}"/>
</p:tagLst>
</file>

<file path=ppt/tags/tag29.xml><?xml version="1.0" encoding="utf-8"?>
<p:tagLst xmlns:p="http://schemas.openxmlformats.org/presentationml/2006/main">
  <p:tag name="KSO_WM_DIAGRAM_VIRTUALLY_FRAME" val="{&quot;height&quot;:255.9,&quot;left&quot;:329.85,&quot;top&quot;:257.15,&quot;width&quot;:584.5}"/>
</p:tagLst>
</file>

<file path=ppt/tags/tag30.xml><?xml version="1.0" encoding="utf-8"?>
<p:tagLst xmlns:p="http://schemas.openxmlformats.org/presentationml/2006/main">
  <p:tag name="KSO_WM_DIAGRAM_VIRTUALLY_FRAME" val="{&quot;height&quot;:255.9,&quot;left&quot;:329.85,&quot;top&quot;:257.15,&quot;width&quot;:584.5}"/>
</p:tagLst>
</file>

<file path=ppt/tags/tag31.xml><?xml version="1.0" encoding="utf-8"?>
<p:tagLst xmlns:p="http://schemas.openxmlformats.org/presentationml/2006/main">
  <p:tag name="KSO_WM_DIAGRAM_VIRTUALLY_FRAME" val="{&quot;height&quot;:255.9,&quot;left&quot;:329.85,&quot;top&quot;:257.15,&quot;width&quot;:584.5}"/>
</p:tagLst>
</file>

<file path=ppt/tags/tag32.xml><?xml version="1.0" encoding="utf-8"?>
<p:tagLst xmlns:p="http://schemas.openxmlformats.org/presentationml/2006/main">
  <p:tag name="KSO_WM_DIAGRAM_VIRTUALLY_FRAME" val="{&quot;height&quot;:255.9,&quot;left&quot;:329.85,&quot;top&quot;:257.15,&quot;width&quot;:584.5}"/>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000000"/>
      </a:accent1>
      <a:accent2>
        <a:srgbClr val="35434E"/>
      </a:accent2>
      <a:accent3>
        <a:srgbClr val="C5C9CE"/>
      </a:accent3>
      <a:accent4>
        <a:srgbClr val="FFFFFF"/>
      </a:accent4>
      <a:accent5>
        <a:srgbClr val="808080"/>
      </a:accent5>
      <a:accent6>
        <a:srgbClr val="28A4D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000000"/>
      </a:accent1>
      <a:accent2>
        <a:srgbClr val="35434E"/>
      </a:accent2>
      <a:accent3>
        <a:srgbClr val="C5C9CE"/>
      </a:accent3>
      <a:accent4>
        <a:srgbClr val="FFFFFF"/>
      </a:accent4>
      <a:accent5>
        <a:srgbClr val="808080"/>
      </a:accent5>
      <a:accent6>
        <a:srgbClr val="28A4D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7006</Words>
  <Application>WPS 演示</Application>
  <PresentationFormat>On-screen Show (16:9)</PresentationFormat>
  <Paragraphs>524</Paragraphs>
  <Slides>43</Slides>
  <Notes>27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Arial</vt:lpstr>
      <vt:lpstr>宋体</vt:lpstr>
      <vt:lpstr>Wingdings</vt:lpstr>
      <vt:lpstr>MiSans</vt:lpstr>
      <vt:lpstr>MiSans</vt:lpstr>
      <vt:lpstr>Calibri</vt:lpstr>
      <vt:lpstr>微软雅黑</vt:lpstr>
      <vt:lpstr>Arial Unicode MS</vt:lpstr>
      <vt:lpstr>等线</vt:lpstr>
      <vt:lpstr>Times New Roman</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WPS_1693709958</cp:lastModifiedBy>
  <cp:revision>4</cp:revision>
  <dcterms:created xsi:type="dcterms:W3CDTF">2025-06-29T00:31:00Z</dcterms:created>
  <dcterms:modified xsi:type="dcterms:W3CDTF">2025-06-29T02:32:00Z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EEA9938308954B0EB53A51BB56D97C67_12</vt:lpwstr>
  </property>
  <property fmtid="{D5CDD505-2E9C-101B-9397-08002B2CF9AE}" pid="3" name="KSOProductBuildVer">
    <vt:lpwstr>2052-12.1.0.21541</vt:lpwstr>
  </property>
</Properties>
</file>